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1_6654E114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6_31688045.xml" ContentType="application/vnd.ms-powerpoint.comments+xml"/>
  <Override PartName="/ppt/notesSlides/notesSlide3.xml" ContentType="application/vnd.openxmlformats-officedocument.presentationml.notesSlide+xml"/>
  <Override PartName="/ppt/comments/modernComment_107_6B724D56.xml" ContentType="application/vnd.ms-powerpoint.comments+xml"/>
  <Override PartName="/ppt/comments/modernComment_108_2E719A80.xml" ContentType="application/vnd.ms-powerpoint.comments+xml"/>
  <Override PartName="/ppt/comments/modernComment_10A_E2CC7CFF.xml" ContentType="application/vnd.ms-powerpoint.comments+xml"/>
  <Override PartName="/ppt/comments/modernComment_10B_996FDB7D.xml" ContentType="application/vnd.ms-powerpoint.comments+xml"/>
  <Override PartName="/ppt/comments/modernComment_10D_FB6651E1.xml" ContentType="application/vnd.ms-powerpoint.comments+xml"/>
  <Override PartName="/ppt/notesSlides/notesSlide4.xml" ContentType="application/vnd.openxmlformats-officedocument.presentationml.notesSlide+xml"/>
  <Override PartName="/ppt/comments/modernComment_115_1AF4A0B8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24A739-52A6-4ACC-A296-6B8D9EF505C9}">
          <p14:sldIdLst>
            <p14:sldId id="256"/>
            <p14:sldId id="257"/>
            <p14:sldId id="260"/>
            <p14:sldId id="258"/>
            <p14:sldId id="259"/>
            <p14:sldId id="261"/>
            <p14:sldId id="262"/>
            <p14:sldId id="265"/>
            <p14:sldId id="263"/>
            <p14:sldId id="264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40AFA5-CBD3-02A2-C3EA-015EA0743A69}" name="Иван Кукушкин" initials="ИК" userId="3a809852355ebf2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844E05-D7E7-4DA6-BB46-1A40655ACF76}" v="18" dt="2026-07-22T17:49:44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1906" autoAdjust="0"/>
  </p:normalViewPr>
  <p:slideViewPr>
    <p:cSldViewPr snapToGrid="0">
      <p:cViewPr>
        <p:scale>
          <a:sx n="125" d="100"/>
          <a:sy n="125" d="100"/>
        </p:scale>
        <p:origin x="145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Кукушкин" userId="3a809852355ebf2e" providerId="LiveId" clId="{501A0870-AEE8-461E-A9A8-4EADA964ABBD}"/>
    <pc:docChg chg="undo custSel modSld">
      <pc:chgData name="Иван Кукушкин" userId="3a809852355ebf2e" providerId="LiveId" clId="{501A0870-AEE8-461E-A9A8-4EADA964ABBD}" dt="2026-07-23T11:50:00.148" v="3362" actId="20577"/>
      <pc:docMkLst>
        <pc:docMk/>
      </pc:docMkLst>
      <pc:sldChg chg="modSp mod">
        <pc:chgData name="Иван Кукушкин" userId="3a809852355ebf2e" providerId="LiveId" clId="{501A0870-AEE8-461E-A9A8-4EADA964ABBD}" dt="2026-07-23T11:50:00.148" v="3362" actId="20577"/>
        <pc:sldMkLst>
          <pc:docMk/>
          <pc:sldMk cId="2266888135" sldId="258"/>
        </pc:sldMkLst>
        <pc:spChg chg="mod">
          <ac:chgData name="Иван Кукушкин" userId="3a809852355ebf2e" providerId="LiveId" clId="{501A0870-AEE8-461E-A9A8-4EADA964ABBD}" dt="2026-07-23T11:50:00.148" v="3362" actId="20577"/>
          <ac:spMkLst>
            <pc:docMk/>
            <pc:sldMk cId="2266888135" sldId="258"/>
            <ac:spMk id="3" creationId="{2FB00C5C-0718-2BF7-FC43-9A0ADC7252BD}"/>
          </ac:spMkLst>
        </pc:spChg>
      </pc:sldChg>
      <pc:sldChg chg="modSp mod">
        <pc:chgData name="Иван Кукушкин" userId="3a809852355ebf2e" providerId="LiveId" clId="{501A0870-AEE8-461E-A9A8-4EADA964ABBD}" dt="2026-07-22T18:06:50.750" v="3356" actId="20577"/>
        <pc:sldMkLst>
          <pc:docMk/>
          <pc:sldMk cId="828932165" sldId="262"/>
        </pc:sldMkLst>
        <pc:spChg chg="mod">
          <ac:chgData name="Иван Кукушкин" userId="3a809852355ebf2e" providerId="LiveId" clId="{501A0870-AEE8-461E-A9A8-4EADA964ABBD}" dt="2026-07-22T18:06:25.858" v="3354" actId="313"/>
          <ac:spMkLst>
            <pc:docMk/>
            <pc:sldMk cId="828932165" sldId="262"/>
            <ac:spMk id="14" creationId="{BC939494-7F72-3C4F-C6E6-950C52707392}"/>
          </ac:spMkLst>
        </pc:spChg>
        <pc:spChg chg="mod">
          <ac:chgData name="Иван Кукушкин" userId="3a809852355ebf2e" providerId="LiveId" clId="{501A0870-AEE8-461E-A9A8-4EADA964ABBD}" dt="2026-07-22T18:06:50.750" v="3356" actId="20577"/>
          <ac:spMkLst>
            <pc:docMk/>
            <pc:sldMk cId="828932165" sldId="262"/>
            <ac:spMk id="19" creationId="{763D5CFA-5A43-ECBC-AB32-63FCEE0E41E2}"/>
          </ac:spMkLst>
        </pc:spChg>
      </pc:sldChg>
      <pc:sldChg chg="modSp mod">
        <pc:chgData name="Иван Кукушкин" userId="3a809852355ebf2e" providerId="LiveId" clId="{501A0870-AEE8-461E-A9A8-4EADA964ABBD}" dt="2026-07-22T12:53:42.706" v="5" actId="20578"/>
        <pc:sldMkLst>
          <pc:docMk/>
          <pc:sldMk cId="1802653014" sldId="263"/>
        </pc:sldMkLst>
        <pc:spChg chg="mod">
          <ac:chgData name="Иван Кукушкин" userId="3a809852355ebf2e" providerId="LiveId" clId="{501A0870-AEE8-461E-A9A8-4EADA964ABBD}" dt="2026-07-22T12:53:42.706" v="5" actId="20578"/>
          <ac:spMkLst>
            <pc:docMk/>
            <pc:sldMk cId="1802653014" sldId="263"/>
            <ac:spMk id="23" creationId="{55528E22-49A6-C7FB-DC44-277761A0917B}"/>
          </ac:spMkLst>
        </pc:spChg>
        <pc:spChg chg="mod">
          <ac:chgData name="Иван Кукушкин" userId="3a809852355ebf2e" providerId="LiveId" clId="{501A0870-AEE8-461E-A9A8-4EADA964ABBD}" dt="2026-07-22T12:50:56.016" v="4" actId="1076"/>
          <ac:spMkLst>
            <pc:docMk/>
            <pc:sldMk cId="1802653014" sldId="263"/>
            <ac:spMk id="66" creationId="{095D659D-7A45-0D01-74DF-8A87DE3E7BF0}"/>
          </ac:spMkLst>
        </pc:spChg>
        <pc:spChg chg="mod">
          <ac:chgData name="Иван Кукушкин" userId="3a809852355ebf2e" providerId="LiveId" clId="{501A0870-AEE8-461E-A9A8-4EADA964ABBD}" dt="2026-07-22T08:59:16.130" v="0" actId="14100"/>
          <ac:spMkLst>
            <pc:docMk/>
            <pc:sldMk cId="1802653014" sldId="263"/>
            <ac:spMk id="254" creationId="{B343EABE-0131-BFF6-38EA-5BE4BF069F3A}"/>
          </ac:spMkLst>
        </pc:spChg>
      </pc:sldChg>
      <pc:sldChg chg="modSp mod">
        <pc:chgData name="Иван Кукушкин" userId="3a809852355ebf2e" providerId="LiveId" clId="{501A0870-AEE8-461E-A9A8-4EADA964ABBD}" dt="2026-07-22T13:01:00.766" v="7" actId="207"/>
        <pc:sldMkLst>
          <pc:docMk/>
          <pc:sldMk cId="779197056" sldId="264"/>
        </pc:sldMkLst>
        <pc:spChg chg="mod">
          <ac:chgData name="Иван Кукушкин" userId="3a809852355ebf2e" providerId="LiveId" clId="{501A0870-AEE8-461E-A9A8-4EADA964ABBD}" dt="2026-07-22T13:01:00.766" v="7" actId="207"/>
          <ac:spMkLst>
            <pc:docMk/>
            <pc:sldMk cId="779197056" sldId="264"/>
            <ac:spMk id="29" creationId="{C5EF9E04-84C0-B0BA-D8FF-F7F7FF9E0A10}"/>
          </ac:spMkLst>
        </pc:spChg>
      </pc:sldChg>
      <pc:sldChg chg="modSp mod">
        <pc:chgData name="Иван Кукушкин" userId="3a809852355ebf2e" providerId="LiveId" clId="{501A0870-AEE8-461E-A9A8-4EADA964ABBD}" dt="2026-07-22T12:50:00.008" v="2" actId="6549"/>
        <pc:sldMkLst>
          <pc:docMk/>
          <pc:sldMk cId="2701922084" sldId="265"/>
        </pc:sldMkLst>
        <pc:spChg chg="mod">
          <ac:chgData name="Иван Кукушкин" userId="3a809852355ebf2e" providerId="LiveId" clId="{501A0870-AEE8-461E-A9A8-4EADA964ABBD}" dt="2026-07-22T12:50:00.008" v="2" actId="6549"/>
          <ac:spMkLst>
            <pc:docMk/>
            <pc:sldMk cId="2701922084" sldId="265"/>
            <ac:spMk id="54" creationId="{AF69C901-0BEF-7A36-6A78-E055FBE39735}"/>
          </ac:spMkLst>
        </pc:spChg>
      </pc:sldChg>
      <pc:sldChg chg="addSp delSp modSp mod modCm">
        <pc:chgData name="Иван Кукушкин" userId="3a809852355ebf2e" providerId="LiveId" clId="{501A0870-AEE8-461E-A9A8-4EADA964ABBD}" dt="2026-07-22T16:52:01.234" v="820" actId="13926"/>
        <pc:sldMkLst>
          <pc:docMk/>
          <pc:sldMk cId="3805052159" sldId="266"/>
        </pc:sldMkLst>
        <pc:spChg chg="add del mod">
          <ac:chgData name="Иван Кукушкин" userId="3a809852355ebf2e" providerId="LiveId" clId="{501A0870-AEE8-461E-A9A8-4EADA964ABBD}" dt="2026-07-22T16:46:07.937" v="642" actId="478"/>
          <ac:spMkLst>
            <pc:docMk/>
            <pc:sldMk cId="3805052159" sldId="266"/>
            <ac:spMk id="3" creationId="{EF70FEA9-3FAA-BBDD-4F2F-6F39FF0FAAF1}"/>
          </ac:spMkLst>
        </pc:spChg>
        <pc:spChg chg="mod">
          <ac:chgData name="Иван Кукушкин" userId="3a809852355ebf2e" providerId="LiveId" clId="{501A0870-AEE8-461E-A9A8-4EADA964ABBD}" dt="2026-07-22T16:46:56.312" v="655" actId="20577"/>
          <ac:spMkLst>
            <pc:docMk/>
            <pc:sldMk cId="3805052159" sldId="266"/>
            <ac:spMk id="5" creationId="{5331032C-759F-CA45-450F-732BD0BF0E92}"/>
          </ac:spMkLst>
        </pc:spChg>
        <pc:spChg chg="mod">
          <ac:chgData name="Иван Кукушкин" userId="3a809852355ebf2e" providerId="LiveId" clId="{501A0870-AEE8-461E-A9A8-4EADA964ABBD}" dt="2026-07-22T16:32:34.486" v="448" actId="20577"/>
          <ac:spMkLst>
            <pc:docMk/>
            <pc:sldMk cId="3805052159" sldId="266"/>
            <ac:spMk id="11" creationId="{5B4D6EB4-2536-B2B5-426E-7F313BA01B07}"/>
          </ac:spMkLst>
        </pc:spChg>
        <pc:spChg chg="mod">
          <ac:chgData name="Иван Кукушкин" userId="3a809852355ebf2e" providerId="LiveId" clId="{501A0870-AEE8-461E-A9A8-4EADA964ABBD}" dt="2026-07-22T16:27:29.011" v="281" actId="13926"/>
          <ac:spMkLst>
            <pc:docMk/>
            <pc:sldMk cId="3805052159" sldId="266"/>
            <ac:spMk id="13" creationId="{18541C05-CC48-5529-FBC5-7F953D372A44}"/>
          </ac:spMkLst>
        </pc:spChg>
        <pc:spChg chg="mod">
          <ac:chgData name="Иван Кукушкин" userId="3a809852355ebf2e" providerId="LiveId" clId="{501A0870-AEE8-461E-A9A8-4EADA964ABBD}" dt="2026-07-22T16:32:40.584" v="451" actId="20577"/>
          <ac:spMkLst>
            <pc:docMk/>
            <pc:sldMk cId="3805052159" sldId="266"/>
            <ac:spMk id="15" creationId="{FE83F61D-7712-203C-52BE-5B490A0C0EFA}"/>
          </ac:spMkLst>
        </pc:spChg>
        <pc:spChg chg="mod">
          <ac:chgData name="Иван Кукушкин" userId="3a809852355ebf2e" providerId="LiveId" clId="{501A0870-AEE8-461E-A9A8-4EADA964ABBD}" dt="2026-07-22T16:32:37.468" v="450" actId="20577"/>
          <ac:spMkLst>
            <pc:docMk/>
            <pc:sldMk cId="3805052159" sldId="266"/>
            <ac:spMk id="17" creationId="{143C98DC-AF4D-0443-9FC6-42F2A6C9DF75}"/>
          </ac:spMkLst>
        </pc:spChg>
        <pc:spChg chg="mod">
          <ac:chgData name="Иван Кукушкин" userId="3a809852355ebf2e" providerId="LiveId" clId="{501A0870-AEE8-461E-A9A8-4EADA964ABBD}" dt="2026-07-22T16:51:46.607" v="817" actId="13926"/>
          <ac:spMkLst>
            <pc:docMk/>
            <pc:sldMk cId="3805052159" sldId="266"/>
            <ac:spMk id="89" creationId="{1F5C04CD-132F-DF4A-F943-5E74FCF63165}"/>
          </ac:spMkLst>
        </pc:spChg>
        <pc:spChg chg="mod">
          <ac:chgData name="Иван Кукушкин" userId="3a809852355ebf2e" providerId="LiveId" clId="{501A0870-AEE8-461E-A9A8-4EADA964ABBD}" dt="2026-07-22T16:51:51.703" v="818" actId="13926"/>
          <ac:spMkLst>
            <pc:docMk/>
            <pc:sldMk cId="3805052159" sldId="266"/>
            <ac:spMk id="91" creationId="{FB7DC938-870F-FE3D-9DE9-A9809D53EDE9}"/>
          </ac:spMkLst>
        </pc:spChg>
        <pc:spChg chg="del mod">
          <ac:chgData name="Иван Кукушкин" userId="3a809852355ebf2e" providerId="LiveId" clId="{501A0870-AEE8-461E-A9A8-4EADA964ABBD}" dt="2026-07-22T16:49:27.672" v="754" actId="478"/>
          <ac:spMkLst>
            <pc:docMk/>
            <pc:sldMk cId="3805052159" sldId="266"/>
            <ac:spMk id="95" creationId="{097E3071-5940-CFE2-5B19-E77C22F7245E}"/>
          </ac:spMkLst>
        </pc:spChg>
        <pc:spChg chg="mod">
          <ac:chgData name="Иван Кукушкин" userId="3a809852355ebf2e" providerId="LiveId" clId="{501A0870-AEE8-461E-A9A8-4EADA964ABBD}" dt="2026-07-22T16:51:56.361" v="819" actId="13926"/>
          <ac:spMkLst>
            <pc:docMk/>
            <pc:sldMk cId="3805052159" sldId="266"/>
            <ac:spMk id="99" creationId="{45936FB6-869E-4029-5993-6254D4454FFD}"/>
          </ac:spMkLst>
        </pc:spChg>
        <pc:spChg chg="mod">
          <ac:chgData name="Иван Кукушкин" userId="3a809852355ebf2e" providerId="LiveId" clId="{501A0870-AEE8-461E-A9A8-4EADA964ABBD}" dt="2026-07-22T16:52:01.234" v="820" actId="13926"/>
          <ac:spMkLst>
            <pc:docMk/>
            <pc:sldMk cId="3805052159" sldId="266"/>
            <ac:spMk id="101" creationId="{D5685425-59AA-4520-354E-A1134231B040}"/>
          </ac:spMkLst>
        </pc:spChg>
        <pc:spChg chg="mod">
          <ac:chgData name="Иван Кукушкин" userId="3a809852355ebf2e" providerId="LiveId" clId="{501A0870-AEE8-461E-A9A8-4EADA964ABBD}" dt="2026-07-22T16:48:47.601" v="744" actId="6549"/>
          <ac:spMkLst>
            <pc:docMk/>
            <pc:sldMk cId="3805052159" sldId="266"/>
            <ac:spMk id="155" creationId="{7F889B7F-C056-B9DC-98AD-24165B10CF33}"/>
          </ac:spMkLst>
        </pc:spChg>
        <pc:spChg chg="mod">
          <ac:chgData name="Иван Кукушкин" userId="3a809852355ebf2e" providerId="LiveId" clId="{501A0870-AEE8-461E-A9A8-4EADA964ABBD}" dt="2026-07-22T16:49:09.638" v="752" actId="20577"/>
          <ac:spMkLst>
            <pc:docMk/>
            <pc:sldMk cId="3805052159" sldId="266"/>
            <ac:spMk id="159" creationId="{FFE71E9E-6E1A-677D-93C1-3C520C288ED4}"/>
          </ac:spMkLst>
        </pc:spChg>
        <pc:picChg chg="add mod">
          <ac:chgData name="Иван Кукушкин" userId="3a809852355ebf2e" providerId="LiveId" clId="{501A0870-AEE8-461E-A9A8-4EADA964ABBD}" dt="2026-07-22T16:50:21.079" v="767" actId="1035"/>
          <ac:picMkLst>
            <pc:docMk/>
            <pc:sldMk cId="3805052159" sldId="266"/>
            <ac:picMk id="6" creationId="{0F830B79-2B88-DCCF-4339-BBFC7AE6ABE3}"/>
          </ac:picMkLst>
        </pc:picChg>
        <pc:picChg chg="mod">
          <ac:chgData name="Иван Кукушкин" userId="3a809852355ebf2e" providerId="LiveId" clId="{501A0870-AEE8-461E-A9A8-4EADA964ABBD}" dt="2026-07-22T16:49:45.755" v="758" actId="1076"/>
          <ac:picMkLst>
            <pc:docMk/>
            <pc:sldMk cId="3805052159" sldId="266"/>
            <ac:picMk id="165" creationId="{3726C01F-78AD-0947-6B6B-390FCDAE0F9F}"/>
          </ac:picMkLst>
        </pc:picChg>
        <pc:picChg chg="del">
          <ac:chgData name="Иван Кукушкин" userId="3a809852355ebf2e" providerId="LiveId" clId="{501A0870-AEE8-461E-A9A8-4EADA964ABBD}" dt="2026-07-22T16:49:30.420" v="755" actId="478"/>
          <ac:picMkLst>
            <pc:docMk/>
            <pc:sldMk cId="3805052159" sldId="266"/>
            <ac:picMk id="166" creationId="{923B19DE-6324-67F0-9353-03998A094076}"/>
          </ac:picMkLst>
        </pc:picChg>
        <pc:picChg chg="del">
          <ac:chgData name="Иван Кукушкин" userId="3a809852355ebf2e" providerId="LiveId" clId="{501A0870-AEE8-461E-A9A8-4EADA964ABBD}" dt="2026-07-22T16:51:36.298" v="816" actId="478"/>
          <ac:picMkLst>
            <pc:docMk/>
            <pc:sldMk cId="3805052159" sldId="266"/>
            <ac:picMk id="167" creationId="{66FF436E-4F91-E697-FFE7-E5F97B41C55E}"/>
          </ac:picMkLst>
        </pc:picChg>
        <pc:picChg chg="mod">
          <ac:chgData name="Иван Кукушкин" userId="3a809852355ebf2e" providerId="LiveId" clId="{501A0870-AEE8-461E-A9A8-4EADA964ABBD}" dt="2026-07-22T16:51:32.968" v="815" actId="1035"/>
          <ac:picMkLst>
            <pc:docMk/>
            <pc:sldMk cId="3805052159" sldId="266"/>
            <ac:picMk id="168" creationId="{40CBB576-8024-C2FA-212B-C430DBE27D77}"/>
          </ac:picMkLst>
        </pc:picChg>
        <pc:cxnChg chg="del mod">
          <ac:chgData name="Иван Кукушкин" userId="3a809852355ebf2e" providerId="LiveId" clId="{501A0870-AEE8-461E-A9A8-4EADA964ABBD}" dt="2026-07-22T16:48:04.545" v="735" actId="478"/>
          <ac:cxnSpMkLst>
            <pc:docMk/>
            <pc:sldMk cId="3805052159" sldId="266"/>
            <ac:cxnSpMk id="154" creationId="{4C3F7542-E855-1D3F-072F-45C5E2710035}"/>
          </ac:cxnSpMkLst>
        </pc:cxnChg>
        <pc:cxnChg chg="del">
          <ac:chgData name="Иван Кукушкин" userId="3a809852355ebf2e" providerId="LiveId" clId="{501A0870-AEE8-461E-A9A8-4EADA964ABBD}" dt="2026-07-22T16:48:29.768" v="741" actId="478"/>
          <ac:cxnSpMkLst>
            <pc:docMk/>
            <pc:sldMk cId="3805052159" sldId="266"/>
            <ac:cxnSpMk id="158" creationId="{9F1BD93F-2659-3AD3-AC5E-A68D8B79E84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Иван Кукушкин" userId="3a809852355ebf2e" providerId="LiveId" clId="{501A0870-AEE8-461E-A9A8-4EADA964ABBD}" dt="2026-07-22T16:32:37.468" v="450" actId="20577"/>
              <pc2:cmMkLst xmlns:pc2="http://schemas.microsoft.com/office/powerpoint/2019/9/main/command">
                <pc:docMk/>
                <pc:sldMk cId="3805052159" sldId="266"/>
                <pc2:cmMk id="{1A605E39-274F-439D-9822-E2EDDF387D5F}"/>
              </pc2:cmMkLst>
            </pc226:cmChg>
            <pc226:cmChg xmlns:pc226="http://schemas.microsoft.com/office/powerpoint/2022/06/main/command" chg="mod">
              <pc226:chgData name="Иван Кукушкин" userId="3a809852355ebf2e" providerId="LiveId" clId="{501A0870-AEE8-461E-A9A8-4EADA964ABBD}" dt="2026-07-22T16:32:40.584" v="451" actId="20577"/>
              <pc2:cmMkLst xmlns:pc2="http://schemas.microsoft.com/office/powerpoint/2019/9/main/command">
                <pc:docMk/>
                <pc:sldMk cId="3805052159" sldId="266"/>
                <pc2:cmMk id="{5F051898-3129-4348-B7DC-9C5D854C3C56}"/>
              </pc2:cmMkLst>
            </pc226:cmChg>
          </p:ext>
        </pc:extLst>
      </pc:sldChg>
      <pc:sldChg chg="modSp mod">
        <pc:chgData name="Иван Кукушкин" userId="3a809852355ebf2e" providerId="LiveId" clId="{501A0870-AEE8-461E-A9A8-4EADA964ABBD}" dt="2026-07-22T17:26:35.164" v="2544" actId="20577"/>
        <pc:sldMkLst>
          <pc:docMk/>
          <pc:sldMk cId="2574244733" sldId="267"/>
        </pc:sldMkLst>
        <pc:spChg chg="mod">
          <ac:chgData name="Иван Кукушкин" userId="3a809852355ebf2e" providerId="LiveId" clId="{501A0870-AEE8-461E-A9A8-4EADA964ABBD}" dt="2026-07-22T16:53:42.898" v="823" actId="20577"/>
          <ac:spMkLst>
            <pc:docMk/>
            <pc:sldMk cId="2574244733" sldId="267"/>
            <ac:spMk id="6" creationId="{0AB45736-50CB-F5CB-0356-DBCAF3CE43B3}"/>
          </ac:spMkLst>
        </pc:spChg>
        <pc:spChg chg="mod">
          <ac:chgData name="Иван Кукушкин" userId="3a809852355ebf2e" providerId="LiveId" clId="{501A0870-AEE8-461E-A9A8-4EADA964ABBD}" dt="2026-07-22T16:55:18.593" v="888" actId="20577"/>
          <ac:spMkLst>
            <pc:docMk/>
            <pc:sldMk cId="2574244733" sldId="267"/>
            <ac:spMk id="7" creationId="{B57CB094-F76A-0ED8-9844-6A6DD9E9CDD3}"/>
          </ac:spMkLst>
        </pc:spChg>
        <pc:spChg chg="mod">
          <ac:chgData name="Иван Кукушкин" userId="3a809852355ebf2e" providerId="LiveId" clId="{501A0870-AEE8-461E-A9A8-4EADA964ABBD}" dt="2026-07-22T17:16:00.568" v="1858" actId="1076"/>
          <ac:spMkLst>
            <pc:docMk/>
            <pc:sldMk cId="2574244733" sldId="267"/>
            <ac:spMk id="9" creationId="{BAD25C57-3643-B14E-C409-7C470A867E28}"/>
          </ac:spMkLst>
        </pc:spChg>
        <pc:spChg chg="mod">
          <ac:chgData name="Иван Кукушкин" userId="3a809852355ebf2e" providerId="LiveId" clId="{501A0870-AEE8-461E-A9A8-4EADA964ABBD}" dt="2026-07-22T17:15:52.738" v="1856" actId="1076"/>
          <ac:spMkLst>
            <pc:docMk/>
            <pc:sldMk cId="2574244733" sldId="267"/>
            <ac:spMk id="11" creationId="{6DD76A93-E634-ED2F-4684-6BE991458950}"/>
          </ac:spMkLst>
        </pc:spChg>
        <pc:spChg chg="mod">
          <ac:chgData name="Иван Кукушкин" userId="3a809852355ebf2e" providerId="LiveId" clId="{501A0870-AEE8-461E-A9A8-4EADA964ABBD}" dt="2026-07-22T17:24:54.577" v="2507" actId="14100"/>
          <ac:spMkLst>
            <pc:docMk/>
            <pc:sldMk cId="2574244733" sldId="267"/>
            <ac:spMk id="13" creationId="{7E970BA2-DD5F-4A65-E902-A3EED4023E34}"/>
          </ac:spMkLst>
        </pc:spChg>
        <pc:spChg chg="mod">
          <ac:chgData name="Иван Кукушкин" userId="3a809852355ebf2e" providerId="LiveId" clId="{501A0870-AEE8-461E-A9A8-4EADA964ABBD}" dt="2026-07-22T17:24:50.897" v="2506" actId="14100"/>
          <ac:spMkLst>
            <pc:docMk/>
            <pc:sldMk cId="2574244733" sldId="267"/>
            <ac:spMk id="15" creationId="{F4A15362-7623-DC28-2903-E0CCC9E8132E}"/>
          </ac:spMkLst>
        </pc:spChg>
        <pc:spChg chg="mod">
          <ac:chgData name="Иван Кукушкин" userId="3a809852355ebf2e" providerId="LiveId" clId="{501A0870-AEE8-461E-A9A8-4EADA964ABBD}" dt="2026-07-22T17:24:58.245" v="2508" actId="14100"/>
          <ac:spMkLst>
            <pc:docMk/>
            <pc:sldMk cId="2574244733" sldId="267"/>
            <ac:spMk id="30" creationId="{9C75F784-65FC-07CE-1DF4-FED0AB738269}"/>
          </ac:spMkLst>
        </pc:spChg>
        <pc:spChg chg="mod">
          <ac:chgData name="Иван Кукушкин" userId="3a809852355ebf2e" providerId="LiveId" clId="{501A0870-AEE8-461E-A9A8-4EADA964ABBD}" dt="2026-07-22T17:26:35.164" v="2544" actId="20577"/>
          <ac:spMkLst>
            <pc:docMk/>
            <pc:sldMk cId="2574244733" sldId="267"/>
            <ac:spMk id="33" creationId="{4CB6B098-7685-85DE-D62C-3810B8EB81AE}"/>
          </ac:spMkLst>
        </pc:spChg>
        <pc:spChg chg="mod">
          <ac:chgData name="Иван Кукушкин" userId="3a809852355ebf2e" providerId="LiveId" clId="{501A0870-AEE8-461E-A9A8-4EADA964ABBD}" dt="2026-07-22T17:24:08.980" v="2483" actId="1076"/>
          <ac:spMkLst>
            <pc:docMk/>
            <pc:sldMk cId="2574244733" sldId="267"/>
            <ac:spMk id="35" creationId="{70AA546D-DF7B-4DA6-974D-C1E23797B69C}"/>
          </ac:spMkLst>
        </pc:spChg>
        <pc:picChg chg="mod">
          <ac:chgData name="Иван Кукушкин" userId="3a809852355ebf2e" providerId="LiveId" clId="{501A0870-AEE8-461E-A9A8-4EADA964ABBD}" dt="2026-07-22T17:15:55.248" v="1857" actId="1076"/>
          <ac:picMkLst>
            <pc:docMk/>
            <pc:sldMk cId="2574244733" sldId="267"/>
            <ac:picMk id="21" creationId="{43484E88-A637-7F50-4063-5DBBCD271297}"/>
          </ac:picMkLst>
        </pc:picChg>
        <pc:picChg chg="mod">
          <ac:chgData name="Иван Кукушкин" userId="3a809852355ebf2e" providerId="LiveId" clId="{501A0870-AEE8-461E-A9A8-4EADA964ABBD}" dt="2026-07-22T17:15:09.189" v="1849" actId="1076"/>
          <ac:picMkLst>
            <pc:docMk/>
            <pc:sldMk cId="2574244733" sldId="267"/>
            <ac:picMk id="25" creationId="{5A233AF8-2ADB-3149-3FC2-596907946182}"/>
          </ac:picMkLst>
        </pc:picChg>
        <pc:picChg chg="mod">
          <ac:chgData name="Иван Кукушкин" userId="3a809852355ebf2e" providerId="LiveId" clId="{501A0870-AEE8-461E-A9A8-4EADA964ABBD}" dt="2026-07-22T17:21:08.208" v="2268" actId="1076"/>
          <ac:picMkLst>
            <pc:docMk/>
            <pc:sldMk cId="2574244733" sldId="267"/>
            <ac:picMk id="27" creationId="{9126D3F8-033B-2B46-6673-01DA5177F422}"/>
          </ac:picMkLst>
        </pc:picChg>
        <pc:picChg chg="mod">
          <ac:chgData name="Иван Кукушкин" userId="3a809852355ebf2e" providerId="LiveId" clId="{501A0870-AEE8-461E-A9A8-4EADA964ABBD}" dt="2026-07-22T17:15:42.884" v="1855" actId="1076"/>
          <ac:picMkLst>
            <pc:docMk/>
            <pc:sldMk cId="2574244733" sldId="267"/>
            <ac:picMk id="39" creationId="{51DE8AC6-53F0-A1DD-5A3C-27EDDC82CB50}"/>
          </ac:picMkLst>
        </pc:picChg>
      </pc:sldChg>
      <pc:sldChg chg="modSp mod modCm">
        <pc:chgData name="Иван Кукушкин" userId="3a809852355ebf2e" providerId="LiveId" clId="{501A0870-AEE8-461E-A9A8-4EADA964ABBD}" dt="2026-07-22T17:54:15.140" v="3327" actId="20577"/>
        <pc:sldMkLst>
          <pc:docMk/>
          <pc:sldMk cId="4217786849" sldId="269"/>
        </pc:sldMkLst>
        <pc:spChg chg="mod">
          <ac:chgData name="Иван Кукушкин" userId="3a809852355ebf2e" providerId="LiveId" clId="{501A0870-AEE8-461E-A9A8-4EADA964ABBD}" dt="2026-07-22T17:54:15.140" v="3327" actId="20577"/>
          <ac:spMkLst>
            <pc:docMk/>
            <pc:sldMk cId="4217786849" sldId="269"/>
            <ac:spMk id="5" creationId="{9C345DC6-6FBD-7560-8C92-79430DB225E5}"/>
          </ac:spMkLst>
        </pc:spChg>
        <pc:spChg chg="mod">
          <ac:chgData name="Иван Кукушкин" userId="3a809852355ebf2e" providerId="LiveId" clId="{501A0870-AEE8-461E-A9A8-4EADA964ABBD}" dt="2026-07-22T17:52:26.620" v="3296" actId="20577"/>
          <ac:spMkLst>
            <pc:docMk/>
            <pc:sldMk cId="4217786849" sldId="269"/>
            <ac:spMk id="6" creationId="{80B77CA9-4F72-06F4-9BCD-C4EA4B89C8C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Иван Кукушкин" userId="3a809852355ebf2e" providerId="LiveId" clId="{501A0870-AEE8-461E-A9A8-4EADA964ABBD}" dt="2026-07-22T17:54:15.140" v="3327" actId="20577"/>
              <pc2:cmMkLst xmlns:pc2="http://schemas.microsoft.com/office/powerpoint/2019/9/main/command">
                <pc:docMk/>
                <pc:sldMk cId="4217786849" sldId="269"/>
                <pc2:cmMk id="{E2C052F7-F505-4883-A45F-B30AD1BB7930}"/>
              </pc2:cmMkLst>
            </pc226:cmChg>
          </p:ext>
        </pc:extLst>
      </pc:sldChg>
      <pc:sldChg chg="modSp mod">
        <pc:chgData name="Иван Кукушкин" userId="3a809852355ebf2e" providerId="LiveId" clId="{501A0870-AEE8-461E-A9A8-4EADA964ABBD}" dt="2026-07-22T17:54:02.788" v="3302" actId="20577"/>
        <pc:sldMkLst>
          <pc:docMk/>
          <pc:sldMk cId="953687535" sldId="270"/>
        </pc:sldMkLst>
        <pc:spChg chg="mod">
          <ac:chgData name="Иван Кукушкин" userId="3a809852355ebf2e" providerId="LiveId" clId="{501A0870-AEE8-461E-A9A8-4EADA964ABBD}" dt="2026-07-22T17:54:02.788" v="3302" actId="20577"/>
          <ac:spMkLst>
            <pc:docMk/>
            <pc:sldMk cId="953687535" sldId="270"/>
            <ac:spMk id="5" creationId="{878C400C-7617-94F9-2983-825C13FDDA4B}"/>
          </ac:spMkLst>
        </pc:spChg>
      </pc:sldChg>
      <pc:sldChg chg="modSp mod">
        <pc:chgData name="Иван Кукушкин" userId="3a809852355ebf2e" providerId="LiveId" clId="{501A0870-AEE8-461E-A9A8-4EADA964ABBD}" dt="2026-07-22T17:58:35.674" v="3335" actId="20577"/>
        <pc:sldMkLst>
          <pc:docMk/>
          <pc:sldMk cId="637115194" sldId="275"/>
        </pc:sldMkLst>
        <pc:spChg chg="mod">
          <ac:chgData name="Иван Кукушкин" userId="3a809852355ebf2e" providerId="LiveId" clId="{501A0870-AEE8-461E-A9A8-4EADA964ABBD}" dt="2026-07-22T17:57:42.550" v="3333" actId="20577"/>
          <ac:spMkLst>
            <pc:docMk/>
            <pc:sldMk cId="637115194" sldId="275"/>
            <ac:spMk id="13" creationId="{94F3FAA5-2C43-3A13-81BC-CA60AB234A5A}"/>
          </ac:spMkLst>
        </pc:spChg>
        <pc:spChg chg="mod">
          <ac:chgData name="Иван Кукушкин" userId="3a809852355ebf2e" providerId="LiveId" clId="{501A0870-AEE8-461E-A9A8-4EADA964ABBD}" dt="2026-07-22T17:58:35.674" v="3335" actId="20577"/>
          <ac:spMkLst>
            <pc:docMk/>
            <pc:sldMk cId="637115194" sldId="275"/>
            <ac:spMk id="117" creationId="{4EE44A52-A2CD-B2A8-BF08-79D5579215AE}"/>
          </ac:spMkLst>
        </pc:spChg>
        <pc:spChg chg="mod">
          <ac:chgData name="Иван Кукушкин" userId="3a809852355ebf2e" providerId="LiveId" clId="{501A0870-AEE8-461E-A9A8-4EADA964ABBD}" dt="2026-07-22T17:58:32.840" v="3334" actId="6549"/>
          <ac:spMkLst>
            <pc:docMk/>
            <pc:sldMk cId="637115194" sldId="275"/>
            <ac:spMk id="129" creationId="{DE55D233-5B88-99D0-B1BC-3518B023C6C2}"/>
          </ac:spMkLst>
        </pc:spChg>
      </pc:sldChg>
      <pc:sldChg chg="modSp mod">
        <pc:chgData name="Иван Кукушкин" userId="3a809852355ebf2e" providerId="LiveId" clId="{501A0870-AEE8-461E-A9A8-4EADA964ABBD}" dt="2026-07-22T18:01:23.876" v="3342" actId="20577"/>
        <pc:sldMkLst>
          <pc:docMk/>
          <pc:sldMk cId="452239544" sldId="277"/>
        </pc:sldMkLst>
        <pc:spChg chg="mod">
          <ac:chgData name="Иван Кукушкин" userId="3a809852355ebf2e" providerId="LiveId" clId="{501A0870-AEE8-461E-A9A8-4EADA964ABBD}" dt="2026-07-22T18:01:23.876" v="3342" actId="20577"/>
          <ac:spMkLst>
            <pc:docMk/>
            <pc:sldMk cId="452239544" sldId="277"/>
            <ac:spMk id="49" creationId="{E6CCAD35-FCF9-F57E-22F5-4EB316A5A861}"/>
          </ac:spMkLst>
        </pc:spChg>
      </pc:sldChg>
    </pc:docChg>
  </pc:docChgLst>
</pc:chgInfo>
</file>

<file path=ppt/comments/modernComment_10A_E2CC7C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605E39-274F-439D-9822-E2EDDF387D5F}" authorId="{5D40AFA5-CBD3-02A2-C3EA-015EA0743A69}" created="2026-07-22T16:24:48.1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17" creationId="{143C98DC-AF4D-0443-9FC6-42F2A6C9DF75}"/>
      <ac:txMk cp="0" len="101">
        <ac:context len="102" hash="2939578623"/>
      </ac:txMk>
    </ac:txMkLst>
    <p188:pos x="2446421" y="231613"/>
    <p188:txBody>
      <a:bodyPr/>
      <a:lstStyle/>
      <a:p>
        <a:r>
          <a:rPr lang="ru-RU"/>
          <a:t>Содержание откорректировано</a:t>
        </a:r>
      </a:p>
    </p188:txBody>
  </p188:cm>
  <p188:cm id="{ED69F23E-2282-481D-A149-913A4C03DB7F}" authorId="{5D40AFA5-CBD3-02A2-C3EA-015EA0743A69}" created="2026-07-22T16:25:35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11" creationId="{5B4D6EB4-2536-B2B5-426E-7F313BA01B07}"/>
    </ac:deMkLst>
    <p188:txBody>
      <a:bodyPr/>
      <a:lstStyle/>
      <a:p>
        <a:r>
          <a:rPr lang="ru-RU"/>
          <a:t>Содержание откорректировано</a:t>
        </a:r>
      </a:p>
    </p188:txBody>
  </p188:cm>
  <p188:cm id="{E9A0BDD4-FB51-45B4-8BDE-1807645F22D3}" authorId="{5D40AFA5-CBD3-02A2-C3EA-015EA0743A69}" created="2026-07-22T16:28:58.8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13" creationId="{18541C05-CC48-5529-FBC5-7F953D372A44}"/>
      <ac:txMk cp="27" len="70">
        <ac:context len="98" hash="243251347"/>
      </ac:txMk>
    </ac:txMkLst>
    <p188:pos x="2443359" y="477930"/>
    <p188:txBody>
      <a:bodyPr/>
      <a:lstStyle/>
      <a:p>
        <a:r>
          <a:rPr lang="ru-RU"/>
          <a:t>Содержание откорректировано</a:t>
        </a:r>
      </a:p>
    </p188:txBody>
  </p188:cm>
  <p188:cm id="{5F051898-3129-4348-B7DC-9C5D854C3C56}" authorId="{5D40AFA5-CBD3-02A2-C3EA-015EA0743A69}" created="2026-07-22T16:29:26.25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15" creationId="{FE83F61D-7712-203C-52BE-5B490A0C0EFA}"/>
      <ac:txMk cp="32" len="140">
        <ac:context len="173" hash="137150076"/>
      </ac:txMk>
    </ac:txMkLst>
    <p188:pos x="2446421" y="725492"/>
    <p188:txBody>
      <a:bodyPr/>
      <a:lstStyle/>
      <a:p>
        <a:r>
          <a:rPr lang="ru-RU"/>
          <a:t>Содержание откорректировано</a:t>
        </a:r>
      </a:p>
    </p188:txBody>
  </p188:cm>
  <p188:cm id="{3ED8F6BC-C667-4345-A1BC-58A81DD6A99D}" authorId="{5D40AFA5-CBD3-02A2-C3EA-015EA0743A69}" created="2026-07-22T16:52:54.4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89" creationId="{1F5C04CD-132F-DF4A-F943-5E74FCF63165}"/>
      <ac:txMk cp="25" len="103">
        <ac:context len="129" hash="3284980823"/>
      </ac:txMk>
    </ac:txMkLst>
    <p188:pos x="2442627" y="433412"/>
    <p188:txBody>
      <a:bodyPr/>
      <a:lstStyle/>
      <a:p>
        <a:r>
          <a:rPr lang="ru-RU"/>
          <a:t>Содержание откорректировано</a:t>
        </a:r>
      </a:p>
    </p188:txBody>
  </p188:cm>
  <p188:cm id="{8AEF0971-3D31-42F5-9C14-819E26F386F6}" authorId="{5D40AFA5-CBD3-02A2-C3EA-015EA0743A69}" created="2026-07-22T16:53:02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91" creationId="{FB7DC938-870F-FE3D-9DE9-A9809D53EDE9}"/>
      <ac:txMk cp="21" len="83">
        <ac:context len="105" hash="106541765"/>
      </ac:txMk>
    </ac:txMkLst>
    <p188:pos x="2444452" y="431036"/>
    <p188:txBody>
      <a:bodyPr/>
      <a:lstStyle/>
      <a:p>
        <a:r>
          <a:rPr lang="ru-RU"/>
          <a:t>Содержание откорректировано</a:t>
        </a:r>
      </a:p>
    </p188:txBody>
  </p188:cm>
  <p188:cm id="{8D9724BA-008E-4978-8E8E-89714456A084}" authorId="{5D40AFA5-CBD3-02A2-C3EA-015EA0743A69}" created="2026-07-22T16:53:13.3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99" creationId="{45936FB6-869E-4029-5993-6254D4454FFD}"/>
      <ac:txMk cp="21" len="83">
        <ac:context len="105" hash="3665091823"/>
      </ac:txMk>
    </ac:txMkLst>
    <p188:pos x="2443273" y="434950"/>
    <p188:txBody>
      <a:bodyPr/>
      <a:lstStyle/>
      <a:p>
        <a:r>
          <a:rPr lang="ru-RU"/>
          <a:t>Содержание откорректировано</a:t>
        </a:r>
      </a:p>
    </p188:txBody>
  </p188:cm>
  <p188:cm id="{7326BEB2-3839-4382-B5B5-5CC8608C2BB0}" authorId="{5D40AFA5-CBD3-02A2-C3EA-015EA0743A69}" created="2026-07-22T16:53:23.7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05052159" sldId="266"/>
      <ac:spMk id="101" creationId="{D5685425-59AA-4520-354E-A1134231B040}"/>
      <ac:txMk cp="19" len="156">
        <ac:context len="176" hash="587522075"/>
      </ac:txMk>
    </ac:txMkLst>
    <p188:pos x="2444452" y="433667"/>
    <p188:txBody>
      <a:bodyPr/>
      <a:lstStyle/>
      <a:p>
        <a:r>
          <a:rPr lang="ru-RU"/>
          <a:t>Содержание откорректировано</a:t>
        </a:r>
      </a:p>
    </p188:txBody>
  </p188:cm>
</p188:cmLst>
</file>

<file path=ppt/comments/modernComment_10B_996FDB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F84EDA-D78D-427E-BD77-E12C10946A31}" authorId="{5D40AFA5-CBD3-02A2-C3EA-015EA0743A69}" created="2026-07-22T17:27:13.80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74244733" sldId="267"/>
      <ac:spMk id="5" creationId="{B48CD45F-CB4B-DA32-BCA7-6509B6471E92}"/>
      <ac:txMk cp="1" len="35">
        <ac:context len="37" hash="563648381"/>
      </ac:txMk>
    </ac:txMkLst>
    <p188:pos x="5102352" y="152400"/>
    <p188:txBody>
      <a:bodyPr/>
      <a:lstStyle/>
      <a:p>
        <a:r>
          <a:rPr lang="ru-RU"/>
          <a:t>Все содержимое слайда откорректировано</a:t>
        </a:r>
      </a:p>
    </p188:txBody>
  </p188:cm>
</p188:cmLst>
</file>

<file path=ppt/comments/modernComment_10D_FB6651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C052F7-F505-4883-A45F-B30AD1BB7930}" authorId="{5D40AFA5-CBD3-02A2-C3EA-015EA0743A69}" created="2026-07-22T17:53:03.7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17786849" sldId="269"/>
      <ac:spMk id="5" creationId="{9C345DC6-6FBD-7560-8C92-79430DB225E5}"/>
      <ac:txMk cp="26" len="3">
        <ac:context len="30" hash="487423359"/>
      </ac:txMk>
    </ac:txMkLst>
    <p188:pos x="1438656" y="152400"/>
    <p188:txBody>
      <a:bodyPr/>
      <a:lstStyle/>
      <a:p>
        <a:r>
          <a:rPr lang="ru-RU"/>
          <a:t>Содержимое слайда откорректированно</a:t>
        </a:r>
      </a:p>
    </p188:txBody>
  </p188:cm>
</p188:cmLst>
</file>

<file path=ppt/comments/modernComment_101_6654E1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C7C359-846F-409A-A578-AC61C3B2DE6A}" authorId="{5D40AFA5-CBD3-02A2-C3EA-015EA0743A69}" created="2026-07-22T12:37:32.46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16838676" sldId="257"/>
      <ac:spMk id="46" creationId="{4A7D36DB-84AB-1028-6736-875020CE423E}"/>
      <ac:txMk cp="0" len="30">
        <ac:context len="94" hash="1983095571"/>
      </ac:txMk>
    </ac:txMkLst>
    <p188:pos x="2920314" y="233293"/>
    <p188:txBody>
      <a:bodyPr/>
      <a:lstStyle/>
      <a:p>
        <a:r>
          <a:rPr lang="ru-RU"/>
          <a:t>Фразу ««УРАЛЕЦ» В СИСТЕМЕ ПРЕДПРИЯТИЯ” заменить на что то подобное:
«УРАЛЕЦ» ИНТЕГРАЦИЯ  IT ПРЕДПРИЯТИЯ </a:t>
        </a:r>
      </a:p>
    </p188:txBody>
  </p188:cm>
</p188:cmLst>
</file>

<file path=ppt/comments/modernComment_106_3168804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7BE71AF-208B-40D2-8900-207273D97345}" authorId="{5D40AFA5-CBD3-02A2-C3EA-015EA0743A69}" created="2026-07-22T12:42:14.06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28932165" sldId="262"/>
      <ac:spMk id="48" creationId="{A2299A30-3AC4-155C-7FA1-AAFB006178CC}"/>
      <ac:txMk cp="13" len="105">
        <ac:context len="119" hash="1187557879"/>
      </ac:txMk>
    </ac:txMkLst>
    <p188:pos x="1655001" y="506038"/>
    <p188:txBody>
      <a:bodyPr/>
      <a:lstStyle/>
      <a:p>
        <a:r>
          <a:rPr lang="ru-RU"/>
          <a:t>При этом даже при работе в «закрытом» контуре предприятия аппарат защищен встроенным firewall блокируя как попытке вирусной атаки внутри сети предприятия (которая может возникнуть по разным причинам) так и защищает аппарат и систему от ошибочных/несанкционированных действий IT служб предприятия.</a:t>
        </a:r>
      </a:p>
    </p188:txBody>
  </p188:cm>
  <p188:cm id="{A0A26AA4-8A92-49D6-94B0-6D689087B53A}" authorId="{5D40AFA5-CBD3-02A2-C3EA-015EA0743A69}" created="2026-07-22T12:49:19.17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28932165" sldId="262"/>
      <ac:spMk id="39" creationId="{5B74D2A7-30E6-E9A8-89D6-7BB9DB2A1E73}"/>
      <ac:txMk cp="0" len="101">
        <ac:context len="102" hash="4096844310"/>
      </ac:txMk>
    </ac:txMkLst>
    <p188:pos x="2102234" y="236267"/>
    <p188:txBody>
      <a:bodyPr/>
      <a:lstStyle/>
      <a:p>
        <a:r>
          <a:rPr lang="ru-RU"/>
          <a:t>Рекомендуем создать список с какими уровнями мы можем быть интегрированными:
- ERP системы и/или система складского учета;
- MES средства предприятия;
- SCADA/DCS средства предприятия.
Вообще интеграция крайне важная тема она сильно расширяет функционал поэтому стоит качественно описывать данный функционал.</a:t>
        </a:r>
      </a:p>
    </p188:txBody>
  </p188:cm>
  <p188:cm id="{F1618825-4512-4361-B129-E1C448624423}" authorId="{5D40AFA5-CBD3-02A2-C3EA-015EA0743A69}" created="2026-07-22T18:06:39.01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28932165" sldId="262"/>
      <ac:spMk id="14" creationId="{BC939494-7F72-3C4F-C6E6-950C52707392}"/>
      <ac:txMk cp="0" len="262">
        <ac:context len="263" hash="2720863755"/>
      </ac:txMk>
    </ac:txMkLst>
    <p188:pos x="6122386" y="191784"/>
    <p188:txBody>
      <a:bodyPr/>
      <a:lstStyle/>
      <a:p>
        <a:r>
          <a:rPr lang="ru-RU"/>
          <a:t>Содержание откорректировано</a:t>
        </a:r>
      </a:p>
    </p188:txBody>
  </p188:cm>
</p188:cmLst>
</file>

<file path=ppt/comments/modernComment_107_6B724D5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7C8D495-824C-4B51-AAEF-2B48E675E9DC}" authorId="{5D40AFA5-CBD3-02A2-C3EA-015EA0743A69}" created="2026-07-22T09:02:25.64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02653014" sldId="263"/>
      <ac:spMk id="47" creationId="{61332436-E59B-39FB-4D8D-B1AEEEFE2D38}"/>
      <ac:txMk cp="143" len="63">
        <ac:context len="254" hash="1687298796"/>
      </ac:txMk>
    </ac:txMkLst>
    <p188:pos x="2248322" y="1147835"/>
    <p188:txBody>
      <a:bodyPr/>
      <a:lstStyle/>
      <a:p>
        <a:r>
          <a:rPr lang="ru-RU"/>
          <a:t>Не верное описание - разделить на описания люка выдачи и  двери №1 (левая дверь аппарата). У них разные функции и назначение. За сохранность ТМЦ в целом отвечает не люк а именно дверь №1</a:t>
        </a:r>
      </a:p>
    </p188:txBody>
  </p188:cm>
  <p188:cm id="{6A6B6316-D368-4414-92B4-808176FFC10D}" authorId="{5D40AFA5-CBD3-02A2-C3EA-015EA0743A69}" created="2026-07-22T09:07:31.92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02653014" sldId="263"/>
      <ac:spMk id="23" creationId="{55528E22-49A6-C7FB-DC44-277761A0917B}"/>
      <ac:txMk cp="40" len="63">
        <ac:context len="104" hash="2401275348"/>
      </ac:txMk>
    </ac:txMkLst>
    <p188:pos x="2351830" y="420471"/>
    <p188:txBody>
      <a:bodyPr/>
      <a:lstStyle/>
      <a:p>
        <a:r>
          <a:rPr lang="ru-RU"/>
          <a:t>Назначение у обоих фактически равное . В базовой «истории» RFID используется  для аутентификации а QR для (например) выдачи агрегированного заказа. Но можно сделать и поноценную работу на базе только QR, когда сначала генерируется одноразовый код а далее прикладывается заказ-наряд (и т.п.) и по  нему рабочий получает/вносит ТМЦ</a:t>
        </a:r>
      </a:p>
    </p188:txBody>
  </p188:cm>
  <p188:cm id="{93BB1F13-D4FE-4B50-A21E-D27FB8704929}" authorId="{5D40AFA5-CBD3-02A2-C3EA-015EA0743A69}" created="2026-07-22T12:36:27.557">
    <pc:sldMkLst xmlns:pc="http://schemas.microsoft.com/office/powerpoint/2013/main/command">
      <pc:docMk/>
      <pc:sldMk cId="1802653014" sldId="263"/>
    </pc:sldMkLst>
    <p188:txBody>
      <a:bodyPr/>
      <a:lstStyle/>
      <a:p>
        <a:r>
          <a:rPr lang="ru-RU"/>
          <a:t>Не рекомендую нигде использовать  значение 96. Крайнюю ячейку лучше оставлять для технологических целей свободной от использования в коммерческой эксплуатации. Соответственно рекомендуемое значение количества спиральных ячеек - 95</a:t>
        </a:r>
      </a:p>
    </p188:txBody>
  </p188:cm>
  <p188:cm id="{A7064CFC-F91D-40F1-8BA9-4E12B8DA12BF}" authorId="{5D40AFA5-CBD3-02A2-C3EA-015EA0743A69}" created="2026-07-22T12:51:33.1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02653014" sldId="263"/>
      <ac:spMk id="66" creationId="{095D659D-7A45-0D01-74DF-8A87DE3E7BF0}"/>
      <ac:txMk cp="0" len="38">
        <ac:context len="40" hash="2608397813"/>
      </ac:txMk>
    </ac:txMkLst>
    <p188:pos x="3026507" y="230254"/>
    <p188:txBody>
      <a:bodyPr/>
      <a:lstStyle/>
      <a:p>
        <a:r>
          <a:rPr lang="ru-RU"/>
          <a:t>Не камера, а - подсистема фото-видеофиксации и наблюдения окружающей обстановки. Описание на подсистему направлялось ранее как отдельный сформированный документ. Стоит более развернуто отразить данную информацию</a:t>
        </a:r>
      </a:p>
    </p188:txBody>
  </p188:cm>
  <p188:cm id="{E34A8FC1-9AA7-4E1C-9F1D-D9C096523AD0}" authorId="{5D40AFA5-CBD3-02A2-C3EA-015EA0743A69}" created="2026-07-22T12:53:29.1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02653014" sldId="263"/>
      <ac:spMk id="5" creationId="{80134B52-8407-3DD5-8B77-5E7DCFA795FA}"/>
      <ac:txMk cp="1" len="29">
        <ac:context len="31" hash="1238053049"/>
      </ac:txMk>
    </ac:txMkLst>
    <p188:pos x="4363453" y="189297"/>
    <p188:txBody>
      <a:bodyPr/>
      <a:lstStyle/>
      <a:p>
        <a:r>
          <a:rPr lang="ru-RU"/>
          <a:t>Фразу: ««Уралец». Зоны взаимодействия” предлагаю заменить на:
««Уралец» - взаимодействие с пользователем»</a:t>
        </a:r>
      </a:p>
    </p188:txBody>
  </p188:cm>
  <p188:cm id="{0023E941-5714-428B-848D-235D02D6B19A}" authorId="{5D40AFA5-CBD3-02A2-C3EA-015EA0743A69}" created="2026-07-22T12:54:59.11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02653014" sldId="263"/>
      <ac:spMk id="23" creationId="{55528E22-49A6-C7FB-DC44-277761A0917B}"/>
      <ac:txMk cp="40" len="41">
        <ac:context len="104" hash="2401275348"/>
      </ac:txMk>
    </ac:txMkLst>
    <p188:pos x="2351830" y="420471"/>
    <p188:txBody>
      <a:bodyPr/>
      <a:lstStyle/>
      <a:p>
        <a:r>
          <a:rPr lang="ru-RU"/>
          <a:t>“2.2  Устройство авторизации по RFID-ключу” заменить на:
«2.2  Устройство аутентификации по RFID-карте»
Текущая формулировка не верная, RFID отвечает именно за аутентификацию, в текущей системе верхнего уровня авторизация производится автоматически после попадания пользователя в графическую систему и выполнения действий (например -&gt; “позволь мне получить ТМЦ» именно в этот момент происходит, незримо, авторизация) </a:t>
        </a:r>
      </a:p>
    </p188:txBody>
  </p188:cm>
  <p188:cm id="{F8CBA733-1ED8-4E7E-8094-223B8D6F869D}" authorId="{5D40AFA5-CBD3-02A2-C3EA-015EA0743A69}" created="2026-07-22T13:00:38.73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02653014" sldId="263"/>
      <ac:spMk id="243" creationId="{8F3B4276-9945-2422-4538-9FA5488371AD}"/>
      <ac:txMk cp="152" len="66">
        <ac:context len="220" hash="3674546497"/>
      </ac:txMk>
    </ac:txMkLst>
    <p188:pos x="2164724" y="1149208"/>
    <p188:txBody>
      <a:bodyPr/>
      <a:lstStyle/>
      <a:p>
        <a:r>
          <a:rPr lang="ru-RU"/>
          <a:t>Мы сейчас готовы такое декларировать ?</a:t>
        </a:r>
      </a:p>
    </p188:txBody>
  </p188:cm>
</p188:cmLst>
</file>

<file path=ppt/comments/modernComment_108_2E719A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A78EE4-B271-4935-A098-D579B8010C87}" authorId="{5D40AFA5-CBD3-02A2-C3EA-015EA0743A69}" created="2026-07-22T17:42:28.4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79197056" sldId="264"/>
      <ac:spMk id="5" creationId="{0A125ADE-A358-3414-C82F-3FA46E63EB29}"/>
      <ac:txMk cp="1" len="36">
        <ac:context len="38" hash="951268128"/>
      </ac:txMk>
    </ac:txMkLst>
    <p188:pos x="5023104" y="152400"/>
    <p188:txBody>
      <a:bodyPr/>
      <a:lstStyle/>
      <a:p>
        <a:r>
          <a:rPr lang="ru-RU"/>
          <a:t>На слайде есть откоректированное содержимое</a:t>
        </a:r>
      </a:p>
    </p188:txBody>
  </p188:cm>
</p188:cmLst>
</file>

<file path=ppt/comments/modernComment_115_1AF4A0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A64FB4-4F43-4BEB-860F-869894C304E3}" authorId="{5D40AFA5-CBD3-02A2-C3EA-015EA0743A69}" created="2026-07-22T18:01:41.6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52239544" sldId="277"/>
      <ac:spMk id="49" creationId="{E6CCAD35-FCF9-F57E-22F5-4EB316A5A861}"/>
      <ac:txMk cp="0" len="16">
        <ac:context len="48" hash="2857793141"/>
      </ac:txMk>
    </ac:txMkLst>
    <p188:pos x="1602769" y="188689"/>
    <p188:txBody>
      <a:bodyPr/>
      <a:lstStyle/>
      <a:p>
        <a:r>
          <a:rPr lang="ru-RU"/>
          <a:t>Содержание откорректировано</a:t>
        </a:r>
      </a:p>
    </p188:txBody>
  </p188:cm>
  <p188:cm id="{4C99E346-22BF-4E24-BB87-06ED044A24C4}" authorId="{5D40AFA5-CBD3-02A2-C3EA-015EA0743A69}" created="2026-07-22T18:03:50.27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52239544" sldId="277"/>
      <ac:spMk id="98" creationId="{0B77A414-60DD-081F-590D-4A3DC5F80799}"/>
      <ac:txMk cp="1" len="30">
        <ac:context len="32" hash="1737059952"/>
      </ac:txMk>
    </ac:txMkLst>
    <p188:pos x="4431792" y="152400"/>
    <p188:txBody>
      <a:bodyPr/>
      <a:lstStyle/>
      <a:p>
        <a:r>
          <a:rPr lang="ru-RU"/>
          <a:t>Содержимое слайда нужно серьезно обсудить. Иначе продадим то чего нет. То как представлено взаимодействие на слайде (как минимум в части) - это будущая трансформация.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4DE8C-A6E0-4FD0-8A77-AD806797F13C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528014-4A99-4046-8090-9E50F10105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28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8014-4A99-4046-8090-9E50F101056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019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8014-4A99-4046-8090-9E50F101056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051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8014-4A99-4046-8090-9E50F101056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23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28014-4A99-4046-8090-9E50F101056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127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36DF7B-BD9F-7895-0C84-60CC4446B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42249A-784E-1B90-6BDA-1C7C83408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58BFDB-3863-3625-17D0-98D1B379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E0B2B5-2797-5F36-B9FC-0090C716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74428A-2891-CAF2-3A5F-A6335E92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33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F85CC-E771-287C-1619-8EE263DD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B3F778-4823-059D-D10F-588168723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B3C61-9DB1-320B-ECC5-29EF3F6D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529ED3-D85A-1144-6E90-CF529B743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C954AC-13F8-7EE2-7CDB-3DE22923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7132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596F6-94CB-01D9-7135-7420BD36B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7D7ED3-691D-2312-B733-E17C9B631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B7D171-D703-8322-DB81-F346D2DC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58B8DD-73DC-E5CA-52FF-1F8E3E08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8DAA7C-4104-E56A-09FB-90D08064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57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FE2AA-C59D-356D-7279-5F28DF96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8FB831-CF8C-6758-E23B-6BC90ED22C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5C9DA0-A0B4-626E-43B7-91A8C021C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BFA1D9-93F6-B3E5-5FB8-0D4D5842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23C640-4F61-8D04-486E-1E630AC2C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8BEFA9-1646-62FA-6BFA-33433DFA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047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4B401-C507-9164-5AAF-C79E3871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44D789-E393-C4B5-05AC-33840548F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D78456-AB48-C98B-3A9D-009206A9A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994D1E9-8BE7-95A0-8D5F-34A4AD8C4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A63E4A-A18D-C6D4-B0A9-6771BB170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8D4B18-4DD0-7C61-AAD8-5E196AF6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6ED06A0-9A8D-563C-1D59-467655E5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A60436-6287-02B0-2F93-70EDF52D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89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E3137-83D2-0EF4-B9D6-6F86D88A2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AF5352-A26E-0C30-BCAB-F6644C7F2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4CB3B21-1AD2-D592-13E9-5F5566054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153C79-3CC3-BB59-C548-E55706FE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AA19F7-46C5-E464-D9EE-2FB5FE126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254F94-17C4-6BD3-4FA5-DD8E236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E54825-E060-E4DA-4846-FD6EEA47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03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24431-D970-39FF-8271-01CF7E64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0E1E38-3C0F-287B-83BD-6E67C52CE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5DFACF7-0E9E-B311-B440-AEB1A17E1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BD8DE0-3ECE-C716-B2CB-A372B363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7F3F9D-1379-842F-C4E4-9524CF58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8B6562-E742-4FFB-1BC0-10725235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45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4FABC-1A17-C796-00AD-C37C792DA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8D74A4-78FA-A6E2-B304-90CE85191C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10DBC8-D3AC-D380-01DA-5EBFC0FCE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23A5B4-B71C-6CE4-CB4A-9537D012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6E5CC0-5949-6238-1FCC-864B9000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A977FB-43CC-6CE7-4875-42FEA5E5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00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2D517-D3C3-9F98-2244-36CB5CB0C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E29499-3FAC-5E87-06E1-2A6F4A93D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610AC7-3C30-835A-ABDC-2AE47E38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58499E-2C8E-26DC-6D83-5AFC90DC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B8AFE-7A51-CFAF-5740-12363C6F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59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D445CE-5D3D-A716-3E5A-EE9A781E06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5CB38B-B8F3-8DAA-E223-95B65C151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AACE42-AC52-6EAA-536F-0B18A316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000032-C37F-2C7D-5AB6-F30C7948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2CCDFB-6FAB-E476-6624-7D601B3A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2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64B57-734F-0490-A05B-090A534B9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B363E2-0011-A534-8031-F644CF9D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78C84F-16DD-0BF4-3363-7FB68881A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23863-FA14-4A85-A9AA-E5182CCE360A}" type="datetimeFigureOut">
              <a:rPr lang="ru-RU" smtClean="0"/>
              <a:t>22.07.2026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B30C05-3D3C-DFE0-76A0-7A84E45D6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A5AA3C-6F15-17F7-820E-D9E058CF1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E15F0-B341-4846-A07B-A87C51C411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57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6654E11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microsoft.com/office/2018/10/relationships/comments" Target="../comments/modernComment_106_31688045.xml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12.jpe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6B724D56.xml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26.jpeg"/><Relationship Id="rId7" Type="http://schemas.openxmlformats.org/officeDocument/2006/relationships/image" Target="../media/image24.svg"/><Relationship Id="rId2" Type="http://schemas.microsoft.com/office/2018/10/relationships/comments" Target="../comments/modernComment_108_2E719A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microsoft.com/office/2018/10/relationships/comments" Target="../comments/modernComment_10A_E2CC7CFF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0.svg"/><Relationship Id="rId7" Type="http://schemas.openxmlformats.org/officeDocument/2006/relationships/image" Target="../media/image17.svg"/><Relationship Id="rId2" Type="http://schemas.microsoft.com/office/2018/10/relationships/comments" Target="../comments/modernComment_10B_996FDB7D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14.svg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FB6651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35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47.svg"/><Relationship Id="rId7" Type="http://schemas.openxmlformats.org/officeDocument/2006/relationships/image" Target="../media/image13.svg"/><Relationship Id="rId12" Type="http://schemas.openxmlformats.org/officeDocument/2006/relationships/image" Target="../media/image21.sv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11" Type="http://schemas.openxmlformats.org/officeDocument/2006/relationships/image" Target="../media/image20.jpeg"/><Relationship Id="rId5" Type="http://schemas.openxmlformats.org/officeDocument/2006/relationships/image" Target="../media/image49.svg"/><Relationship Id="rId10" Type="http://schemas.openxmlformats.org/officeDocument/2006/relationships/image" Target="../media/image17.svg"/><Relationship Id="rId4" Type="http://schemas.openxmlformats.org/officeDocument/2006/relationships/image" Target="../media/image48.svg"/><Relationship Id="rId9" Type="http://schemas.openxmlformats.org/officeDocument/2006/relationships/image" Target="../media/image16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39.jpeg"/><Relationship Id="rId7" Type="http://schemas.openxmlformats.org/officeDocument/2006/relationships/image" Target="../media/image13.svg"/><Relationship Id="rId2" Type="http://schemas.microsoft.com/office/2018/10/relationships/comments" Target="../comments/modernComment_115_1AF4A0B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21.svg"/><Relationship Id="rId4" Type="http://schemas.openxmlformats.org/officeDocument/2006/relationships/image" Target="../media/image20.jpeg"/><Relationship Id="rId9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6.svg"/><Relationship Id="rId2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svg"/><Relationship Id="rId5" Type="http://schemas.openxmlformats.org/officeDocument/2006/relationships/hyperlink" Target="mailto:tm@tm96.ru" TargetMode="External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5FBCBFA-97A3-E351-90EA-E0889AAEE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59923" cy="6858000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995B2F-D383-AFAB-B818-6FAFF4F6E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542" y="3708474"/>
            <a:ext cx="5675586" cy="948713"/>
          </a:xfrm>
        </p:spPr>
        <p:txBody>
          <a:bodyPr>
            <a:normAutofit/>
          </a:bodyPr>
          <a:lstStyle/>
          <a:p>
            <a:pPr algn="just"/>
            <a:r>
              <a:rPr lang="ru-RU" sz="1800" b="1" dirty="0">
                <a:latin typeface="Bahnschrift SemiBold Condensed" panose="020B0502040204020203" pitchFamily="34" charset="0"/>
              </a:rPr>
              <a:t>«Уралец» — </a:t>
            </a:r>
            <a:r>
              <a:rPr lang="ru-RU" sz="1800" dirty="0">
                <a:latin typeface="Bahnschrift SemiBold Condensed" panose="020B0502040204020203" pitchFamily="34" charset="0"/>
              </a:rPr>
              <a:t>Программно-аппаратный комплекс нового поколения от компании «Точные машины» для промышленных предприятий, которым важна точность, прозрачность и контроль.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DD0805-3085-E6A6-4B21-8ED6873A9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542" y="1698983"/>
            <a:ext cx="3816049" cy="75515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9F6548-7221-BF13-BAFD-37960E113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260" y="243027"/>
            <a:ext cx="1550677" cy="73419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D058C0-B306-0E08-9F9A-3AF72AE321FF}"/>
              </a:ext>
            </a:extLst>
          </p:cNvPr>
          <p:cNvSpPr txBox="1"/>
          <p:nvPr/>
        </p:nvSpPr>
        <p:spPr>
          <a:xfrm>
            <a:off x="4659923" y="6581001"/>
            <a:ext cx="7532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F1EACD60-35FC-23E6-479F-3BEBA81DF90B}"/>
              </a:ext>
            </a:extLst>
          </p:cNvPr>
          <p:cNvCxnSpPr/>
          <p:nvPr/>
        </p:nvCxnSpPr>
        <p:spPr>
          <a:xfrm flipV="1">
            <a:off x="4659923" y="0"/>
            <a:ext cx="0" cy="6858000"/>
          </a:xfrm>
          <a:prstGeom prst="line">
            <a:avLst/>
          </a:prstGeom>
          <a:ln w="508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10B230A-B5D1-A216-8337-CA074F82554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21" y="845329"/>
            <a:ext cx="854437" cy="16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1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A4EDFF0-26B2-618D-8432-E50840400C4F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01F0648D-3BD8-029A-E630-FBF55094DF3C}"/>
              </a:ext>
            </a:extLst>
          </p:cNvPr>
          <p:cNvGrpSpPr/>
          <p:nvPr/>
        </p:nvGrpSpPr>
        <p:grpSpPr>
          <a:xfrm>
            <a:off x="784860" y="388620"/>
            <a:ext cx="5067300" cy="1043940"/>
            <a:chOff x="784860" y="388620"/>
            <a:chExt cx="3977640" cy="1043940"/>
          </a:xfrm>
        </p:grpSpPr>
        <p:sp>
          <p:nvSpPr>
            <p:cNvPr id="22" name="Прямоугольник: один верхний угол скругленный, другой — усеченный 21">
              <a:extLst>
                <a:ext uri="{FF2B5EF4-FFF2-40B4-BE49-F238E27FC236}">
                  <a16:creationId xmlns:a16="http://schemas.microsoft.com/office/drawing/2014/main" id="{6E4181F7-8F8C-DAF3-31E2-92CCEC3DAE6E}"/>
                </a:ext>
              </a:extLst>
            </p:cNvPr>
            <p:cNvSpPr/>
            <p:nvPr/>
          </p:nvSpPr>
          <p:spPr>
            <a:xfrm>
              <a:off x="784860" y="388620"/>
              <a:ext cx="3977640" cy="1043940"/>
            </a:xfrm>
            <a:prstGeom prst="snip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: один верхний угол скругленный, другой — усеченный 25">
              <a:extLst>
                <a:ext uri="{FF2B5EF4-FFF2-40B4-BE49-F238E27FC236}">
                  <a16:creationId xmlns:a16="http://schemas.microsoft.com/office/drawing/2014/main" id="{DE41736A-FFFA-3A6C-B1B7-E26A9C6599A3}"/>
                </a:ext>
              </a:extLst>
            </p:cNvPr>
            <p:cNvSpPr/>
            <p:nvPr/>
          </p:nvSpPr>
          <p:spPr>
            <a:xfrm>
              <a:off x="784860" y="388620"/>
              <a:ext cx="1036320" cy="1043940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Bahnschrift SemiBold Condensed" panose="020B0502040204020203" pitchFamily="34" charset="0"/>
                </a:rPr>
                <a:t>01</a:t>
              </a:r>
              <a:endParaRPr lang="ru-RU" sz="6600" dirty="0">
                <a:latin typeface="Bahnschrift SemiBold Condensed" panose="020B05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C203546-C2FC-8B5A-BA88-0A78ED8DDC03}"/>
                </a:ext>
              </a:extLst>
            </p:cNvPr>
            <p:cNvSpPr txBox="1"/>
            <p:nvPr/>
          </p:nvSpPr>
          <p:spPr>
            <a:xfrm>
              <a:off x="1821180" y="510480"/>
              <a:ext cx="285750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SemiBold Condensed" panose="020B0502040204020203" pitchFamily="34" charset="0"/>
                </a:rPr>
                <a:t>АНАЛИЗ ПОТЕРЬ ПРОИЗВОДСТВА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Потери производства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Задачи для минимизации потерь</a:t>
              </a: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02BE9CB8-F691-3138-92D6-3B4E8DF01C9C}"/>
              </a:ext>
            </a:extLst>
          </p:cNvPr>
          <p:cNvGrpSpPr/>
          <p:nvPr/>
        </p:nvGrpSpPr>
        <p:grpSpPr>
          <a:xfrm>
            <a:off x="784860" y="1516257"/>
            <a:ext cx="5067300" cy="1568410"/>
            <a:chOff x="784860" y="1554420"/>
            <a:chExt cx="5067300" cy="1568410"/>
          </a:xfrm>
        </p:grpSpPr>
        <p:sp>
          <p:nvSpPr>
            <p:cNvPr id="29" name="Прямоугольник: один верхний угол скругленный, другой — усеченный 28">
              <a:extLst>
                <a:ext uri="{FF2B5EF4-FFF2-40B4-BE49-F238E27FC236}">
                  <a16:creationId xmlns:a16="http://schemas.microsoft.com/office/drawing/2014/main" id="{70B0C572-C153-5347-4DF3-607962EFF6AB}"/>
                </a:ext>
              </a:extLst>
            </p:cNvPr>
            <p:cNvSpPr/>
            <p:nvPr/>
          </p:nvSpPr>
          <p:spPr>
            <a:xfrm>
              <a:off x="784860" y="1554420"/>
              <a:ext cx="5067300" cy="1568410"/>
            </a:xfrm>
            <a:prstGeom prst="snip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: один верхний угол скругленный, другой — усеченный 30">
              <a:extLst>
                <a:ext uri="{FF2B5EF4-FFF2-40B4-BE49-F238E27FC236}">
                  <a16:creationId xmlns:a16="http://schemas.microsoft.com/office/drawing/2014/main" id="{A75FA60C-61D4-24C6-4D4A-3DBD08CBC454}"/>
                </a:ext>
              </a:extLst>
            </p:cNvPr>
            <p:cNvSpPr/>
            <p:nvPr/>
          </p:nvSpPr>
          <p:spPr>
            <a:xfrm>
              <a:off x="784860" y="1554420"/>
              <a:ext cx="1320216" cy="1568410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Bahnschrift SemiBold Condensed" panose="020B0502040204020203" pitchFamily="34" charset="0"/>
                </a:rPr>
                <a:t>0</a:t>
              </a:r>
              <a:r>
                <a:rPr lang="ru-RU" sz="6600" dirty="0">
                  <a:latin typeface="Bahnschrift SemiBold Condensed" panose="020B0502040204020203" pitchFamily="34" charset="0"/>
                </a:rPr>
                <a:t>2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2CB750E-B385-37A0-2573-8D68C454596C}"/>
                </a:ext>
              </a:extLst>
            </p:cNvPr>
            <p:cNvSpPr txBox="1"/>
            <p:nvPr/>
          </p:nvSpPr>
          <p:spPr>
            <a:xfrm>
              <a:off x="2105076" y="1615350"/>
              <a:ext cx="313944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SemiBold Condensed" panose="020B0502040204020203" pitchFamily="34" charset="0"/>
                </a:rPr>
                <a:t>«УРАЛЕЦ»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Архитектура системы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Зоны взаимодействия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Процесс выдачи и возврата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«Борьба за живучесть» и отказоустойчивость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Промышленная безопасность</a:t>
              </a:r>
            </a:p>
          </p:txBody>
        </p:sp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D051E659-CFD6-6AEC-95F9-953A4BECBAE9}"/>
              </a:ext>
            </a:extLst>
          </p:cNvPr>
          <p:cNvGrpSpPr/>
          <p:nvPr/>
        </p:nvGrpSpPr>
        <p:grpSpPr>
          <a:xfrm>
            <a:off x="788670" y="3168504"/>
            <a:ext cx="5351196" cy="1722924"/>
            <a:chOff x="784860" y="3244689"/>
            <a:chExt cx="5351196" cy="1722924"/>
          </a:xfrm>
        </p:grpSpPr>
        <p:sp>
          <p:nvSpPr>
            <p:cNvPr id="35" name="Прямоугольник: один верхний угол скругленный, другой — усеченный 34">
              <a:extLst>
                <a:ext uri="{FF2B5EF4-FFF2-40B4-BE49-F238E27FC236}">
                  <a16:creationId xmlns:a16="http://schemas.microsoft.com/office/drawing/2014/main" id="{08F33604-28C8-069B-59C6-BF92A3EC432F}"/>
                </a:ext>
              </a:extLst>
            </p:cNvPr>
            <p:cNvSpPr/>
            <p:nvPr/>
          </p:nvSpPr>
          <p:spPr>
            <a:xfrm>
              <a:off x="784860" y="3244689"/>
              <a:ext cx="5067300" cy="1722923"/>
            </a:xfrm>
            <a:prstGeom prst="snip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: один верхний угол скругленный, другой — усеченный 36">
              <a:extLst>
                <a:ext uri="{FF2B5EF4-FFF2-40B4-BE49-F238E27FC236}">
                  <a16:creationId xmlns:a16="http://schemas.microsoft.com/office/drawing/2014/main" id="{ADFBC36F-59BA-C114-AE6D-4095C5B34BD7}"/>
                </a:ext>
              </a:extLst>
            </p:cNvPr>
            <p:cNvSpPr/>
            <p:nvPr/>
          </p:nvSpPr>
          <p:spPr>
            <a:xfrm>
              <a:off x="784860" y="3244689"/>
              <a:ext cx="1320216" cy="1722923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Bahnschrift SemiBold Condensed" panose="020B0502040204020203" pitchFamily="34" charset="0"/>
                </a:rPr>
                <a:t>0</a:t>
              </a:r>
              <a:r>
                <a:rPr lang="ru-RU" sz="6600" dirty="0">
                  <a:latin typeface="Bahnschrift SemiBold Condensed" panose="020B0502040204020203" pitchFamily="34" charset="0"/>
                </a:rPr>
                <a:t>3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EF0E1A2-3D09-0835-1BBE-827CFF7CCD9D}"/>
                </a:ext>
              </a:extLst>
            </p:cNvPr>
            <p:cNvSpPr txBox="1"/>
            <p:nvPr/>
          </p:nvSpPr>
          <p:spPr>
            <a:xfrm>
              <a:off x="2105076" y="3305620"/>
              <a:ext cx="4030980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SemiBold Condensed" panose="020B0502040204020203" pitchFamily="34" charset="0"/>
                </a:rPr>
                <a:t>ПРОГРАММНОЕ ОБЕСПЕЧЕНИЕ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Номенклатура и складские операции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Склады и адресное хранение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Планирование производства и нормирование выдачи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Администрирование пользователей и права доступа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Отчёты, задачи, уведомления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Интеграция и Безопасность</a:t>
              </a: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E6981A95-1E10-155A-78AE-1CB49A3BCB77}"/>
              </a:ext>
            </a:extLst>
          </p:cNvPr>
          <p:cNvGrpSpPr/>
          <p:nvPr/>
        </p:nvGrpSpPr>
        <p:grpSpPr>
          <a:xfrm>
            <a:off x="788670" y="4975264"/>
            <a:ext cx="5351196" cy="1052874"/>
            <a:chOff x="784860" y="3244689"/>
            <a:chExt cx="5351196" cy="1724042"/>
          </a:xfrm>
        </p:grpSpPr>
        <p:sp>
          <p:nvSpPr>
            <p:cNvPr id="44" name="Прямоугольник: один верхний угол скругленный, другой — усеченный 43">
              <a:extLst>
                <a:ext uri="{FF2B5EF4-FFF2-40B4-BE49-F238E27FC236}">
                  <a16:creationId xmlns:a16="http://schemas.microsoft.com/office/drawing/2014/main" id="{C246332F-FA51-5F86-3641-91E6207CBFE2}"/>
                </a:ext>
              </a:extLst>
            </p:cNvPr>
            <p:cNvSpPr/>
            <p:nvPr/>
          </p:nvSpPr>
          <p:spPr>
            <a:xfrm>
              <a:off x="784860" y="3244689"/>
              <a:ext cx="5067300" cy="1722923"/>
            </a:xfrm>
            <a:prstGeom prst="snip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: один верхний угол скругленный, другой — усеченный 44">
              <a:extLst>
                <a:ext uri="{FF2B5EF4-FFF2-40B4-BE49-F238E27FC236}">
                  <a16:creationId xmlns:a16="http://schemas.microsoft.com/office/drawing/2014/main" id="{E686059D-EDC6-E023-A468-A2DAB4EAEACF}"/>
                </a:ext>
              </a:extLst>
            </p:cNvPr>
            <p:cNvSpPr/>
            <p:nvPr/>
          </p:nvSpPr>
          <p:spPr>
            <a:xfrm>
              <a:off x="784860" y="3244689"/>
              <a:ext cx="1320216" cy="1722923"/>
            </a:xfrm>
            <a:prstGeom prst="snip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dirty="0">
                  <a:latin typeface="Bahnschrift SemiBold Condensed" panose="020B0502040204020203" pitchFamily="34" charset="0"/>
                </a:rPr>
                <a:t>0</a:t>
              </a:r>
              <a:r>
                <a:rPr lang="ru-RU" sz="6600" dirty="0">
                  <a:latin typeface="Bahnschrift SemiBold Condensed" panose="020B0502040204020203" pitchFamily="34" charset="0"/>
                </a:rPr>
                <a:t>4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A7D36DB-84AB-1028-6736-875020CE423E}"/>
                </a:ext>
              </a:extLst>
            </p:cNvPr>
            <p:cNvSpPr txBox="1"/>
            <p:nvPr/>
          </p:nvSpPr>
          <p:spPr>
            <a:xfrm>
              <a:off x="2105076" y="3305621"/>
              <a:ext cx="4030980" cy="1663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SemiBold Condensed" panose="020B0502040204020203" pitchFamily="34" charset="0"/>
                </a:rPr>
                <a:t>«УРАЛЕЦ» В СИСТЕМЕ ПРЕДПРИЯТИЯ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Решение поставленных задач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Итоговое резюме</a:t>
              </a:r>
            </a:p>
            <a:p>
              <a:r>
                <a:rPr lang="ru-RU" sz="1400" dirty="0">
                  <a:solidFill>
                    <a:schemeClr val="bg2">
                      <a:lumMod val="50000"/>
                    </a:schemeClr>
                  </a:solidFill>
                  <a:latin typeface="Bahnschrift SemiBold Condensed" panose="020B0502040204020203" pitchFamily="34" charset="0"/>
                </a:rPr>
                <a:t>- Следующий шаг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8386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389DD1A-FD57-604C-97A9-05D089C896E8}"/>
              </a:ext>
            </a:extLst>
          </p:cNvPr>
          <p:cNvSpPr/>
          <p:nvPr/>
        </p:nvSpPr>
        <p:spPr>
          <a:xfrm>
            <a:off x="-1" y="0"/>
            <a:ext cx="4295775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74000">
                <a:schemeClr val="tx1"/>
              </a:gs>
              <a:gs pos="83000">
                <a:schemeClr val="tx1"/>
              </a:gs>
              <a:gs pos="4440">
                <a:schemeClr val="tx1"/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FADABD-9482-5C22-FE85-E599D5924F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100"/>
                    </a14:imgEffect>
                    <a14:imgEffect>
                      <a14:saturation sat="20000"/>
                    </a14:imgEffect>
                    <a14:imgEffect>
                      <a14:brightnessContrast bright="-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9" t="62" r="246" b="62"/>
          <a:stretch>
            <a:fillRect/>
          </a:stretch>
        </p:blipFill>
        <p:spPr>
          <a:xfrm>
            <a:off x="3466836" y="0"/>
            <a:ext cx="8725164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7464B84-3CC2-6302-A3D4-EFAEA975484D}"/>
              </a:ext>
            </a:extLst>
          </p:cNvPr>
          <p:cNvSpPr/>
          <p:nvPr/>
        </p:nvSpPr>
        <p:spPr>
          <a:xfrm>
            <a:off x="2" y="0"/>
            <a:ext cx="4391024" cy="6858000"/>
          </a:xfrm>
          <a:prstGeom prst="rect">
            <a:avLst/>
          </a:prstGeom>
          <a:gradFill>
            <a:gsLst>
              <a:gs pos="0">
                <a:schemeClr val="tx1">
                  <a:alpha val="16000"/>
                </a:schemeClr>
              </a:gs>
              <a:gs pos="14000">
                <a:schemeClr val="tx1">
                  <a:alpha val="75000"/>
                </a:schemeClr>
              </a:gs>
              <a:gs pos="32000">
                <a:schemeClr val="tx1">
                  <a:alpha val="80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493D3-FBCE-9F55-DDAC-F03AC45EAEFD}"/>
              </a:ext>
            </a:extLst>
          </p:cNvPr>
          <p:cNvSpPr txBox="1"/>
          <p:nvPr/>
        </p:nvSpPr>
        <p:spPr>
          <a:xfrm>
            <a:off x="1257300" y="1009650"/>
            <a:ext cx="825817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01</a:t>
            </a:r>
          </a:p>
          <a:p>
            <a:r>
              <a:rPr lang="ru-RU" sz="4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Анализ потерь производства</a:t>
            </a:r>
          </a:p>
          <a:p>
            <a:r>
              <a:rPr lang="ru-RU" sz="2800" dirty="0">
                <a:solidFill>
                  <a:schemeClr val="bg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Критические потери на участках выдачи инструмента и ТМЦ</a:t>
            </a:r>
          </a:p>
          <a:p>
            <a:endParaRPr lang="ru-RU" sz="44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  <a:p>
            <a:endParaRPr lang="ru-RU" sz="44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80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FB00C5C-0718-2BF7-FC43-9A0ADC725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97" y="1045705"/>
            <a:ext cx="11087535" cy="8534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Выдача и возврат инструмента, СИЗ и расходных материалов — один из наиболее уязвимых </a:t>
            </a:r>
            <a:r>
              <a:rPr lang="ru-RU" sz="200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процессов на предприятии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  <a:p>
            <a:pPr marL="0" indent="0">
              <a:buNone/>
            </a:pPr>
            <a:endParaRPr lang="ru-RU" sz="1800" dirty="0">
              <a:latin typeface="Bahnschrift SemiBold Condensed" panose="020B0502040204020203" pitchFamily="34" charset="0"/>
            </a:endParaRPr>
          </a:p>
        </p:txBody>
      </p:sp>
      <p:sp>
        <p:nvSpPr>
          <p:cNvPr id="15" name="Прямоугольник: один усеченный угол 14">
            <a:extLst>
              <a:ext uri="{FF2B5EF4-FFF2-40B4-BE49-F238E27FC236}">
                <a16:creationId xmlns:a16="http://schemas.microsoft.com/office/drawing/2014/main" id="{6AE84861-E6EE-B899-F485-79FEC8A186D6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Анализ потерь производства</a:t>
            </a:r>
          </a:p>
        </p:txBody>
      </p:sp>
      <p:pic>
        <p:nvPicPr>
          <p:cNvPr id="17" name="Рисунок 16" descr="Часы со сплошной заливкой">
            <a:extLst>
              <a:ext uri="{FF2B5EF4-FFF2-40B4-BE49-F238E27FC236}">
                <a16:creationId xmlns:a16="http://schemas.microsoft.com/office/drawing/2014/main" id="{6C470F7E-3B1B-60DE-240E-BF9F13DDDA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498" y="2561496"/>
            <a:ext cx="527168" cy="5271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046FCB-0274-D9CF-905B-4D325744D3CA}"/>
              </a:ext>
            </a:extLst>
          </p:cNvPr>
          <p:cNvSpPr txBox="1"/>
          <p:nvPr/>
        </p:nvSpPr>
        <p:spPr>
          <a:xfrm>
            <a:off x="1078666" y="2591692"/>
            <a:ext cx="2016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До 15% сменного времени уходит на поиск и ожидание инструмента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075E6C-61DD-0C57-0E8F-B5D2F590BED7}"/>
              </a:ext>
            </a:extLst>
          </p:cNvPr>
          <p:cNvSpPr txBox="1"/>
          <p:nvPr/>
        </p:nvSpPr>
        <p:spPr>
          <a:xfrm>
            <a:off x="551498" y="2040268"/>
            <a:ext cx="201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ВРЕМЯ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8E15AB42-3174-50EC-3652-5A59B83280E4}"/>
              </a:ext>
            </a:extLst>
          </p:cNvPr>
          <p:cNvCxnSpPr/>
          <p:nvPr/>
        </p:nvCxnSpPr>
        <p:spPr>
          <a:xfrm>
            <a:off x="552967" y="2412154"/>
            <a:ext cx="20164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E8C4053-F65B-9CB2-7350-8AF657BDA571}"/>
              </a:ext>
            </a:extLst>
          </p:cNvPr>
          <p:cNvSpPr txBox="1"/>
          <p:nvPr/>
        </p:nvSpPr>
        <p:spPr>
          <a:xfrm>
            <a:off x="1078666" y="5085334"/>
            <a:ext cx="2016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Потери инструмента в результате несвоевременного возврата или нецелевого использования</a:t>
            </a:r>
          </a:p>
          <a:p>
            <a:endParaRPr lang="ru-RU" sz="12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699497-C4A1-F4D5-B046-3433FD3529CA}"/>
              </a:ext>
            </a:extLst>
          </p:cNvPr>
          <p:cNvSpPr txBox="1"/>
          <p:nvPr/>
        </p:nvSpPr>
        <p:spPr>
          <a:xfrm>
            <a:off x="551498" y="4678666"/>
            <a:ext cx="201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ИНСТРУМЕНТ (ТМЦ)</a:t>
            </a: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F6D6BB4A-6488-86B0-7109-29D310272BA0}"/>
              </a:ext>
            </a:extLst>
          </p:cNvPr>
          <p:cNvCxnSpPr/>
          <p:nvPr/>
        </p:nvCxnSpPr>
        <p:spPr>
          <a:xfrm>
            <a:off x="552967" y="5050552"/>
            <a:ext cx="20164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0EA19BC-EE14-481E-03CD-300A899A5627}"/>
              </a:ext>
            </a:extLst>
          </p:cNvPr>
          <p:cNvSpPr txBox="1"/>
          <p:nvPr/>
        </p:nvSpPr>
        <p:spPr>
          <a:xfrm>
            <a:off x="9258219" y="2499339"/>
            <a:ext cx="2380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Простои оборудования из-за отсутствия необходимого инструмента в результате несвоевременного приобретения ТМЦ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692822-BD11-66A9-D39F-134E0168DA3B}"/>
              </a:ext>
            </a:extLst>
          </p:cNvPr>
          <p:cNvSpPr txBox="1"/>
          <p:nvPr/>
        </p:nvSpPr>
        <p:spPr>
          <a:xfrm>
            <a:off x="8731051" y="2040268"/>
            <a:ext cx="201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ПРОИЗВОДИТЕЛЬНОСТЬ</a:t>
            </a: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16A66F59-ECEA-2BAF-53D1-5278281CC272}"/>
              </a:ext>
            </a:extLst>
          </p:cNvPr>
          <p:cNvCxnSpPr/>
          <p:nvPr/>
        </p:nvCxnSpPr>
        <p:spPr>
          <a:xfrm>
            <a:off x="8732520" y="2412154"/>
            <a:ext cx="20164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D313A90-C504-333F-9115-C0188237DC15}"/>
              </a:ext>
            </a:extLst>
          </p:cNvPr>
          <p:cNvSpPr txBox="1"/>
          <p:nvPr/>
        </p:nvSpPr>
        <p:spPr>
          <a:xfrm>
            <a:off x="9258219" y="5091077"/>
            <a:ext cx="2380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Работа выполняется инструментом «из наличия», мерительный инструмент вовремя не прошёл поверку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7702A8-F75B-0BED-C06B-D87E77DDC03A}"/>
              </a:ext>
            </a:extLst>
          </p:cNvPr>
          <p:cNvSpPr txBox="1"/>
          <p:nvPr/>
        </p:nvSpPr>
        <p:spPr>
          <a:xfrm>
            <a:off x="8731051" y="4678666"/>
            <a:ext cx="201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КАЧЕСТВО ПРОДУКЦИИ</a:t>
            </a: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2FA8F0A6-F00A-F4B4-3D18-1C0D0C0D5E75}"/>
              </a:ext>
            </a:extLst>
          </p:cNvPr>
          <p:cNvCxnSpPr/>
          <p:nvPr/>
        </p:nvCxnSpPr>
        <p:spPr>
          <a:xfrm>
            <a:off x="8732520" y="5050552"/>
            <a:ext cx="20164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7" name="Рисунок 36" descr="Одна шестеренка со сплошной заливкой">
            <a:extLst>
              <a:ext uri="{FF2B5EF4-FFF2-40B4-BE49-F238E27FC236}">
                <a16:creationId xmlns:a16="http://schemas.microsoft.com/office/drawing/2014/main" id="{C0C53327-D72D-6B9F-3956-E88C36E3F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31051" y="2558941"/>
            <a:ext cx="527168" cy="527168"/>
          </a:xfrm>
          <a:prstGeom prst="rect">
            <a:avLst/>
          </a:prstGeom>
        </p:spPr>
      </p:pic>
      <p:pic>
        <p:nvPicPr>
          <p:cNvPr id="39" name="Рисунок 38" descr="Инструменты со сплошной заливкой">
            <a:extLst>
              <a:ext uri="{FF2B5EF4-FFF2-40B4-BE49-F238E27FC236}">
                <a16:creationId xmlns:a16="http://schemas.microsoft.com/office/drawing/2014/main" id="{E62BB898-AD8C-1E8A-061E-4AC5980A6D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498" y="5137757"/>
            <a:ext cx="527168" cy="527168"/>
          </a:xfrm>
          <a:prstGeom prst="rect">
            <a:avLst/>
          </a:prstGeom>
        </p:spPr>
      </p:pic>
      <p:pic>
        <p:nvPicPr>
          <p:cNvPr id="41" name="Рисунок 40" descr="График тенденции к понижению со сплошной заливкой">
            <a:extLst>
              <a:ext uri="{FF2B5EF4-FFF2-40B4-BE49-F238E27FC236}">
                <a16:creationId xmlns:a16="http://schemas.microsoft.com/office/drawing/2014/main" id="{8E67B47D-D482-1CD0-5586-4E3B069F3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1050" y="5139230"/>
            <a:ext cx="527169" cy="527169"/>
          </a:xfrm>
          <a:prstGeom prst="rect">
            <a:avLst/>
          </a:prstGeom>
        </p:spPr>
      </p:pic>
      <p:pic>
        <p:nvPicPr>
          <p:cNvPr id="43" name="Рисунок 42" descr="Деньги со сплошной заливкой">
            <a:extLst>
              <a:ext uri="{FF2B5EF4-FFF2-40B4-BE49-F238E27FC236}">
                <a16:creationId xmlns:a16="http://schemas.microsoft.com/office/drawing/2014/main" id="{0ABE64EB-5EC7-091F-66BE-5A9C1B4B04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8198" y="3865932"/>
            <a:ext cx="471643" cy="47164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22A9858-4E22-4CED-90B7-D8599F925991}"/>
              </a:ext>
            </a:extLst>
          </p:cNvPr>
          <p:cNvSpPr txBox="1"/>
          <p:nvPr/>
        </p:nvSpPr>
        <p:spPr>
          <a:xfrm>
            <a:off x="5249841" y="3778121"/>
            <a:ext cx="1490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Комплексный расход финансовых ресурсов на восполнение всех потерь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1C0BC5-7FDC-4786-A86E-9CF820B87DE5}"/>
              </a:ext>
            </a:extLst>
          </p:cNvPr>
          <p:cNvSpPr txBox="1"/>
          <p:nvPr/>
        </p:nvSpPr>
        <p:spPr>
          <a:xfrm>
            <a:off x="4722673" y="3316475"/>
            <a:ext cx="201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Bahnschrift SemiBold Condensed" panose="020B0502040204020203" pitchFamily="34" charset="0"/>
              </a:rPr>
              <a:t>Финансовые потери</a:t>
            </a:r>
          </a:p>
        </p:txBody>
      </p: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7C47FC7C-8491-A78A-DF19-F864EE2A883C}"/>
              </a:ext>
            </a:extLst>
          </p:cNvPr>
          <p:cNvCxnSpPr/>
          <p:nvPr/>
        </p:nvCxnSpPr>
        <p:spPr>
          <a:xfrm>
            <a:off x="4724142" y="3688361"/>
            <a:ext cx="201644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301C664-DB0E-D92D-D8EB-08999B79A6F5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8" name="Стрелка: изогнутая 47">
            <a:extLst>
              <a:ext uri="{FF2B5EF4-FFF2-40B4-BE49-F238E27FC236}">
                <a16:creationId xmlns:a16="http://schemas.microsoft.com/office/drawing/2014/main" id="{C23CEFF5-DF07-2805-7B87-07CCA24C1586}"/>
              </a:ext>
            </a:extLst>
          </p:cNvPr>
          <p:cNvSpPr/>
          <p:nvPr/>
        </p:nvSpPr>
        <p:spPr>
          <a:xfrm>
            <a:off x="3622277" y="2401966"/>
            <a:ext cx="1008556" cy="1076549"/>
          </a:xfrm>
          <a:prstGeom prst="bentArrow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3" name="Стрелка: изогнутая 52">
            <a:extLst>
              <a:ext uri="{FF2B5EF4-FFF2-40B4-BE49-F238E27FC236}">
                <a16:creationId xmlns:a16="http://schemas.microsoft.com/office/drawing/2014/main" id="{AAE21214-4748-971A-31E9-0B10BD9569AF}"/>
              </a:ext>
            </a:extLst>
          </p:cNvPr>
          <p:cNvSpPr/>
          <p:nvPr/>
        </p:nvSpPr>
        <p:spPr>
          <a:xfrm rot="5400000">
            <a:off x="7208440" y="2479538"/>
            <a:ext cx="1008556" cy="1076549"/>
          </a:xfrm>
          <a:prstGeom prst="bentArrow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" name="Стрелка: изогнутая 54">
            <a:extLst>
              <a:ext uri="{FF2B5EF4-FFF2-40B4-BE49-F238E27FC236}">
                <a16:creationId xmlns:a16="http://schemas.microsoft.com/office/drawing/2014/main" id="{02B0BFEC-D301-6D75-4C67-0BA48A833CB9}"/>
              </a:ext>
            </a:extLst>
          </p:cNvPr>
          <p:cNvSpPr/>
          <p:nvPr/>
        </p:nvSpPr>
        <p:spPr>
          <a:xfrm rot="10800000">
            <a:off x="7174443" y="4418546"/>
            <a:ext cx="1008556" cy="1076549"/>
          </a:xfrm>
          <a:prstGeom prst="bentArrow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7" name="Стрелка: изогнутая 56">
            <a:extLst>
              <a:ext uri="{FF2B5EF4-FFF2-40B4-BE49-F238E27FC236}">
                <a16:creationId xmlns:a16="http://schemas.microsoft.com/office/drawing/2014/main" id="{88A918D4-39C5-DBF7-4112-FD64C9A7FD12}"/>
              </a:ext>
            </a:extLst>
          </p:cNvPr>
          <p:cNvSpPr/>
          <p:nvPr/>
        </p:nvSpPr>
        <p:spPr>
          <a:xfrm rot="16200000">
            <a:off x="3588281" y="4384549"/>
            <a:ext cx="1008556" cy="1076549"/>
          </a:xfrm>
          <a:prstGeom prst="bentArrow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88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CDA6D4F3-179F-ECA3-D5C7-926674874A4F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Анализ потерь производства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A0CBC4F-26D0-6442-9CBB-29AFF6C0C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5705"/>
            <a:ext cx="10515600" cy="782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	Задачи для минимизации потерь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43EF92-A29E-1F61-A822-F9B684CE85AB}"/>
              </a:ext>
            </a:extLst>
          </p:cNvPr>
          <p:cNvSpPr txBox="1"/>
          <p:nvPr/>
        </p:nvSpPr>
        <p:spPr>
          <a:xfrm>
            <a:off x="809625" y="1822921"/>
            <a:ext cx="8896349" cy="4606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dirty="0">
                <a:latin typeface="Bahnschrift SemiBold Condensed" panose="020B0502040204020203" pitchFamily="34" charset="0"/>
              </a:rPr>
              <a:t>Систематизировать круглосуточную выдачу и возврат ТМЦ, минимизировать ошибки учета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dirty="0">
                <a:latin typeface="Bahnschrift SemiBold Condensed" panose="020B0502040204020203" pitchFamily="34" charset="0"/>
              </a:rPr>
              <a:t>Вести актуальную статистику об остатках, движении, хранении инструмента и ТМЦ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dirty="0">
                <a:latin typeface="Bahnschrift SemiBold Condensed" panose="020B0502040204020203" pitchFamily="34" charset="0"/>
              </a:rPr>
              <a:t>Обеспечить мониторинг статуса выданных ТМЦ в реальном времени: кем используется инструмент и для выполнения какой операции?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dirty="0">
                <a:latin typeface="Bahnschrift SemiBold Condensed" panose="020B0502040204020203" pitchFamily="34" charset="0"/>
              </a:rPr>
              <a:t>Внедрить нормативы выдачи ТМЦ в соответствии со сменным заданием или ограничениями на получение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dirty="0">
                <a:latin typeface="Bahnschrift SemiBold Condensed" panose="020B0502040204020203" pitchFamily="34" charset="0"/>
              </a:rPr>
              <a:t>Внедрить предупреждающую политику приобретения ТМЦ (Внедрение плановой закупочной программы в зависимости реальных потребностей производства)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dirty="0">
                <a:latin typeface="Bahnschrift SemiBold Condensed" panose="020B0502040204020203" pitchFamily="34" charset="0"/>
              </a:rPr>
              <a:t>Внедрить аварийные/неснижаемые остатки на складе и контролировать их состояние в реальном времени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ru-RU" dirty="0">
                <a:latin typeface="Bahnschrift SemiBold Condensed" panose="020B0502040204020203" pitchFamily="34" charset="0"/>
              </a:rPr>
              <a:t>Внедрить контроль за сроками поверки измерительного инструмента и ресурсом  режущего инструмента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ru-RU" dirty="0">
              <a:latin typeface="Bahnschrift SemiBold Condensed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ru-RU" dirty="0">
              <a:latin typeface="Bahnschrift SemiBold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9BAE0-3C6A-34F4-7BA8-E102264B8641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396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4C1A1-A5F3-7E18-FFC0-026884BC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02 «Уралец»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640707-CCBC-29F1-24FE-D62DF23D64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44000"/>
                    </a14:imgEffect>
                    <a14:imgEffect>
                      <a14:brightnessContrast bright="-20000"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AAEE42-F854-01CC-D9ED-16ABA5F3AAB8}"/>
              </a:ext>
            </a:extLst>
          </p:cNvPr>
          <p:cNvSpPr/>
          <p:nvPr/>
        </p:nvSpPr>
        <p:spPr>
          <a:xfrm>
            <a:off x="0" y="0"/>
            <a:ext cx="7840639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  <a:alpha val="0"/>
                </a:schemeClr>
              </a:gs>
              <a:gs pos="14000">
                <a:schemeClr val="tx1">
                  <a:alpha val="75000"/>
                </a:schemeClr>
              </a:gs>
              <a:gs pos="32000">
                <a:schemeClr val="tx1">
                  <a:alpha val="8000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21312-EC44-5D11-3FC6-93A1905383C4}"/>
              </a:ext>
            </a:extLst>
          </p:cNvPr>
          <p:cNvSpPr txBox="1"/>
          <p:nvPr/>
        </p:nvSpPr>
        <p:spPr>
          <a:xfrm>
            <a:off x="1257300" y="1009650"/>
            <a:ext cx="84277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0</a:t>
            </a:r>
            <a:r>
              <a:rPr lang="ru-RU" sz="9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2</a:t>
            </a:r>
            <a:endParaRPr lang="en-US" sz="96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  <a:p>
            <a:r>
              <a:rPr lang="ru-RU" sz="4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«УРАЛЕЦ»</a:t>
            </a:r>
          </a:p>
          <a:p>
            <a:r>
              <a:rPr lang="ru-RU" sz="2800" dirty="0">
                <a:solidFill>
                  <a:schemeClr val="bg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Современное решение для 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Bahnschrift SemiBold Condensed" panose="020B0502040204020203" pitchFamily="34" charset="0"/>
            </a:endParaRPr>
          </a:p>
          <a:p>
            <a:r>
              <a:rPr lang="ru-RU" sz="2800" dirty="0">
                <a:solidFill>
                  <a:schemeClr val="bg1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автоматизированного учета</a:t>
            </a:r>
          </a:p>
          <a:p>
            <a:r>
              <a:rPr lang="ru-RU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«Нужна нормальная картинка раздела»</a:t>
            </a:r>
          </a:p>
          <a:p>
            <a:endParaRPr lang="ru-RU" sz="44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  <a:p>
            <a:endParaRPr lang="ru-RU" sz="44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36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DC435E-8440-36BD-B151-CE036E050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396" y="169735"/>
            <a:ext cx="4798604" cy="6398139"/>
          </a:xfrm>
          <a:prstGeom prst="rect">
            <a:avLst/>
          </a:prstGeom>
        </p:spPr>
      </p:pic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5398D4BC-8956-4BD3-4FF9-F3DDD4B8B5D3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D393A-8A0B-29A2-AC2A-A9E4DE2E0CD8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BC939494-7F72-3C4F-C6E6-950C52707392}"/>
              </a:ext>
            </a:extLst>
          </p:cNvPr>
          <p:cNvSpPr txBox="1">
            <a:spLocks/>
          </p:cNvSpPr>
          <p:nvPr/>
        </p:nvSpPr>
        <p:spPr>
          <a:xfrm>
            <a:off x="1009934" y="1045704"/>
            <a:ext cx="5732060" cy="1369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1800" dirty="0">
                <a:latin typeface="Bahnschrift SemiBold Condensed" panose="020B0502040204020203" pitchFamily="34" charset="0"/>
              </a:rPr>
              <a:t>«Уралец» - это промышленный программно-аппаратный комплекс для хранения, выдачи, возврата и учета товарно-материальных ценностей, разработанный российской командой программистов и          инженеров-конструкторов под реалии современных отечественных производств.</a:t>
            </a: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29251D-33FA-48EA-3F5C-9AABF0CB92EE}"/>
              </a:ext>
            </a:extLst>
          </p:cNvPr>
          <p:cNvSpPr txBox="1"/>
          <p:nvPr/>
        </p:nvSpPr>
        <p:spPr>
          <a:xfrm>
            <a:off x="1009934" y="2431043"/>
            <a:ext cx="10849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24/7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A9F21-033E-0525-D5B2-182383DC11B1}"/>
              </a:ext>
            </a:extLst>
          </p:cNvPr>
          <p:cNvSpPr txBox="1"/>
          <p:nvPr/>
        </p:nvSpPr>
        <p:spPr>
          <a:xfrm>
            <a:off x="2343295" y="2415653"/>
            <a:ext cx="44014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Бесперебойная работа </a:t>
            </a:r>
          </a:p>
          <a:p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Получение ТМЦ без участия кладовщика</a:t>
            </a:r>
          </a:p>
          <a:p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Автоматизированная выдача и контроль движения инструмента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626655-C7BA-C65E-177D-3F4B52F47F14}"/>
              </a:ext>
            </a:extLst>
          </p:cNvPr>
          <p:cNvSpPr txBox="1"/>
          <p:nvPr/>
        </p:nvSpPr>
        <p:spPr>
          <a:xfrm>
            <a:off x="1016758" y="3200484"/>
            <a:ext cx="10849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2112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D5CFA-5A43-ECBC-AB32-63FCEE0E41E2}"/>
              </a:ext>
            </a:extLst>
          </p:cNvPr>
          <p:cNvSpPr txBox="1"/>
          <p:nvPr/>
        </p:nvSpPr>
        <p:spPr>
          <a:xfrm>
            <a:off x="2343295" y="3200484"/>
            <a:ext cx="440140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Мест хранения</a:t>
            </a:r>
          </a:p>
          <a:p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95 видов номенклатуры в спиральной секции</a:t>
            </a:r>
          </a:p>
          <a:p>
            <a:r>
              <a:rPr lang="ru-RU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До 50 ячеек для возврата или хранения комплектов инструмента</a:t>
            </a: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875134B9-BE95-3FAC-8BF6-036C361AAB4D}"/>
              </a:ext>
            </a:extLst>
          </p:cNvPr>
          <p:cNvCxnSpPr>
            <a:cxnSpLocks/>
          </p:cNvCxnSpPr>
          <p:nvPr/>
        </p:nvCxnSpPr>
        <p:spPr>
          <a:xfrm>
            <a:off x="1192643" y="4073606"/>
            <a:ext cx="567064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Рисунок 25" descr="Компьютер со сплошной заливкой">
            <a:extLst>
              <a:ext uri="{FF2B5EF4-FFF2-40B4-BE49-F238E27FC236}">
                <a16:creationId xmlns:a16="http://schemas.microsoft.com/office/drawing/2014/main" id="{B610427A-465B-76DE-3A35-4AAB17D557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1044" y="4388177"/>
            <a:ext cx="205169" cy="205169"/>
          </a:xfrm>
          <a:prstGeom prst="rect">
            <a:avLst/>
          </a:prstGeom>
        </p:spPr>
      </p:pic>
      <p:pic>
        <p:nvPicPr>
          <p:cNvPr id="28" name="Рисунок 27" descr="База данных со сплошной заливкой">
            <a:extLst>
              <a:ext uri="{FF2B5EF4-FFF2-40B4-BE49-F238E27FC236}">
                <a16:creationId xmlns:a16="http://schemas.microsoft.com/office/drawing/2014/main" id="{F3571D4C-AD0E-46DF-5A84-7F194A5528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9905" y="4268549"/>
            <a:ext cx="222122" cy="222122"/>
          </a:xfrm>
          <a:prstGeom prst="rect">
            <a:avLst/>
          </a:prstGeom>
        </p:spPr>
      </p:pic>
      <p:pic>
        <p:nvPicPr>
          <p:cNvPr id="30" name="Рисунок 29" descr="Ноутбук со сплошной заливкой">
            <a:extLst>
              <a:ext uri="{FF2B5EF4-FFF2-40B4-BE49-F238E27FC236}">
                <a16:creationId xmlns:a16="http://schemas.microsoft.com/office/drawing/2014/main" id="{19A4A32A-A0C4-F468-2489-635941984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2907" y="4173344"/>
            <a:ext cx="205168" cy="205168"/>
          </a:xfrm>
          <a:prstGeom prst="rect">
            <a:avLst/>
          </a:prstGeom>
        </p:spPr>
      </p:pic>
      <p:pic>
        <p:nvPicPr>
          <p:cNvPr id="34" name="Рисунок 33" descr="Смартфон со сплошной заливкой">
            <a:extLst>
              <a:ext uri="{FF2B5EF4-FFF2-40B4-BE49-F238E27FC236}">
                <a16:creationId xmlns:a16="http://schemas.microsoft.com/office/drawing/2014/main" id="{19939E12-AF28-F55C-C6F0-7DA460C8BD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89849" y="4223204"/>
            <a:ext cx="361665" cy="361665"/>
          </a:xfrm>
          <a:prstGeom prst="rect">
            <a:avLst/>
          </a:prstGeom>
        </p:spPr>
      </p:pic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3C02FA26-7E50-FD86-31EE-7259E8DA933A}"/>
              </a:ext>
            </a:extLst>
          </p:cNvPr>
          <p:cNvCxnSpPr>
            <a:cxnSpLocks/>
          </p:cNvCxnSpPr>
          <p:nvPr/>
        </p:nvCxnSpPr>
        <p:spPr>
          <a:xfrm flipH="1">
            <a:off x="1867082" y="4250315"/>
            <a:ext cx="2929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6E277CA7-95C5-CB82-3BD2-7241E9AD4B19}"/>
              </a:ext>
            </a:extLst>
          </p:cNvPr>
          <p:cNvCxnSpPr>
            <a:cxnSpLocks/>
          </p:cNvCxnSpPr>
          <p:nvPr/>
        </p:nvCxnSpPr>
        <p:spPr>
          <a:xfrm>
            <a:off x="1900238" y="4511476"/>
            <a:ext cx="2589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B74D2A7-30E6-E9A8-89D6-7BB9DB2A1E73}"/>
              </a:ext>
            </a:extLst>
          </p:cNvPr>
          <p:cNvSpPr txBox="1"/>
          <p:nvPr/>
        </p:nvSpPr>
        <p:spPr>
          <a:xfrm>
            <a:off x="1009934" y="4592407"/>
            <a:ext cx="21259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Интеграция и мониторинг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Система работает в одном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контуре с системами учета: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1С,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ERP, SAP, MES</a:t>
            </a:r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-системы</a:t>
            </a:r>
          </a:p>
        </p:txBody>
      </p:sp>
      <p:pic>
        <p:nvPicPr>
          <p:cNvPr id="46" name="Рисунок 45" descr="Блокировка со сплошной заливкой">
            <a:extLst>
              <a:ext uri="{FF2B5EF4-FFF2-40B4-BE49-F238E27FC236}">
                <a16:creationId xmlns:a16="http://schemas.microsoft.com/office/drawing/2014/main" id="{F3FE7E79-02EC-D930-DBB7-75A9C5207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08054" y="4213962"/>
            <a:ext cx="329099" cy="32909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2299A30-3AC4-155C-7FA1-AAFB006178CC}"/>
              </a:ext>
            </a:extLst>
          </p:cNvPr>
          <p:cNvSpPr txBox="1"/>
          <p:nvPr/>
        </p:nvSpPr>
        <p:spPr>
          <a:xfrm>
            <a:off x="3326073" y="4587330"/>
            <a:ext cx="169309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Безопасность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Устройство может работать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в закрытой сети предприятия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в соответствии с внутренней 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политикой безопасности</a:t>
            </a:r>
          </a:p>
        </p:txBody>
      </p:sp>
      <p:pic>
        <p:nvPicPr>
          <p:cNvPr id="50" name="Рисунок 49" descr="Документ со сплошной заливкой">
            <a:extLst>
              <a:ext uri="{FF2B5EF4-FFF2-40B4-BE49-F238E27FC236}">
                <a16:creationId xmlns:a16="http://schemas.microsoft.com/office/drawing/2014/main" id="{ABA4D283-6948-A8CF-96B2-CD57FC541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93693" y="4177137"/>
            <a:ext cx="329099" cy="32909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1288ACC-6F88-F97B-869D-F1200570745E}"/>
              </a:ext>
            </a:extLst>
          </p:cNvPr>
          <p:cNvSpPr txBox="1"/>
          <p:nvPr/>
        </p:nvSpPr>
        <p:spPr>
          <a:xfrm>
            <a:off x="5301466" y="4591989"/>
            <a:ext cx="15135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Статистика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Аналитика движения ТМЦ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в реальном времени и</a:t>
            </a:r>
          </a:p>
          <a:p>
            <a:pPr algn="ctr"/>
            <a:r>
              <a:rPr lang="ru-RU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формирование отчетности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9EB2EE-63DF-EA1A-4C7B-BE054079B22E}"/>
              </a:ext>
            </a:extLst>
          </p:cNvPr>
          <p:cNvSpPr txBox="1"/>
          <p:nvPr/>
        </p:nvSpPr>
        <p:spPr>
          <a:xfrm>
            <a:off x="1009934" y="5815110"/>
            <a:ext cx="662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Condensed" panose="020B0502040204020203" pitchFamily="34" charset="0"/>
              </a:rPr>
              <a:t>УРАЛЕЦ – это инвестиция в прозрачность, контроль и эффективность производства</a:t>
            </a:r>
          </a:p>
        </p:txBody>
      </p: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C0C6C4A9-6B1A-B461-56B6-A743F605CD1D}"/>
              </a:ext>
            </a:extLst>
          </p:cNvPr>
          <p:cNvCxnSpPr>
            <a:cxnSpLocks/>
          </p:cNvCxnSpPr>
          <p:nvPr/>
        </p:nvCxnSpPr>
        <p:spPr>
          <a:xfrm>
            <a:off x="1192643" y="5760669"/>
            <a:ext cx="567064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6" name="Рисунок 55" descr="Флажок со сплошной заливкой">
            <a:extLst>
              <a:ext uri="{FF2B5EF4-FFF2-40B4-BE49-F238E27FC236}">
                <a16:creationId xmlns:a16="http://schemas.microsoft.com/office/drawing/2014/main" id="{A16E0789-5BAC-FBF4-37D1-1357CFE2F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3243" y="5821457"/>
            <a:ext cx="333515" cy="33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321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C197416E-0360-E081-B082-289FD1EEBBAD}"/>
              </a:ext>
            </a:extLst>
          </p:cNvPr>
          <p:cNvSpPr/>
          <p:nvPr/>
        </p:nvSpPr>
        <p:spPr>
          <a:xfrm>
            <a:off x="11029337" y="2984541"/>
            <a:ext cx="104978" cy="40812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129A57BE-2EFB-3693-124E-F82483F01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47" y="2665793"/>
            <a:ext cx="533401" cy="470648"/>
          </a:xfrm>
          <a:prstGeom prst="rect">
            <a:avLst/>
          </a:prstGeom>
        </p:spPr>
      </p:pic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49C739C3-7ABC-8D04-2193-AFBB426B418E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«Уралец». Архитектура системы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466A3445-71B6-3DF7-B123-F913E9DAAA22}"/>
              </a:ext>
            </a:extLst>
          </p:cNvPr>
          <p:cNvSpPr txBox="1">
            <a:spLocks/>
          </p:cNvSpPr>
          <p:nvPr/>
        </p:nvSpPr>
        <p:spPr>
          <a:xfrm>
            <a:off x="1009933" y="1045704"/>
            <a:ext cx="10544163" cy="1369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Программно-Аппаратный комплекс работает на трёх уровнях взаимодействия, которые обеспечивают децентрализацию и масштабируемость системы. Что позволяет снизить риск парализации всего комплекса из-за незначительной ошибки и открывает обширные возможности для масштабирования системы без перестройки архитектуры.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F533D3C-4C7E-A641-528A-7C6D51D8BB56}"/>
              </a:ext>
            </a:extLst>
          </p:cNvPr>
          <p:cNvCxnSpPr>
            <a:cxnSpLocks/>
          </p:cNvCxnSpPr>
          <p:nvPr/>
        </p:nvCxnSpPr>
        <p:spPr>
          <a:xfrm>
            <a:off x="1312818" y="2648800"/>
            <a:ext cx="2090056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628430-ABE1-F71B-F72D-9F7B49456352}"/>
              </a:ext>
            </a:extLst>
          </p:cNvPr>
          <p:cNvSpPr txBox="1"/>
          <p:nvPr/>
        </p:nvSpPr>
        <p:spPr>
          <a:xfrm>
            <a:off x="1214847" y="2286000"/>
            <a:ext cx="152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Верхний уровень</a:t>
            </a:r>
          </a:p>
        </p:txBody>
      </p:sp>
      <p:pic>
        <p:nvPicPr>
          <p:cNvPr id="14" name="Рисунок 13" descr="Компьютер со сплошной заливкой">
            <a:extLst>
              <a:ext uri="{FF2B5EF4-FFF2-40B4-BE49-F238E27FC236}">
                <a16:creationId xmlns:a16="http://schemas.microsoft.com/office/drawing/2014/main" id="{3A655F2B-D155-3901-558E-F89BF8AE1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1172" y="2215940"/>
            <a:ext cx="509451" cy="5094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919E1F-3729-94E3-F3AB-FD90B0681BAF}"/>
              </a:ext>
            </a:extLst>
          </p:cNvPr>
          <p:cNvSpPr txBox="1"/>
          <p:nvPr/>
        </p:nvSpPr>
        <p:spPr>
          <a:xfrm>
            <a:off x="1312818" y="2725391"/>
            <a:ext cx="2090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Bahnschrift SemiBold Condensed" panose="020B0502040204020203" pitchFamily="34" charset="0"/>
              </a:rPr>
              <a:t>Интерфейсы взаимодействия с пользователем и интеграция с внешними системами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6D52202F-D6F3-4056-E01A-4EFF81E3835C}"/>
              </a:ext>
            </a:extLst>
          </p:cNvPr>
          <p:cNvCxnSpPr>
            <a:cxnSpLocks/>
          </p:cNvCxnSpPr>
          <p:nvPr/>
        </p:nvCxnSpPr>
        <p:spPr>
          <a:xfrm>
            <a:off x="5184321" y="3129909"/>
            <a:ext cx="2090056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913BBFD-541D-0E3E-3EB6-118B3FFA5C51}"/>
              </a:ext>
            </a:extLst>
          </p:cNvPr>
          <p:cNvSpPr txBox="1"/>
          <p:nvPr/>
        </p:nvSpPr>
        <p:spPr>
          <a:xfrm>
            <a:off x="5086350" y="2767109"/>
            <a:ext cx="152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Средний уровень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28473A-E281-BFF9-8C1B-C4BBE29F20AF}"/>
              </a:ext>
            </a:extLst>
          </p:cNvPr>
          <p:cNvSpPr txBox="1"/>
          <p:nvPr/>
        </p:nvSpPr>
        <p:spPr>
          <a:xfrm>
            <a:off x="5184321" y="3206500"/>
            <a:ext cx="2264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Bahnschrift SemiBold Condensed" panose="020B0502040204020203" pitchFamily="34" charset="0"/>
              </a:rPr>
              <a:t>Маршрутизация и логика:</a:t>
            </a:r>
          </a:p>
          <a:p>
            <a:r>
              <a:rPr lang="ru-RU" sz="1200" dirty="0">
                <a:latin typeface="Bahnschrift SemiBold Condensed" panose="020B0502040204020203" pitchFamily="34" charset="0"/>
              </a:rPr>
              <a:t>- обработка команд</a:t>
            </a:r>
          </a:p>
          <a:p>
            <a:r>
              <a:rPr lang="ru-RU" sz="1200" dirty="0">
                <a:latin typeface="Bahnschrift SemiBold Condensed" panose="020B0502040204020203" pitchFamily="34" charset="0"/>
              </a:rPr>
              <a:t>- синхронизация данных</a:t>
            </a:r>
          </a:p>
          <a:p>
            <a:r>
              <a:rPr lang="ru-RU" sz="1200" dirty="0">
                <a:latin typeface="Bahnschrift SemiBold Condensed" panose="020B0502040204020203" pitchFamily="34" charset="0"/>
              </a:rPr>
              <a:t>- мониторинг состояния устройств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962E5678-251D-6746-74BD-B816817E7256}"/>
              </a:ext>
            </a:extLst>
          </p:cNvPr>
          <p:cNvCxnSpPr>
            <a:cxnSpLocks/>
          </p:cNvCxnSpPr>
          <p:nvPr/>
        </p:nvCxnSpPr>
        <p:spPr>
          <a:xfrm>
            <a:off x="9128971" y="3459182"/>
            <a:ext cx="2090056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F473AB0-162F-1D8F-824C-99A89AD2FF34}"/>
              </a:ext>
            </a:extLst>
          </p:cNvPr>
          <p:cNvSpPr txBox="1"/>
          <p:nvPr/>
        </p:nvSpPr>
        <p:spPr>
          <a:xfrm>
            <a:off x="9031000" y="3096382"/>
            <a:ext cx="1528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Нижний уровень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42331A-7989-DB37-D013-DC8B21509007}"/>
              </a:ext>
            </a:extLst>
          </p:cNvPr>
          <p:cNvSpPr txBox="1"/>
          <p:nvPr/>
        </p:nvSpPr>
        <p:spPr>
          <a:xfrm>
            <a:off x="9128969" y="3535773"/>
            <a:ext cx="2073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Bahnschrift SemiBold Condensed" panose="020B0502040204020203" pitchFamily="34" charset="0"/>
              </a:rPr>
              <a:t>Аппаратное обеспечение и исполнительные механизмы:</a:t>
            </a:r>
          </a:p>
          <a:p>
            <a:r>
              <a:rPr lang="ru-RU" sz="1200" dirty="0">
                <a:latin typeface="Bahnschrift SemiBold Condensed" panose="020B0502040204020203" pitchFamily="34" charset="0"/>
              </a:rPr>
              <a:t>- Управление секциями и ячейками - Обеспечение работы пользовательских интерфейсов</a:t>
            </a:r>
          </a:p>
        </p:txBody>
      </p:sp>
      <p:pic>
        <p:nvPicPr>
          <p:cNvPr id="36" name="Рисунок 35" descr="Одна шестеренка со сплошной заливкой">
            <a:extLst>
              <a:ext uri="{FF2B5EF4-FFF2-40B4-BE49-F238E27FC236}">
                <a16:creationId xmlns:a16="http://schemas.microsoft.com/office/drawing/2014/main" id="{0A79E0E1-191C-CDB5-8F07-B1E993CD6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5644" y="2951775"/>
            <a:ext cx="195944" cy="195944"/>
          </a:xfrm>
          <a:prstGeom prst="rect">
            <a:avLst/>
          </a:prstGeom>
        </p:spPr>
      </p:pic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E46D19B-5A7D-DC6A-C9A4-1EAD900548F2}"/>
              </a:ext>
            </a:extLst>
          </p:cNvPr>
          <p:cNvSpPr/>
          <p:nvPr/>
        </p:nvSpPr>
        <p:spPr>
          <a:xfrm>
            <a:off x="10817609" y="2984541"/>
            <a:ext cx="319088" cy="414647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82A11CD-8D8E-20C6-9F92-83DD2985F99C}"/>
              </a:ext>
            </a:extLst>
          </p:cNvPr>
          <p:cNvSpPr/>
          <p:nvPr/>
        </p:nvSpPr>
        <p:spPr>
          <a:xfrm>
            <a:off x="10840129" y="3021798"/>
            <a:ext cx="166688" cy="272306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7362789-0379-C4EA-5F1C-893F930EE197}"/>
              </a:ext>
            </a:extLst>
          </p:cNvPr>
          <p:cNvSpPr/>
          <p:nvPr/>
        </p:nvSpPr>
        <p:spPr>
          <a:xfrm>
            <a:off x="11050972" y="3055979"/>
            <a:ext cx="45719" cy="15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CC8BD413-C1C0-C709-C298-D9F39E6C9CFB}"/>
              </a:ext>
            </a:extLst>
          </p:cNvPr>
          <p:cNvSpPr/>
          <p:nvPr/>
        </p:nvSpPr>
        <p:spPr>
          <a:xfrm>
            <a:off x="10869793" y="3324975"/>
            <a:ext cx="107360" cy="45719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5" name="Соединитель: уступ 44">
            <a:extLst>
              <a:ext uri="{FF2B5EF4-FFF2-40B4-BE49-F238E27FC236}">
                <a16:creationId xmlns:a16="http://schemas.microsoft.com/office/drawing/2014/main" id="{F8476A4C-9880-1C91-6F45-846FB172BC26}"/>
              </a:ext>
            </a:extLst>
          </p:cNvPr>
          <p:cNvCxnSpPr>
            <a:cxnSpLocks/>
          </p:cNvCxnSpPr>
          <p:nvPr/>
        </p:nvCxnSpPr>
        <p:spPr>
          <a:xfrm>
            <a:off x="3567320" y="2648800"/>
            <a:ext cx="1466779" cy="9583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E4BFA165-B8E2-D65D-A70E-F542782F43E0}"/>
              </a:ext>
            </a:extLst>
          </p:cNvPr>
          <p:cNvCxnSpPr>
            <a:cxnSpLocks/>
          </p:cNvCxnSpPr>
          <p:nvPr/>
        </p:nvCxnSpPr>
        <p:spPr>
          <a:xfrm>
            <a:off x="1312818" y="3465714"/>
            <a:ext cx="2090056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14FAEE7-0CF5-15C6-BF83-90247E93F262}"/>
              </a:ext>
            </a:extLst>
          </p:cNvPr>
          <p:cNvSpPr txBox="1"/>
          <p:nvPr/>
        </p:nvSpPr>
        <p:spPr>
          <a:xfrm>
            <a:off x="1268704" y="3535802"/>
            <a:ext cx="21762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Управление номенклатурой, складами, сотрудниками и устройствами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Формирование заданий, статистики, отчетов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Настройка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двусторонней синхронизации с внешними системами по 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REST API</a:t>
            </a:r>
            <a:endParaRPr lang="ru-RU" sz="10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25A623C0-C8CC-B1D9-B9DC-6461E5F31DFB}"/>
              </a:ext>
            </a:extLst>
          </p:cNvPr>
          <p:cNvCxnSpPr>
            <a:cxnSpLocks/>
          </p:cNvCxnSpPr>
          <p:nvPr/>
        </p:nvCxnSpPr>
        <p:spPr>
          <a:xfrm>
            <a:off x="5184321" y="4161713"/>
            <a:ext cx="2090056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F69C901-0BEF-7A36-6A78-E055FBE39735}"/>
              </a:ext>
            </a:extLst>
          </p:cNvPr>
          <p:cNvSpPr txBox="1"/>
          <p:nvPr/>
        </p:nvSpPr>
        <p:spPr>
          <a:xfrm>
            <a:off x="5103254" y="4144917"/>
            <a:ext cx="228235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Обработка и приоритезация команд верхнего уровня и сбор данных с датчиков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Мониторинг состояния оборудования и сети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Модуль безопасности с контролем превышения тока, перегрева, неправильного положения и программной изоляцией шины при КЗ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Локальное хранилище: при потере связи с сервером, устройства продолжают работать в автономном режиме</a:t>
            </a:r>
          </a:p>
          <a:p>
            <a:pPr algn="just"/>
            <a:endParaRPr lang="ru-RU" sz="10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8D9B07EF-F26D-DC5E-8C25-8F2F5BBA280F}"/>
              </a:ext>
            </a:extLst>
          </p:cNvPr>
          <p:cNvCxnSpPr>
            <a:cxnSpLocks/>
          </p:cNvCxnSpPr>
          <p:nvPr/>
        </p:nvCxnSpPr>
        <p:spPr>
          <a:xfrm>
            <a:off x="7468285" y="3607133"/>
            <a:ext cx="1466779" cy="9583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45D8755-2B57-234E-B68E-52106EE7E169}"/>
              </a:ext>
            </a:extLst>
          </p:cNvPr>
          <p:cNvSpPr txBox="1"/>
          <p:nvPr/>
        </p:nvSpPr>
        <p:spPr>
          <a:xfrm>
            <a:off x="9128969" y="4655766"/>
            <a:ext cx="2073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Непосредственное управление актуаторами, датчиками, источниками питания, замками, спиралями, подсветкой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Каждая секция (спиральная, постамат) имеет независимый контроллер и отдельную линию питания.</a:t>
            </a:r>
          </a:p>
          <a:p>
            <a:endParaRPr lang="ru-RU" sz="10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6B8E8B7A-E6C2-C0A8-BC3B-C5751DA3246C}"/>
              </a:ext>
            </a:extLst>
          </p:cNvPr>
          <p:cNvCxnSpPr>
            <a:cxnSpLocks/>
          </p:cNvCxnSpPr>
          <p:nvPr/>
        </p:nvCxnSpPr>
        <p:spPr>
          <a:xfrm>
            <a:off x="9128969" y="4666445"/>
            <a:ext cx="2090056" cy="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E198B07-7753-E055-1BDF-DEEF7C6E9D4B}"/>
              </a:ext>
            </a:extLst>
          </p:cNvPr>
          <p:cNvSpPr txBox="1"/>
          <p:nvPr/>
        </p:nvSpPr>
        <p:spPr>
          <a:xfrm>
            <a:off x="3498849" y="2199319"/>
            <a:ext cx="1571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Команда: «выдать фрезу из ячейки №15»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1ECBB3-8F46-3A75-755A-6626FFD94245}"/>
              </a:ext>
            </a:extLst>
          </p:cNvPr>
          <p:cNvSpPr txBox="1"/>
          <p:nvPr/>
        </p:nvSpPr>
        <p:spPr>
          <a:xfrm>
            <a:off x="7385604" y="3041857"/>
            <a:ext cx="14533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Команда: Открытие замка ячейки / вращение спирали, включение подсветки</a:t>
            </a:r>
          </a:p>
        </p:txBody>
      </p:sp>
      <p:cxnSp>
        <p:nvCxnSpPr>
          <p:cNvPr id="70" name="Соединитель: уступ 69">
            <a:extLst>
              <a:ext uri="{FF2B5EF4-FFF2-40B4-BE49-F238E27FC236}">
                <a16:creationId xmlns:a16="http://schemas.microsoft.com/office/drawing/2014/main" id="{090A0A17-8DF3-A87A-50AA-6DF38B016A61}"/>
              </a:ext>
            </a:extLst>
          </p:cNvPr>
          <p:cNvCxnSpPr/>
          <p:nvPr/>
        </p:nvCxnSpPr>
        <p:spPr>
          <a:xfrm rot="10800000">
            <a:off x="7468286" y="3752166"/>
            <a:ext cx="1466779" cy="1036082"/>
          </a:xfrm>
          <a:prstGeom prst="bentConnector3">
            <a:avLst>
              <a:gd name="adj1" fmla="val 56494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0749D1A-451B-F222-ED84-3AC00D81A4D2}"/>
              </a:ext>
            </a:extLst>
          </p:cNvPr>
          <p:cNvSpPr txBox="1"/>
          <p:nvPr/>
        </p:nvSpPr>
        <p:spPr>
          <a:xfrm>
            <a:off x="7383176" y="4794881"/>
            <a:ext cx="1551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Сигнал: «выдача выполнена», обновление остатков</a:t>
            </a:r>
          </a:p>
        </p:txBody>
      </p:sp>
      <p:cxnSp>
        <p:nvCxnSpPr>
          <p:cNvPr id="74" name="Соединитель: уступ 73">
            <a:extLst>
              <a:ext uri="{FF2B5EF4-FFF2-40B4-BE49-F238E27FC236}">
                <a16:creationId xmlns:a16="http://schemas.microsoft.com/office/drawing/2014/main" id="{D4F3D32B-9894-13BC-EA46-CFE437419B44}"/>
              </a:ext>
            </a:extLst>
          </p:cNvPr>
          <p:cNvCxnSpPr/>
          <p:nvPr/>
        </p:nvCxnSpPr>
        <p:spPr>
          <a:xfrm rot="10800000">
            <a:off x="3559191" y="2797570"/>
            <a:ext cx="1466779" cy="1036082"/>
          </a:xfrm>
          <a:prstGeom prst="bentConnector3">
            <a:avLst>
              <a:gd name="adj1" fmla="val 56494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CA27F96-E59D-A732-8E9E-DE9D203EB6BE}"/>
              </a:ext>
            </a:extLst>
          </p:cNvPr>
          <p:cNvSpPr txBox="1"/>
          <p:nvPr/>
        </p:nvSpPr>
        <p:spPr>
          <a:xfrm>
            <a:off x="3504262" y="3831739"/>
            <a:ext cx="1571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Данные о выдаче, уведомление о снижении остатка</a:t>
            </a:r>
          </a:p>
        </p:txBody>
      </p:sp>
      <p:sp>
        <p:nvSpPr>
          <p:cNvPr id="79" name="Прямоугольник: скругленные углы 78">
            <a:extLst>
              <a:ext uri="{FF2B5EF4-FFF2-40B4-BE49-F238E27FC236}">
                <a16:creationId xmlns:a16="http://schemas.microsoft.com/office/drawing/2014/main" id="{34ECC5B3-F933-D86F-BAC6-39F1A8AC571C}"/>
              </a:ext>
            </a:extLst>
          </p:cNvPr>
          <p:cNvSpPr/>
          <p:nvPr/>
        </p:nvSpPr>
        <p:spPr>
          <a:xfrm>
            <a:off x="1214847" y="2089150"/>
            <a:ext cx="2251790" cy="27057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C85C442A-5D30-670F-F18A-B87D86F87A7A}"/>
              </a:ext>
            </a:extLst>
          </p:cNvPr>
          <p:cNvSpPr/>
          <p:nvPr/>
        </p:nvSpPr>
        <p:spPr>
          <a:xfrm>
            <a:off x="5106087" y="2440117"/>
            <a:ext cx="2251790" cy="351203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1240F3-399C-5C58-BF93-9D5DC461CC15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5" name="Прямоугольник: скругленные углы 84">
            <a:extLst>
              <a:ext uri="{FF2B5EF4-FFF2-40B4-BE49-F238E27FC236}">
                <a16:creationId xmlns:a16="http://schemas.microsoft.com/office/drawing/2014/main" id="{7695259B-0607-A84C-7D9D-6B3085E2CF0E}"/>
              </a:ext>
            </a:extLst>
          </p:cNvPr>
          <p:cNvSpPr/>
          <p:nvPr/>
        </p:nvSpPr>
        <p:spPr>
          <a:xfrm>
            <a:off x="9043859" y="2725391"/>
            <a:ext cx="2251790" cy="351203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922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9C92C7C-D061-AFB6-ACA9-43E675727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753" y="869262"/>
            <a:ext cx="2674942" cy="4458236"/>
          </a:xfrm>
          <a:prstGeom prst="rect">
            <a:avLst/>
          </a:prstGeom>
        </p:spPr>
      </p:pic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80134B52-8407-3DD5-8B77-5E7DCFA795FA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«Уралец». Зоны взаимодействия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5E7896-5B97-DBD6-93F4-19C65F77DA1F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DC3094-9D56-F1DB-7032-5364D13B0F70}"/>
              </a:ext>
            </a:extLst>
          </p:cNvPr>
          <p:cNvSpPr txBox="1"/>
          <p:nvPr/>
        </p:nvSpPr>
        <p:spPr>
          <a:xfrm>
            <a:off x="462793" y="2626648"/>
            <a:ext cx="2475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2. Панель управления устройства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28E22-49A6-C7FB-DC44-277761A0917B}"/>
              </a:ext>
            </a:extLst>
          </p:cNvPr>
          <p:cNvSpPr txBox="1"/>
          <p:nvPr/>
        </p:nvSpPr>
        <p:spPr>
          <a:xfrm>
            <a:off x="471581" y="2892224"/>
            <a:ext cx="2466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2.1  Сенсорный экран для взаимодействия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2.2  Устройство авторизации по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RFID-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ключу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2.3  Сканнер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QR-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кодов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929255-524E-266B-C3CA-37ACF29DF1AB}"/>
              </a:ext>
            </a:extLst>
          </p:cNvPr>
          <p:cNvSpPr txBox="1"/>
          <p:nvPr/>
        </p:nvSpPr>
        <p:spPr>
          <a:xfrm>
            <a:off x="9103946" y="1389999"/>
            <a:ext cx="1744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4. Спиральная секция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5D06CC-90F4-1CD4-483E-D4209F2C8EE0}"/>
              </a:ext>
            </a:extLst>
          </p:cNvPr>
          <p:cNvSpPr txBox="1"/>
          <p:nvPr/>
        </p:nvSpPr>
        <p:spPr>
          <a:xfrm>
            <a:off x="9103946" y="1668642"/>
            <a:ext cx="24753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4.1 </a:t>
            </a:r>
            <a:r>
              <a:rPr lang="ru-RU" sz="1200" dirty="0">
                <a:latin typeface="Bahnschrift SemiBold Condensed" panose="020B0502040204020203" pitchFamily="34" charset="0"/>
              </a:rPr>
              <a:t>96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 ячеек по 10-20 мест для выдачи инструмента с настраиваемым шагом спирали для размещения ТМЦ с разными габаритами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4.2 Лифт для доставки ТМЦ из спиралей в зону выдачи</a:t>
            </a:r>
          </a:p>
          <a:p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B8FFDA-3041-6AAF-70AE-385A71EE56FD}"/>
              </a:ext>
            </a:extLst>
          </p:cNvPr>
          <p:cNvSpPr txBox="1"/>
          <p:nvPr/>
        </p:nvSpPr>
        <p:spPr>
          <a:xfrm>
            <a:off x="472807" y="3750756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3. Защитная дверь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332436-E59B-39FB-4D8D-B1AEEEFE2D38}"/>
              </a:ext>
            </a:extLst>
          </p:cNvPr>
          <p:cNvSpPr txBox="1"/>
          <p:nvPr/>
        </p:nvSpPr>
        <p:spPr>
          <a:xfrm>
            <a:off x="462794" y="4017723"/>
            <a:ext cx="22773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Обеспечивает сохранность ТМЦ в спиральной секции и ограничивает доступ к основным узлам работы устройства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3.1   Лючок выдачи ТМЦ с блокировкой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3.2 Магнитный замок, открывается по авторизации через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RFID-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ключ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3.3  Механический замок для сервисного доступа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5D659D-7A45-0D01-74DF-8A87DE3E7BF0}"/>
              </a:ext>
            </a:extLst>
          </p:cNvPr>
          <p:cNvSpPr txBox="1"/>
          <p:nvPr/>
        </p:nvSpPr>
        <p:spPr>
          <a:xfrm>
            <a:off x="478693" y="1389999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1. Камера видеонаблюдения (Опционально)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9607374-BB9B-3A13-317B-28BFF83195D6}"/>
              </a:ext>
            </a:extLst>
          </p:cNvPr>
          <p:cNvSpPr txBox="1"/>
          <p:nvPr/>
        </p:nvSpPr>
        <p:spPr>
          <a:xfrm>
            <a:off x="471581" y="1654146"/>
            <a:ext cx="2223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Возможна установка внешнего нового или подключение существующего поста видеонаблюдения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C1E04D-09A9-3CD2-98D0-85D3590B1ED8}"/>
              </a:ext>
            </a:extLst>
          </p:cNvPr>
          <p:cNvSpPr txBox="1"/>
          <p:nvPr/>
        </p:nvSpPr>
        <p:spPr>
          <a:xfrm>
            <a:off x="4061853" y="1151734"/>
            <a:ext cx="268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E9FE4CC-0578-DE4C-CB66-E8176155D6E8}"/>
              </a:ext>
            </a:extLst>
          </p:cNvPr>
          <p:cNvSpPr txBox="1"/>
          <p:nvPr/>
        </p:nvSpPr>
        <p:spPr>
          <a:xfrm>
            <a:off x="5477212" y="2405883"/>
            <a:ext cx="328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8621EA-14AB-217E-C114-2E3355BB9EA5}"/>
              </a:ext>
            </a:extLst>
          </p:cNvPr>
          <p:cNvSpPr txBox="1"/>
          <p:nvPr/>
        </p:nvSpPr>
        <p:spPr>
          <a:xfrm>
            <a:off x="4429328" y="2781686"/>
            <a:ext cx="340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4</a:t>
            </a:r>
          </a:p>
        </p:txBody>
      </p:sp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3C91377A-2E5B-6F7E-26AF-078EF6A45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7213" y="5327498"/>
            <a:ext cx="1439574" cy="896402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  <p:cxnSp>
        <p:nvCxnSpPr>
          <p:cNvPr id="82" name="Прямая со стрелкой 81">
            <a:extLst>
              <a:ext uri="{FF2B5EF4-FFF2-40B4-BE49-F238E27FC236}">
                <a16:creationId xmlns:a16="http://schemas.microsoft.com/office/drawing/2014/main" id="{017E9FCC-DF12-DB74-BC9E-C2C93E75B58E}"/>
              </a:ext>
            </a:extLst>
          </p:cNvPr>
          <p:cNvCxnSpPr/>
          <p:nvPr/>
        </p:nvCxnSpPr>
        <p:spPr>
          <a:xfrm>
            <a:off x="4061853" y="4267464"/>
            <a:ext cx="0" cy="106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C3284E0-ACB4-C3D4-A26E-6B702B69A99B}"/>
              </a:ext>
            </a:extLst>
          </p:cNvPr>
          <p:cNvSpPr txBox="1"/>
          <p:nvPr/>
        </p:nvSpPr>
        <p:spPr>
          <a:xfrm>
            <a:off x="4054031" y="4959207"/>
            <a:ext cx="347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4.2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53BB6A4-8ADF-63F0-D3F0-A6BE0843ED7C}"/>
              </a:ext>
            </a:extLst>
          </p:cNvPr>
          <p:cNvSpPr txBox="1"/>
          <p:nvPr/>
        </p:nvSpPr>
        <p:spPr>
          <a:xfrm>
            <a:off x="4956169" y="4208661"/>
            <a:ext cx="327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3</a:t>
            </a:r>
          </a:p>
        </p:txBody>
      </p:sp>
      <p:grpSp>
        <p:nvGrpSpPr>
          <p:cNvPr id="239" name="Группа 238">
            <a:extLst>
              <a:ext uri="{FF2B5EF4-FFF2-40B4-BE49-F238E27FC236}">
                <a16:creationId xmlns:a16="http://schemas.microsoft.com/office/drawing/2014/main" id="{09D7402F-6E24-CD82-9E05-C521D636F6E3}"/>
              </a:ext>
            </a:extLst>
          </p:cNvPr>
          <p:cNvGrpSpPr/>
          <p:nvPr/>
        </p:nvGrpSpPr>
        <p:grpSpPr>
          <a:xfrm>
            <a:off x="6238296" y="1609578"/>
            <a:ext cx="2222873" cy="3246253"/>
            <a:chOff x="6644907" y="1818875"/>
            <a:chExt cx="2222873" cy="3246253"/>
          </a:xfrm>
        </p:grpSpPr>
        <p:sp>
          <p:nvSpPr>
            <p:cNvPr id="235" name="Прямоугольник 234">
              <a:extLst>
                <a:ext uri="{FF2B5EF4-FFF2-40B4-BE49-F238E27FC236}">
                  <a16:creationId xmlns:a16="http://schemas.microsoft.com/office/drawing/2014/main" id="{55CB0548-D26A-855E-FE83-B0DFFF01B303}"/>
                </a:ext>
              </a:extLst>
            </p:cNvPr>
            <p:cNvSpPr>
              <a:spLocks/>
            </p:cNvSpPr>
            <p:nvPr/>
          </p:nvSpPr>
          <p:spPr>
            <a:xfrm>
              <a:off x="6644907" y="2559696"/>
              <a:ext cx="89477" cy="140270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Прямоугольник: скругленные углы 94">
              <a:extLst>
                <a:ext uri="{FF2B5EF4-FFF2-40B4-BE49-F238E27FC236}">
                  <a16:creationId xmlns:a16="http://schemas.microsoft.com/office/drawing/2014/main" id="{B71C5451-A705-3A21-3B95-49F24CD62667}"/>
                </a:ext>
              </a:extLst>
            </p:cNvPr>
            <p:cNvSpPr>
              <a:spLocks/>
            </p:cNvSpPr>
            <p:nvPr/>
          </p:nvSpPr>
          <p:spPr>
            <a:xfrm>
              <a:off x="6677795" y="2041802"/>
              <a:ext cx="2032638" cy="297762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Прямоугольник: скругленные углы 92">
              <a:extLst>
                <a:ext uri="{FF2B5EF4-FFF2-40B4-BE49-F238E27FC236}">
                  <a16:creationId xmlns:a16="http://schemas.microsoft.com/office/drawing/2014/main" id="{9F562EC4-B41F-AD78-00FB-4E4AD080AC7D}"/>
                </a:ext>
              </a:extLst>
            </p:cNvPr>
            <p:cNvSpPr>
              <a:spLocks/>
            </p:cNvSpPr>
            <p:nvPr/>
          </p:nvSpPr>
          <p:spPr>
            <a:xfrm>
              <a:off x="6835142" y="1818875"/>
              <a:ext cx="2032638" cy="3200533"/>
            </a:xfrm>
            <a:prstGeom prst="roundRect">
              <a:avLst>
                <a:gd name="adj" fmla="val 5889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96" name="Прямоугольник 95">
              <a:extLst>
                <a:ext uri="{FF2B5EF4-FFF2-40B4-BE49-F238E27FC236}">
                  <a16:creationId xmlns:a16="http://schemas.microsoft.com/office/drawing/2014/main" id="{BC1448C4-9F04-895C-FA0B-68CB42E97579}"/>
                </a:ext>
              </a:extLst>
            </p:cNvPr>
            <p:cNvSpPr>
              <a:spLocks/>
            </p:cNvSpPr>
            <p:nvPr/>
          </p:nvSpPr>
          <p:spPr>
            <a:xfrm>
              <a:off x="6802887" y="2683670"/>
              <a:ext cx="46064" cy="17368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Прямоугольник 97">
              <a:extLst>
                <a:ext uri="{FF2B5EF4-FFF2-40B4-BE49-F238E27FC236}">
                  <a16:creationId xmlns:a16="http://schemas.microsoft.com/office/drawing/2014/main" id="{06183DBF-0E22-CC35-B87F-1A1D20AE1001}"/>
                </a:ext>
              </a:extLst>
            </p:cNvPr>
            <p:cNvSpPr>
              <a:spLocks/>
            </p:cNvSpPr>
            <p:nvPr/>
          </p:nvSpPr>
          <p:spPr>
            <a:xfrm>
              <a:off x="6802887" y="4284430"/>
              <a:ext cx="46064" cy="17368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Прямоугольник: скругленные углы 100">
              <a:extLst>
                <a:ext uri="{FF2B5EF4-FFF2-40B4-BE49-F238E27FC236}">
                  <a16:creationId xmlns:a16="http://schemas.microsoft.com/office/drawing/2014/main" id="{AC896062-F3EA-7A5C-E36B-5409D5727704}"/>
                </a:ext>
              </a:extLst>
            </p:cNvPr>
            <p:cNvSpPr>
              <a:spLocks/>
            </p:cNvSpPr>
            <p:nvPr/>
          </p:nvSpPr>
          <p:spPr>
            <a:xfrm>
              <a:off x="7013563" y="1937850"/>
              <a:ext cx="1746328" cy="2968675"/>
            </a:xfrm>
            <a:prstGeom prst="roundRect">
              <a:avLst>
                <a:gd name="adj" fmla="val 7351"/>
              </a:avLst>
            </a:prstGeom>
            <a:noFill/>
            <a:ln w="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Прямоугольник 103">
              <a:extLst>
                <a:ext uri="{FF2B5EF4-FFF2-40B4-BE49-F238E27FC236}">
                  <a16:creationId xmlns:a16="http://schemas.microsoft.com/office/drawing/2014/main" id="{4DA9224C-036F-E7C8-DDD1-3B28FB64C4EB}"/>
                </a:ext>
              </a:extLst>
            </p:cNvPr>
            <p:cNvSpPr>
              <a:spLocks/>
            </p:cNvSpPr>
            <p:nvPr/>
          </p:nvSpPr>
          <p:spPr>
            <a:xfrm>
              <a:off x="7062086" y="2044526"/>
              <a:ext cx="1647410" cy="2384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29" name="Прямоугольник: скругленные углы 128">
              <a:extLst>
                <a:ext uri="{FF2B5EF4-FFF2-40B4-BE49-F238E27FC236}">
                  <a16:creationId xmlns:a16="http://schemas.microsoft.com/office/drawing/2014/main" id="{F9EBAEC2-78B7-1ABB-3749-C05EB0B6B426}"/>
                </a:ext>
              </a:extLst>
            </p:cNvPr>
            <p:cNvSpPr>
              <a:spLocks/>
            </p:cNvSpPr>
            <p:nvPr/>
          </p:nvSpPr>
          <p:spPr>
            <a:xfrm>
              <a:off x="7246142" y="5019409"/>
              <a:ext cx="110967" cy="4571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Прямоугольник: скругленные углы 132">
              <a:extLst>
                <a:ext uri="{FF2B5EF4-FFF2-40B4-BE49-F238E27FC236}">
                  <a16:creationId xmlns:a16="http://schemas.microsoft.com/office/drawing/2014/main" id="{5F079A94-2A43-46AB-F40E-AD8C2165654A}"/>
                </a:ext>
              </a:extLst>
            </p:cNvPr>
            <p:cNvSpPr>
              <a:spLocks/>
            </p:cNvSpPr>
            <p:nvPr/>
          </p:nvSpPr>
          <p:spPr>
            <a:xfrm>
              <a:off x="8341517" y="5019409"/>
              <a:ext cx="110967" cy="4571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Прямоугольник 137">
              <a:extLst>
                <a:ext uri="{FF2B5EF4-FFF2-40B4-BE49-F238E27FC236}">
                  <a16:creationId xmlns:a16="http://schemas.microsoft.com/office/drawing/2014/main" id="{2874F03A-0305-364F-236C-7988CA688BE8}"/>
                </a:ext>
              </a:extLst>
            </p:cNvPr>
            <p:cNvSpPr>
              <a:spLocks/>
            </p:cNvSpPr>
            <p:nvPr/>
          </p:nvSpPr>
          <p:spPr>
            <a:xfrm>
              <a:off x="7062084" y="2044525"/>
              <a:ext cx="327600" cy="238450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Прямоугольник 141">
              <a:extLst>
                <a:ext uri="{FF2B5EF4-FFF2-40B4-BE49-F238E27FC236}">
                  <a16:creationId xmlns:a16="http://schemas.microsoft.com/office/drawing/2014/main" id="{FF300F78-9050-F1DA-83C3-96539EAA138D}"/>
                </a:ext>
              </a:extLst>
            </p:cNvPr>
            <p:cNvSpPr>
              <a:spLocks/>
            </p:cNvSpPr>
            <p:nvPr/>
          </p:nvSpPr>
          <p:spPr>
            <a:xfrm>
              <a:off x="7389684" y="2044524"/>
              <a:ext cx="327600" cy="2384500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Прямоугольник 143">
              <a:extLst>
                <a:ext uri="{FF2B5EF4-FFF2-40B4-BE49-F238E27FC236}">
                  <a16:creationId xmlns:a16="http://schemas.microsoft.com/office/drawing/2014/main" id="{4597C1C8-C7A3-2581-E208-F0E63BD4BC37}"/>
                </a:ext>
              </a:extLst>
            </p:cNvPr>
            <p:cNvSpPr>
              <a:spLocks/>
            </p:cNvSpPr>
            <p:nvPr/>
          </p:nvSpPr>
          <p:spPr>
            <a:xfrm>
              <a:off x="7718221" y="2044247"/>
              <a:ext cx="323846" cy="2382594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Прямоугольник 145">
              <a:extLst>
                <a:ext uri="{FF2B5EF4-FFF2-40B4-BE49-F238E27FC236}">
                  <a16:creationId xmlns:a16="http://schemas.microsoft.com/office/drawing/2014/main" id="{E6A50F8E-5DD6-B97C-139E-97A955BF7B98}"/>
                </a:ext>
              </a:extLst>
            </p:cNvPr>
            <p:cNvSpPr>
              <a:spLocks/>
            </p:cNvSpPr>
            <p:nvPr/>
          </p:nvSpPr>
          <p:spPr>
            <a:xfrm>
              <a:off x="8045713" y="2042341"/>
              <a:ext cx="327600" cy="2384500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id="{5AC1390B-972E-1AF6-E69A-C1018737FDB7}"/>
                </a:ext>
              </a:extLst>
            </p:cNvPr>
            <p:cNvSpPr>
              <a:spLocks/>
            </p:cNvSpPr>
            <p:nvPr/>
          </p:nvSpPr>
          <p:spPr>
            <a:xfrm>
              <a:off x="7062086" y="2281644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Прямоугольник 153">
              <a:extLst>
                <a:ext uri="{FF2B5EF4-FFF2-40B4-BE49-F238E27FC236}">
                  <a16:creationId xmlns:a16="http://schemas.microsoft.com/office/drawing/2014/main" id="{CB10EA23-D710-B884-BF43-F110B0257531}"/>
                </a:ext>
              </a:extLst>
            </p:cNvPr>
            <p:cNvSpPr>
              <a:spLocks/>
            </p:cNvSpPr>
            <p:nvPr/>
          </p:nvSpPr>
          <p:spPr>
            <a:xfrm>
              <a:off x="7525752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Прямоугольник 155">
              <a:extLst>
                <a:ext uri="{FF2B5EF4-FFF2-40B4-BE49-F238E27FC236}">
                  <a16:creationId xmlns:a16="http://schemas.microsoft.com/office/drawing/2014/main" id="{71DC7FB2-3DFB-18C7-8BE7-B591D0ACA233}"/>
                </a:ext>
              </a:extLst>
            </p:cNvPr>
            <p:cNvSpPr>
              <a:spLocks/>
            </p:cNvSpPr>
            <p:nvPr/>
          </p:nvSpPr>
          <p:spPr>
            <a:xfrm>
              <a:off x="7199301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Прямоугольник 157">
              <a:extLst>
                <a:ext uri="{FF2B5EF4-FFF2-40B4-BE49-F238E27FC236}">
                  <a16:creationId xmlns:a16="http://schemas.microsoft.com/office/drawing/2014/main" id="{9A3FF032-0CD1-B4A7-F03A-B30CF4DBA928}"/>
                </a:ext>
              </a:extLst>
            </p:cNvPr>
            <p:cNvSpPr>
              <a:spLocks/>
            </p:cNvSpPr>
            <p:nvPr/>
          </p:nvSpPr>
          <p:spPr>
            <a:xfrm>
              <a:off x="7859208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Прямоугольник 159">
              <a:extLst>
                <a:ext uri="{FF2B5EF4-FFF2-40B4-BE49-F238E27FC236}">
                  <a16:creationId xmlns:a16="http://schemas.microsoft.com/office/drawing/2014/main" id="{FF402506-3516-31D6-C791-BF947B72E7BB}"/>
                </a:ext>
              </a:extLst>
            </p:cNvPr>
            <p:cNvSpPr>
              <a:spLocks/>
            </p:cNvSpPr>
            <p:nvPr/>
          </p:nvSpPr>
          <p:spPr>
            <a:xfrm>
              <a:off x="8183991" y="2297967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Прямоугольник 161">
              <a:extLst>
                <a:ext uri="{FF2B5EF4-FFF2-40B4-BE49-F238E27FC236}">
                  <a16:creationId xmlns:a16="http://schemas.microsoft.com/office/drawing/2014/main" id="{D4610B31-8D42-8EBC-959B-D2857DA8D1C0}"/>
                </a:ext>
              </a:extLst>
            </p:cNvPr>
            <p:cNvSpPr>
              <a:spLocks/>
            </p:cNvSpPr>
            <p:nvPr/>
          </p:nvSpPr>
          <p:spPr>
            <a:xfrm>
              <a:off x="8499807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Прямоугольник 163">
              <a:extLst>
                <a:ext uri="{FF2B5EF4-FFF2-40B4-BE49-F238E27FC236}">
                  <a16:creationId xmlns:a16="http://schemas.microsoft.com/office/drawing/2014/main" id="{B6813D92-9AE4-6F49-67EB-8730D1D8C8F5}"/>
                </a:ext>
              </a:extLst>
            </p:cNvPr>
            <p:cNvSpPr>
              <a:spLocks/>
            </p:cNvSpPr>
            <p:nvPr/>
          </p:nvSpPr>
          <p:spPr>
            <a:xfrm>
              <a:off x="7062086" y="2588064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Прямоугольник 165">
              <a:extLst>
                <a:ext uri="{FF2B5EF4-FFF2-40B4-BE49-F238E27FC236}">
                  <a16:creationId xmlns:a16="http://schemas.microsoft.com/office/drawing/2014/main" id="{1501204F-756A-4A56-209A-F590F227C7EC}"/>
                </a:ext>
              </a:extLst>
            </p:cNvPr>
            <p:cNvSpPr>
              <a:spLocks/>
            </p:cNvSpPr>
            <p:nvPr/>
          </p:nvSpPr>
          <p:spPr>
            <a:xfrm>
              <a:off x="7525752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Прямоугольник 167">
              <a:extLst>
                <a:ext uri="{FF2B5EF4-FFF2-40B4-BE49-F238E27FC236}">
                  <a16:creationId xmlns:a16="http://schemas.microsoft.com/office/drawing/2014/main" id="{73AA75AD-20B7-1EEE-005A-00763EC3B4B5}"/>
                </a:ext>
              </a:extLst>
            </p:cNvPr>
            <p:cNvSpPr>
              <a:spLocks/>
            </p:cNvSpPr>
            <p:nvPr/>
          </p:nvSpPr>
          <p:spPr>
            <a:xfrm>
              <a:off x="7199301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Прямоугольник 169">
              <a:extLst>
                <a:ext uri="{FF2B5EF4-FFF2-40B4-BE49-F238E27FC236}">
                  <a16:creationId xmlns:a16="http://schemas.microsoft.com/office/drawing/2014/main" id="{89E5B5C0-5BAE-3D32-87A1-F0528836E924}"/>
                </a:ext>
              </a:extLst>
            </p:cNvPr>
            <p:cNvSpPr>
              <a:spLocks/>
            </p:cNvSpPr>
            <p:nvPr/>
          </p:nvSpPr>
          <p:spPr>
            <a:xfrm>
              <a:off x="7859208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Прямоугольник 171">
              <a:extLst>
                <a:ext uri="{FF2B5EF4-FFF2-40B4-BE49-F238E27FC236}">
                  <a16:creationId xmlns:a16="http://schemas.microsoft.com/office/drawing/2014/main" id="{F023A02E-BC1E-F5FF-2E07-A97E4B1092F4}"/>
                </a:ext>
              </a:extLst>
            </p:cNvPr>
            <p:cNvSpPr>
              <a:spLocks/>
            </p:cNvSpPr>
            <p:nvPr/>
          </p:nvSpPr>
          <p:spPr>
            <a:xfrm>
              <a:off x="8183991" y="2604387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Прямоугольник 173">
              <a:extLst>
                <a:ext uri="{FF2B5EF4-FFF2-40B4-BE49-F238E27FC236}">
                  <a16:creationId xmlns:a16="http://schemas.microsoft.com/office/drawing/2014/main" id="{A53085ED-22A5-F8E1-0997-5C4A1329F576}"/>
                </a:ext>
              </a:extLst>
            </p:cNvPr>
            <p:cNvSpPr>
              <a:spLocks/>
            </p:cNvSpPr>
            <p:nvPr/>
          </p:nvSpPr>
          <p:spPr>
            <a:xfrm>
              <a:off x="8499807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Прямоугольник 175">
              <a:extLst>
                <a:ext uri="{FF2B5EF4-FFF2-40B4-BE49-F238E27FC236}">
                  <a16:creationId xmlns:a16="http://schemas.microsoft.com/office/drawing/2014/main" id="{EE43F25F-0496-76CC-67E8-2A2454078FD8}"/>
                </a:ext>
              </a:extLst>
            </p:cNvPr>
            <p:cNvSpPr>
              <a:spLocks/>
            </p:cNvSpPr>
            <p:nvPr/>
          </p:nvSpPr>
          <p:spPr>
            <a:xfrm>
              <a:off x="7062086" y="2891623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Прямоугольник 177">
              <a:extLst>
                <a:ext uri="{FF2B5EF4-FFF2-40B4-BE49-F238E27FC236}">
                  <a16:creationId xmlns:a16="http://schemas.microsoft.com/office/drawing/2014/main" id="{CE111BEB-8123-2DCC-355E-27266030B211}"/>
                </a:ext>
              </a:extLst>
            </p:cNvPr>
            <p:cNvSpPr>
              <a:spLocks/>
            </p:cNvSpPr>
            <p:nvPr/>
          </p:nvSpPr>
          <p:spPr>
            <a:xfrm>
              <a:off x="7525752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0" name="Прямоугольник 179">
              <a:extLst>
                <a:ext uri="{FF2B5EF4-FFF2-40B4-BE49-F238E27FC236}">
                  <a16:creationId xmlns:a16="http://schemas.microsoft.com/office/drawing/2014/main" id="{7699C177-A9BC-4F68-B6E1-680ED34E2CBC}"/>
                </a:ext>
              </a:extLst>
            </p:cNvPr>
            <p:cNvSpPr>
              <a:spLocks/>
            </p:cNvSpPr>
            <p:nvPr/>
          </p:nvSpPr>
          <p:spPr>
            <a:xfrm>
              <a:off x="7199301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Прямоугольник 181">
              <a:extLst>
                <a:ext uri="{FF2B5EF4-FFF2-40B4-BE49-F238E27FC236}">
                  <a16:creationId xmlns:a16="http://schemas.microsoft.com/office/drawing/2014/main" id="{0E9064BF-2879-C098-1EC9-28723AB985E1}"/>
                </a:ext>
              </a:extLst>
            </p:cNvPr>
            <p:cNvSpPr>
              <a:spLocks/>
            </p:cNvSpPr>
            <p:nvPr/>
          </p:nvSpPr>
          <p:spPr>
            <a:xfrm>
              <a:off x="7859208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Прямоугольник 183">
              <a:extLst>
                <a:ext uri="{FF2B5EF4-FFF2-40B4-BE49-F238E27FC236}">
                  <a16:creationId xmlns:a16="http://schemas.microsoft.com/office/drawing/2014/main" id="{27C1B2CB-D69E-96AA-FE30-91371D2624AB}"/>
                </a:ext>
              </a:extLst>
            </p:cNvPr>
            <p:cNvSpPr>
              <a:spLocks/>
            </p:cNvSpPr>
            <p:nvPr/>
          </p:nvSpPr>
          <p:spPr>
            <a:xfrm>
              <a:off x="8183991" y="2907946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Прямоугольник 185">
              <a:extLst>
                <a:ext uri="{FF2B5EF4-FFF2-40B4-BE49-F238E27FC236}">
                  <a16:creationId xmlns:a16="http://schemas.microsoft.com/office/drawing/2014/main" id="{151ED2A3-A2BC-A5A3-0477-11787E9E18C3}"/>
                </a:ext>
              </a:extLst>
            </p:cNvPr>
            <p:cNvSpPr>
              <a:spLocks/>
            </p:cNvSpPr>
            <p:nvPr/>
          </p:nvSpPr>
          <p:spPr>
            <a:xfrm>
              <a:off x="8499807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Прямоугольник 187">
              <a:extLst>
                <a:ext uri="{FF2B5EF4-FFF2-40B4-BE49-F238E27FC236}">
                  <a16:creationId xmlns:a16="http://schemas.microsoft.com/office/drawing/2014/main" id="{FBCE09A4-E82D-5893-017F-1346D22E6529}"/>
                </a:ext>
              </a:extLst>
            </p:cNvPr>
            <p:cNvSpPr>
              <a:spLocks/>
            </p:cNvSpPr>
            <p:nvPr/>
          </p:nvSpPr>
          <p:spPr>
            <a:xfrm>
              <a:off x="7063023" y="3195182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0" name="Прямоугольник 189">
              <a:extLst>
                <a:ext uri="{FF2B5EF4-FFF2-40B4-BE49-F238E27FC236}">
                  <a16:creationId xmlns:a16="http://schemas.microsoft.com/office/drawing/2014/main" id="{D46A4C0B-0486-5803-067E-867260A17566}"/>
                </a:ext>
              </a:extLst>
            </p:cNvPr>
            <p:cNvSpPr>
              <a:spLocks/>
            </p:cNvSpPr>
            <p:nvPr/>
          </p:nvSpPr>
          <p:spPr>
            <a:xfrm>
              <a:off x="7526689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id="{E4589DA4-862D-9638-5229-2124D989E58D}"/>
                </a:ext>
              </a:extLst>
            </p:cNvPr>
            <p:cNvSpPr>
              <a:spLocks/>
            </p:cNvSpPr>
            <p:nvPr/>
          </p:nvSpPr>
          <p:spPr>
            <a:xfrm>
              <a:off x="7200238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id="{B4E6A23C-2433-396C-D4D3-B0253A8BC629}"/>
                </a:ext>
              </a:extLst>
            </p:cNvPr>
            <p:cNvSpPr>
              <a:spLocks/>
            </p:cNvSpPr>
            <p:nvPr/>
          </p:nvSpPr>
          <p:spPr>
            <a:xfrm>
              <a:off x="7860145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id="{B50B7312-D3E2-50DD-1A96-A837908EC5B9}"/>
                </a:ext>
              </a:extLst>
            </p:cNvPr>
            <p:cNvSpPr>
              <a:spLocks/>
            </p:cNvSpPr>
            <p:nvPr/>
          </p:nvSpPr>
          <p:spPr>
            <a:xfrm>
              <a:off x="8184928" y="321150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Прямоугольник 197">
              <a:extLst>
                <a:ext uri="{FF2B5EF4-FFF2-40B4-BE49-F238E27FC236}">
                  <a16:creationId xmlns:a16="http://schemas.microsoft.com/office/drawing/2014/main" id="{DEDAB9C8-20AB-02A8-D324-4D91DBED4874}"/>
                </a:ext>
              </a:extLst>
            </p:cNvPr>
            <p:cNvSpPr>
              <a:spLocks/>
            </p:cNvSpPr>
            <p:nvPr/>
          </p:nvSpPr>
          <p:spPr>
            <a:xfrm>
              <a:off x="8500744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Прямоугольник 199">
              <a:extLst>
                <a:ext uri="{FF2B5EF4-FFF2-40B4-BE49-F238E27FC236}">
                  <a16:creationId xmlns:a16="http://schemas.microsoft.com/office/drawing/2014/main" id="{3B35967C-006D-C8C2-CDD8-20691BF86482}"/>
                </a:ext>
              </a:extLst>
            </p:cNvPr>
            <p:cNvSpPr>
              <a:spLocks/>
            </p:cNvSpPr>
            <p:nvPr/>
          </p:nvSpPr>
          <p:spPr>
            <a:xfrm>
              <a:off x="7062555" y="3502382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2" name="Прямоугольник 201">
              <a:extLst>
                <a:ext uri="{FF2B5EF4-FFF2-40B4-BE49-F238E27FC236}">
                  <a16:creationId xmlns:a16="http://schemas.microsoft.com/office/drawing/2014/main" id="{02E50548-A58B-043A-5DEE-14B9F7421BAF}"/>
                </a:ext>
              </a:extLst>
            </p:cNvPr>
            <p:cNvSpPr>
              <a:spLocks/>
            </p:cNvSpPr>
            <p:nvPr/>
          </p:nvSpPr>
          <p:spPr>
            <a:xfrm>
              <a:off x="7526221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4" name="Прямоугольник 203">
              <a:extLst>
                <a:ext uri="{FF2B5EF4-FFF2-40B4-BE49-F238E27FC236}">
                  <a16:creationId xmlns:a16="http://schemas.microsoft.com/office/drawing/2014/main" id="{CC52CF10-67D0-C0A0-C862-1CB0B132DC68}"/>
                </a:ext>
              </a:extLst>
            </p:cNvPr>
            <p:cNvSpPr>
              <a:spLocks/>
            </p:cNvSpPr>
            <p:nvPr/>
          </p:nvSpPr>
          <p:spPr>
            <a:xfrm>
              <a:off x="7199770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Прямоугольник 205">
              <a:extLst>
                <a:ext uri="{FF2B5EF4-FFF2-40B4-BE49-F238E27FC236}">
                  <a16:creationId xmlns:a16="http://schemas.microsoft.com/office/drawing/2014/main" id="{4E48B85F-76F6-03A7-6CA9-D2ED261FFC0E}"/>
                </a:ext>
              </a:extLst>
            </p:cNvPr>
            <p:cNvSpPr>
              <a:spLocks/>
            </p:cNvSpPr>
            <p:nvPr/>
          </p:nvSpPr>
          <p:spPr>
            <a:xfrm>
              <a:off x="7859677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8" name="Прямоугольник 207">
              <a:extLst>
                <a:ext uri="{FF2B5EF4-FFF2-40B4-BE49-F238E27FC236}">
                  <a16:creationId xmlns:a16="http://schemas.microsoft.com/office/drawing/2014/main" id="{797CDA96-4E83-7DC3-FDD8-FF10A0BEAEB6}"/>
                </a:ext>
              </a:extLst>
            </p:cNvPr>
            <p:cNvSpPr>
              <a:spLocks/>
            </p:cNvSpPr>
            <p:nvPr/>
          </p:nvSpPr>
          <p:spPr>
            <a:xfrm>
              <a:off x="8184460" y="351870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0" name="Прямоугольник 209">
              <a:extLst>
                <a:ext uri="{FF2B5EF4-FFF2-40B4-BE49-F238E27FC236}">
                  <a16:creationId xmlns:a16="http://schemas.microsoft.com/office/drawing/2014/main" id="{A6E0A927-D840-E646-F6C1-02DF6FA78AF7}"/>
                </a:ext>
              </a:extLst>
            </p:cNvPr>
            <p:cNvSpPr>
              <a:spLocks/>
            </p:cNvSpPr>
            <p:nvPr/>
          </p:nvSpPr>
          <p:spPr>
            <a:xfrm>
              <a:off x="8500276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2" name="Прямоугольник 211">
              <a:extLst>
                <a:ext uri="{FF2B5EF4-FFF2-40B4-BE49-F238E27FC236}">
                  <a16:creationId xmlns:a16="http://schemas.microsoft.com/office/drawing/2014/main" id="{ADD16EF7-9AA8-5DA1-ABA8-2F8E3B14D9DC}"/>
                </a:ext>
              </a:extLst>
            </p:cNvPr>
            <p:cNvSpPr>
              <a:spLocks/>
            </p:cNvSpPr>
            <p:nvPr/>
          </p:nvSpPr>
          <p:spPr>
            <a:xfrm>
              <a:off x="7062086" y="3810883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4" name="Прямоугольник 213">
              <a:extLst>
                <a:ext uri="{FF2B5EF4-FFF2-40B4-BE49-F238E27FC236}">
                  <a16:creationId xmlns:a16="http://schemas.microsoft.com/office/drawing/2014/main" id="{3B9F2DA0-B780-6070-3E02-8E91390128DB}"/>
                </a:ext>
              </a:extLst>
            </p:cNvPr>
            <p:cNvSpPr>
              <a:spLocks/>
            </p:cNvSpPr>
            <p:nvPr/>
          </p:nvSpPr>
          <p:spPr>
            <a:xfrm>
              <a:off x="7525752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6" name="Прямоугольник 215">
              <a:extLst>
                <a:ext uri="{FF2B5EF4-FFF2-40B4-BE49-F238E27FC236}">
                  <a16:creationId xmlns:a16="http://schemas.microsoft.com/office/drawing/2014/main" id="{1513877A-1834-22C5-E7A6-69D16DFF86C2}"/>
                </a:ext>
              </a:extLst>
            </p:cNvPr>
            <p:cNvSpPr>
              <a:spLocks/>
            </p:cNvSpPr>
            <p:nvPr/>
          </p:nvSpPr>
          <p:spPr>
            <a:xfrm>
              <a:off x="7199301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8" name="Прямоугольник 217">
              <a:extLst>
                <a:ext uri="{FF2B5EF4-FFF2-40B4-BE49-F238E27FC236}">
                  <a16:creationId xmlns:a16="http://schemas.microsoft.com/office/drawing/2014/main" id="{B13D0D97-7DDF-A06B-9388-7542EBD0EFF2}"/>
                </a:ext>
              </a:extLst>
            </p:cNvPr>
            <p:cNvSpPr>
              <a:spLocks/>
            </p:cNvSpPr>
            <p:nvPr/>
          </p:nvSpPr>
          <p:spPr>
            <a:xfrm>
              <a:off x="7859208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0" name="Прямоугольник 219">
              <a:extLst>
                <a:ext uri="{FF2B5EF4-FFF2-40B4-BE49-F238E27FC236}">
                  <a16:creationId xmlns:a16="http://schemas.microsoft.com/office/drawing/2014/main" id="{4E582802-3629-40F2-C97A-57FCCCB5F969}"/>
                </a:ext>
              </a:extLst>
            </p:cNvPr>
            <p:cNvSpPr>
              <a:spLocks/>
            </p:cNvSpPr>
            <p:nvPr/>
          </p:nvSpPr>
          <p:spPr>
            <a:xfrm>
              <a:off x="8183991" y="3827206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2" name="Прямоугольник 221">
              <a:extLst>
                <a:ext uri="{FF2B5EF4-FFF2-40B4-BE49-F238E27FC236}">
                  <a16:creationId xmlns:a16="http://schemas.microsoft.com/office/drawing/2014/main" id="{7BDC3377-6060-447D-9FC8-B6CCEDA9685B}"/>
                </a:ext>
              </a:extLst>
            </p:cNvPr>
            <p:cNvSpPr>
              <a:spLocks/>
            </p:cNvSpPr>
            <p:nvPr/>
          </p:nvSpPr>
          <p:spPr>
            <a:xfrm>
              <a:off x="8499807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3" name="Прямоугольник 222">
              <a:extLst>
                <a:ext uri="{FF2B5EF4-FFF2-40B4-BE49-F238E27FC236}">
                  <a16:creationId xmlns:a16="http://schemas.microsoft.com/office/drawing/2014/main" id="{D37F8AE5-7E03-2F64-DC19-B76E4ED323B3}"/>
                </a:ext>
              </a:extLst>
            </p:cNvPr>
            <p:cNvSpPr>
              <a:spLocks/>
            </p:cNvSpPr>
            <p:nvPr/>
          </p:nvSpPr>
          <p:spPr>
            <a:xfrm>
              <a:off x="7062084" y="4117625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4" name="Прямоугольник 223">
              <a:extLst>
                <a:ext uri="{FF2B5EF4-FFF2-40B4-BE49-F238E27FC236}">
                  <a16:creationId xmlns:a16="http://schemas.microsoft.com/office/drawing/2014/main" id="{D0F775D5-116B-A65D-A7E9-92C6DBEBE884}"/>
                </a:ext>
              </a:extLst>
            </p:cNvPr>
            <p:cNvSpPr>
              <a:spLocks/>
            </p:cNvSpPr>
            <p:nvPr/>
          </p:nvSpPr>
          <p:spPr>
            <a:xfrm>
              <a:off x="7525750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5" name="Прямоугольник 224">
              <a:extLst>
                <a:ext uri="{FF2B5EF4-FFF2-40B4-BE49-F238E27FC236}">
                  <a16:creationId xmlns:a16="http://schemas.microsoft.com/office/drawing/2014/main" id="{E8FCC3A2-5D6E-E345-7644-DD4D8FD18B06}"/>
                </a:ext>
              </a:extLst>
            </p:cNvPr>
            <p:cNvSpPr>
              <a:spLocks/>
            </p:cNvSpPr>
            <p:nvPr/>
          </p:nvSpPr>
          <p:spPr>
            <a:xfrm>
              <a:off x="7199299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6" name="Прямоугольник 225">
              <a:extLst>
                <a:ext uri="{FF2B5EF4-FFF2-40B4-BE49-F238E27FC236}">
                  <a16:creationId xmlns:a16="http://schemas.microsoft.com/office/drawing/2014/main" id="{0FB0730B-EB9E-EAD7-A9B6-32761B65605A}"/>
                </a:ext>
              </a:extLst>
            </p:cNvPr>
            <p:cNvSpPr>
              <a:spLocks/>
            </p:cNvSpPr>
            <p:nvPr/>
          </p:nvSpPr>
          <p:spPr>
            <a:xfrm>
              <a:off x="7859206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7" name="Прямоугольник 226">
              <a:extLst>
                <a:ext uri="{FF2B5EF4-FFF2-40B4-BE49-F238E27FC236}">
                  <a16:creationId xmlns:a16="http://schemas.microsoft.com/office/drawing/2014/main" id="{05E35FE4-3E78-7D1B-B1EF-68553C005505}"/>
                </a:ext>
              </a:extLst>
            </p:cNvPr>
            <p:cNvSpPr>
              <a:spLocks/>
            </p:cNvSpPr>
            <p:nvPr/>
          </p:nvSpPr>
          <p:spPr>
            <a:xfrm>
              <a:off x="8183989" y="4133948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8" name="Прямоугольник 227">
              <a:extLst>
                <a:ext uri="{FF2B5EF4-FFF2-40B4-BE49-F238E27FC236}">
                  <a16:creationId xmlns:a16="http://schemas.microsoft.com/office/drawing/2014/main" id="{B571DEB3-D2A9-7391-E3FB-ADAEFF85E66C}"/>
                </a:ext>
              </a:extLst>
            </p:cNvPr>
            <p:cNvSpPr>
              <a:spLocks/>
            </p:cNvSpPr>
            <p:nvPr/>
          </p:nvSpPr>
          <p:spPr>
            <a:xfrm>
              <a:off x="8499805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9" name="Прямоугольник 228">
              <a:extLst>
                <a:ext uri="{FF2B5EF4-FFF2-40B4-BE49-F238E27FC236}">
                  <a16:creationId xmlns:a16="http://schemas.microsoft.com/office/drawing/2014/main" id="{A7185756-2C55-166C-A7EE-2B0D65D003F4}"/>
                </a:ext>
              </a:extLst>
            </p:cNvPr>
            <p:cNvSpPr>
              <a:spLocks/>
            </p:cNvSpPr>
            <p:nvPr/>
          </p:nvSpPr>
          <p:spPr>
            <a:xfrm>
              <a:off x="7062084" y="4426841"/>
              <a:ext cx="819017" cy="402561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1" name="Прямоугольник 230">
              <a:extLst>
                <a:ext uri="{FF2B5EF4-FFF2-40B4-BE49-F238E27FC236}">
                  <a16:creationId xmlns:a16="http://schemas.microsoft.com/office/drawing/2014/main" id="{297699B7-2B79-603E-4E22-32A2E80DC70B}"/>
                </a:ext>
              </a:extLst>
            </p:cNvPr>
            <p:cNvSpPr>
              <a:spLocks/>
            </p:cNvSpPr>
            <p:nvPr/>
          </p:nvSpPr>
          <p:spPr>
            <a:xfrm>
              <a:off x="7890713" y="4426840"/>
              <a:ext cx="819017" cy="402561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C1A28CA3-B0B0-B90D-D67E-80AABFCC6C24}"/>
              </a:ext>
            </a:extLst>
          </p:cNvPr>
          <p:cNvSpPr txBox="1"/>
          <p:nvPr/>
        </p:nvSpPr>
        <p:spPr>
          <a:xfrm>
            <a:off x="9103946" y="4610456"/>
            <a:ext cx="17315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6. </a:t>
            </a:r>
            <a:r>
              <a:rPr lang="ru-RU" sz="1600" dirty="0" err="1">
                <a:latin typeface="Bahnschrift SemiBold Condensed" panose="020B0502040204020203" pitchFamily="34" charset="0"/>
              </a:rPr>
              <a:t>Постаматная</a:t>
            </a:r>
            <a:r>
              <a:rPr lang="ru-RU" sz="1600" dirty="0">
                <a:latin typeface="Bahnschrift SemiBold Condensed" panose="020B0502040204020203" pitchFamily="34" charset="0"/>
              </a:rPr>
              <a:t> секция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F3B4276-9945-2422-4538-9FA5488371AD}"/>
              </a:ext>
            </a:extLst>
          </p:cNvPr>
          <p:cNvSpPr txBox="1"/>
          <p:nvPr/>
        </p:nvSpPr>
        <p:spPr>
          <a:xfrm>
            <a:off x="9096834" y="4874603"/>
            <a:ext cx="22032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Предусмотрена для возврата ТМЦ или хранения габаритного инструмента (комплектов для сменных заданий)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Может быть использована как персональное хранилище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Размер ячеек и комплектация настраиваются персонально – под задачи</a:t>
            </a:r>
          </a:p>
          <a:p>
            <a:pPr algn="just"/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44" name="Прямоугольник 243">
            <a:extLst>
              <a:ext uri="{FF2B5EF4-FFF2-40B4-BE49-F238E27FC236}">
                <a16:creationId xmlns:a16="http://schemas.microsoft.com/office/drawing/2014/main" id="{16CE01F1-AFA5-D48D-C8D0-56153100CCEA}"/>
              </a:ext>
            </a:extLst>
          </p:cNvPr>
          <p:cNvSpPr/>
          <p:nvPr/>
        </p:nvSpPr>
        <p:spPr>
          <a:xfrm>
            <a:off x="7001560" y="4291013"/>
            <a:ext cx="1345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6" name="Прямоугольник 245">
            <a:extLst>
              <a:ext uri="{FF2B5EF4-FFF2-40B4-BE49-F238E27FC236}">
                <a16:creationId xmlns:a16="http://schemas.microsoft.com/office/drawing/2014/main" id="{4CE07E0A-D207-9A21-2A15-F32D06EFF296}"/>
              </a:ext>
            </a:extLst>
          </p:cNvPr>
          <p:cNvSpPr/>
          <p:nvPr/>
        </p:nvSpPr>
        <p:spPr>
          <a:xfrm>
            <a:off x="7837378" y="4291012"/>
            <a:ext cx="13451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543152C-9A20-9393-4D73-B74AAB1B31EE}"/>
              </a:ext>
            </a:extLst>
          </p:cNvPr>
          <p:cNvSpPr txBox="1"/>
          <p:nvPr/>
        </p:nvSpPr>
        <p:spPr>
          <a:xfrm>
            <a:off x="9093679" y="2901683"/>
            <a:ext cx="26196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5. Дополнительные отсеки возврата</a:t>
            </a:r>
            <a:br>
              <a:rPr lang="ru-RU" sz="1600" dirty="0">
                <a:latin typeface="Bahnschrift SemiBold Condensed" panose="020B0502040204020203" pitchFamily="34" charset="0"/>
              </a:rPr>
            </a:br>
            <a:r>
              <a:rPr lang="ru-RU" sz="1600" dirty="0">
                <a:latin typeface="Bahnschrift SemiBold Condensed" panose="020B0502040204020203" pitchFamily="34" charset="0"/>
              </a:rPr>
              <a:t>(Опционально)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DDAB43E-0423-B63F-3334-93179C5B7619}"/>
              </a:ext>
            </a:extLst>
          </p:cNvPr>
          <p:cNvSpPr txBox="1"/>
          <p:nvPr/>
        </p:nvSpPr>
        <p:spPr>
          <a:xfrm>
            <a:off x="9093679" y="3388006"/>
            <a:ext cx="24856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Устройство возможно оснастить дополнительным отсеками для сдачи инструмента: 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5.1 Для сдачи в лом: отсек дополнительно может оснащаться весовым устройством</a:t>
            </a:r>
          </a:p>
          <a:p>
            <a:pPr algn="just"/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 Condensed" panose="020B0502040204020203" pitchFamily="34" charset="0"/>
              </a:rPr>
              <a:t>5.2 Для сдачи в переточку/ремонт</a:t>
            </a:r>
          </a:p>
          <a:p>
            <a:pPr algn="just"/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2944422F-040C-BE21-4083-DA27B708D4CD}"/>
              </a:ext>
            </a:extLst>
          </p:cNvPr>
          <p:cNvSpPr txBox="1"/>
          <p:nvPr/>
        </p:nvSpPr>
        <p:spPr>
          <a:xfrm>
            <a:off x="6593799" y="4173087"/>
            <a:ext cx="330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5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72BD74A-E659-E583-E42B-D0E212525D96}"/>
              </a:ext>
            </a:extLst>
          </p:cNvPr>
          <p:cNvSpPr txBox="1"/>
          <p:nvPr/>
        </p:nvSpPr>
        <p:spPr>
          <a:xfrm>
            <a:off x="7327444" y="2665045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latin typeface="Bahnschrift SemiBold Condensed" panose="020B0502040204020203" pitchFamily="34" charset="0"/>
              </a:rPr>
              <a:t>6</a:t>
            </a:r>
          </a:p>
        </p:txBody>
      </p:sp>
      <p:sp>
        <p:nvSpPr>
          <p:cNvPr id="254" name="Объект 2">
            <a:extLst>
              <a:ext uri="{FF2B5EF4-FFF2-40B4-BE49-F238E27FC236}">
                <a16:creationId xmlns:a16="http://schemas.microsoft.com/office/drawing/2014/main" id="{B343EABE-0131-BFF6-38EA-5BE4BF069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0149"/>
            <a:ext cx="10984832" cy="461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	Архитектура устройства объединяет в себе разные подходы к способу хранения, выдачи и возврата инструмента</a:t>
            </a:r>
          </a:p>
        </p:txBody>
      </p:sp>
      <p:pic>
        <p:nvPicPr>
          <p:cNvPr id="256" name="Рисунок 255" descr="Мишень со сплошной заливкой">
            <a:extLst>
              <a:ext uri="{FF2B5EF4-FFF2-40B4-BE49-F238E27FC236}">
                <a16:creationId xmlns:a16="http://schemas.microsoft.com/office/drawing/2014/main" id="{7FC8790A-285C-5A3A-8506-B90CD5B1BF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38486" y="4365203"/>
            <a:ext cx="260659" cy="260659"/>
          </a:xfrm>
          <a:prstGeom prst="rect">
            <a:avLst/>
          </a:prstGeom>
        </p:spPr>
      </p:pic>
      <p:pic>
        <p:nvPicPr>
          <p:cNvPr id="258" name="Рисунок 257" descr="Передача со сплошной заливкой">
            <a:extLst>
              <a:ext uri="{FF2B5EF4-FFF2-40B4-BE49-F238E27FC236}">
                <a16:creationId xmlns:a16="http://schemas.microsoft.com/office/drawing/2014/main" id="{2E878EA2-0AC0-30F4-6301-A1A0B4D8F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03756" y="4394655"/>
            <a:ext cx="201756" cy="20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530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1DE7707-0013-86D5-3549-24ABC32CF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82" y="2134612"/>
            <a:ext cx="818296" cy="818296"/>
          </a:xfrm>
          <a:prstGeom prst="rect">
            <a:avLst/>
          </a:prstGeom>
        </p:spPr>
      </p:pic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0A125ADE-A358-3414-C82F-3FA46E63EB29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«Уралец». Процесс выдачи и возврата 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2ED92A8-3276-FBE5-E398-C15506C8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0148"/>
            <a:ext cx="11887200" cy="782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	Все операции выполняются через встроенный интерфейс с автоматическим контролем доступа и ведением реестра операций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625C0E4-3454-3161-C42B-B8FE4ADA23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88" y="1629179"/>
            <a:ext cx="818296" cy="81829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5EF9E04-84C0-B0BA-D8FF-F7F7FF9E0A10}"/>
              </a:ext>
            </a:extLst>
          </p:cNvPr>
          <p:cNvSpPr txBox="1"/>
          <p:nvPr/>
        </p:nvSpPr>
        <p:spPr>
          <a:xfrm>
            <a:off x="1610807" y="1672741"/>
            <a:ext cx="24336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Авторизация</a:t>
            </a:r>
            <a:r>
              <a:rPr lang="ru-RU" sz="1400" dirty="0">
                <a:latin typeface="Bahnschrift SemiBold Condensed" panose="020B0502040204020203" pitchFamily="34" charset="0"/>
              </a:rPr>
              <a:t> пользователя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Устройство поддерживает </a:t>
            </a:r>
            <a:r>
              <a:rPr lang="ru-RU" sz="11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авторизацию</a:t>
            </a:r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по </a:t>
            </a:r>
          </a:p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RFID-</a:t>
            </a:r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ключу (карты) или логин-паролю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Также возможна 2-факторная авторизация:</a:t>
            </a:r>
            <a:b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RFID-</a:t>
            </a:r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карта + ввод </a:t>
            </a:r>
            <a:r>
              <a:rPr lang="en-US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PIN-</a:t>
            </a:r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кода</a:t>
            </a:r>
          </a:p>
        </p:txBody>
      </p:sp>
      <p:sp>
        <p:nvSpPr>
          <p:cNvPr id="30" name="Прямоугольник: один усеченный угол 29">
            <a:extLst>
              <a:ext uri="{FF2B5EF4-FFF2-40B4-BE49-F238E27FC236}">
                <a16:creationId xmlns:a16="http://schemas.microsoft.com/office/drawing/2014/main" id="{DE4C4C35-7486-482A-5FC2-09CA26112E48}"/>
              </a:ext>
            </a:extLst>
          </p:cNvPr>
          <p:cNvSpPr/>
          <p:nvPr/>
        </p:nvSpPr>
        <p:spPr>
          <a:xfrm>
            <a:off x="705853" y="1672742"/>
            <a:ext cx="3167035" cy="1010462"/>
          </a:xfrm>
          <a:prstGeom prst="snip1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DDAF3D6-A92D-E140-4476-145A0D4BC2AC}"/>
              </a:ext>
            </a:extLst>
          </p:cNvPr>
          <p:cNvSpPr/>
          <p:nvPr/>
        </p:nvSpPr>
        <p:spPr>
          <a:xfrm>
            <a:off x="495778" y="1672742"/>
            <a:ext cx="323810" cy="1010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Bahnschrift SemiBold Condensed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50A459-68E7-6270-8D8E-3D63382987A0}"/>
              </a:ext>
            </a:extLst>
          </p:cNvPr>
          <p:cNvSpPr txBox="1"/>
          <p:nvPr/>
        </p:nvSpPr>
        <p:spPr>
          <a:xfrm>
            <a:off x="5512925" y="1688371"/>
            <a:ext cx="243368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Bahnschrift SemiBold Condensed" panose="020B0502040204020203" pitchFamily="34" charset="0"/>
              </a:rPr>
              <a:t>Режим работы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Самостоятельный выбор ТМЦ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Получение по сменному заданию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Выдача в соответствии с тех. заданием по штрих-коду / коду задания</a:t>
            </a:r>
          </a:p>
          <a:p>
            <a:pPr marL="171450" indent="-171450">
              <a:buFontTx/>
              <a:buChar char="-"/>
            </a:pPr>
            <a:endParaRPr lang="ru-RU" sz="11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59" name="Прямоугольник: один усеченный угол 58">
            <a:extLst>
              <a:ext uri="{FF2B5EF4-FFF2-40B4-BE49-F238E27FC236}">
                <a16:creationId xmlns:a16="http://schemas.microsoft.com/office/drawing/2014/main" id="{DE8274B7-1B4B-7753-8764-C78DFF59DF17}"/>
              </a:ext>
            </a:extLst>
          </p:cNvPr>
          <p:cNvSpPr/>
          <p:nvPr/>
        </p:nvSpPr>
        <p:spPr>
          <a:xfrm>
            <a:off x="4607971" y="1672741"/>
            <a:ext cx="3167035" cy="1010462"/>
          </a:xfrm>
          <a:prstGeom prst="snip1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68DA338C-9D50-1847-99F2-62396EB888D1}"/>
              </a:ext>
            </a:extLst>
          </p:cNvPr>
          <p:cNvSpPr/>
          <p:nvPr/>
        </p:nvSpPr>
        <p:spPr>
          <a:xfrm>
            <a:off x="4397896" y="1672741"/>
            <a:ext cx="323810" cy="1010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Bahnschrift SemiBold Condensed" panose="020B0502040204020203" pitchFamily="34" charset="0"/>
              </a:rPr>
              <a:t>2</a:t>
            </a:r>
          </a:p>
        </p:txBody>
      </p:sp>
      <p:pic>
        <p:nvPicPr>
          <p:cNvPr id="63" name="Рисунок 62" descr="Преподаватель со сплошной заливкой">
            <a:extLst>
              <a:ext uri="{FF2B5EF4-FFF2-40B4-BE49-F238E27FC236}">
                <a16:creationId xmlns:a16="http://schemas.microsoft.com/office/drawing/2014/main" id="{7A4BABDF-0C86-E4F1-A46B-A39F7469E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4401" y="1798710"/>
            <a:ext cx="758524" cy="75852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64B6328F-6E40-7B0C-1FEB-4EA179B31576}"/>
              </a:ext>
            </a:extLst>
          </p:cNvPr>
          <p:cNvSpPr txBox="1"/>
          <p:nvPr/>
        </p:nvSpPr>
        <p:spPr>
          <a:xfrm>
            <a:off x="9434141" y="1688371"/>
            <a:ext cx="243368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Bahnschrift SemiBold Condensed" panose="020B0502040204020203" pitchFamily="34" charset="0"/>
              </a:rPr>
              <a:t>Выдача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Самостоятельный выбор ТМЦ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Получение по сменному заданию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Выдача в соответствии с тех. заданием</a:t>
            </a:r>
          </a:p>
          <a:p>
            <a:pPr marL="171450" indent="-171450">
              <a:buFontTx/>
              <a:buChar char="-"/>
            </a:pPr>
            <a:endParaRPr lang="ru-RU" sz="11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67" name="Прямоугольник: один усеченный угол 66">
            <a:extLst>
              <a:ext uri="{FF2B5EF4-FFF2-40B4-BE49-F238E27FC236}">
                <a16:creationId xmlns:a16="http://schemas.microsoft.com/office/drawing/2014/main" id="{09560BAB-9216-C905-D569-0FF6D78F7AE6}"/>
              </a:ext>
            </a:extLst>
          </p:cNvPr>
          <p:cNvSpPr/>
          <p:nvPr/>
        </p:nvSpPr>
        <p:spPr>
          <a:xfrm>
            <a:off x="8529187" y="1672741"/>
            <a:ext cx="3167035" cy="1010462"/>
          </a:xfrm>
          <a:prstGeom prst="snip1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BBD8D5B7-4F6E-D848-86F7-52F5E7A4F55E}"/>
              </a:ext>
            </a:extLst>
          </p:cNvPr>
          <p:cNvSpPr/>
          <p:nvPr/>
        </p:nvSpPr>
        <p:spPr>
          <a:xfrm>
            <a:off x="8319112" y="1672741"/>
            <a:ext cx="323810" cy="1010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Bahnschrift SemiBold Condensed" panose="020B0502040204020203" pitchFamily="34" charset="0"/>
              </a:rPr>
              <a:t>3</a:t>
            </a:r>
          </a:p>
        </p:txBody>
      </p:sp>
      <p:cxnSp>
        <p:nvCxnSpPr>
          <p:cNvPr id="73" name="Прямая со стрелкой 72">
            <a:extLst>
              <a:ext uri="{FF2B5EF4-FFF2-40B4-BE49-F238E27FC236}">
                <a16:creationId xmlns:a16="http://schemas.microsoft.com/office/drawing/2014/main" id="{E7B86906-8EED-01A8-20B1-11CBAB5E59F9}"/>
              </a:ext>
            </a:extLst>
          </p:cNvPr>
          <p:cNvCxnSpPr>
            <a:stCxn id="30" idx="0"/>
            <a:endCxn id="61" idx="1"/>
          </p:cNvCxnSpPr>
          <p:nvPr/>
        </p:nvCxnSpPr>
        <p:spPr>
          <a:xfrm flipV="1">
            <a:off x="3872888" y="2177972"/>
            <a:ext cx="525008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88B99079-F797-B471-4AB6-309D630F2836}"/>
              </a:ext>
            </a:extLst>
          </p:cNvPr>
          <p:cNvCxnSpPr>
            <a:stCxn id="59" idx="0"/>
            <a:endCxn id="69" idx="1"/>
          </p:cNvCxnSpPr>
          <p:nvPr/>
        </p:nvCxnSpPr>
        <p:spPr>
          <a:xfrm>
            <a:off x="7775006" y="2177972"/>
            <a:ext cx="544106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8E369731-76F9-CFE1-44E1-FDA8126B0283}"/>
              </a:ext>
            </a:extLst>
          </p:cNvPr>
          <p:cNvCxnSpPr/>
          <p:nvPr/>
        </p:nvCxnSpPr>
        <p:spPr>
          <a:xfrm>
            <a:off x="4121331" y="2177972"/>
            <a:ext cx="0" cy="77493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Прямоугольник: скругленные углы 77">
            <a:extLst>
              <a:ext uri="{FF2B5EF4-FFF2-40B4-BE49-F238E27FC236}">
                <a16:creationId xmlns:a16="http://schemas.microsoft.com/office/drawing/2014/main" id="{F99BA2A6-BAF9-33DC-88DE-9CDE039C1A54}"/>
              </a:ext>
            </a:extLst>
          </p:cNvPr>
          <p:cNvSpPr/>
          <p:nvPr/>
        </p:nvSpPr>
        <p:spPr>
          <a:xfrm>
            <a:off x="3268979" y="2946083"/>
            <a:ext cx="1704703" cy="704985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Идентификация пользователя</a:t>
            </a:r>
            <a:b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Регистрация входа в систему</a:t>
            </a:r>
            <a:b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Применение политики прав</a:t>
            </a:r>
            <a:b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Проверка наличия заданий</a:t>
            </a: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0775CE90-32F2-6DD4-61E8-E54E35F0FAD2}"/>
              </a:ext>
            </a:extLst>
          </p:cNvPr>
          <p:cNvCxnSpPr>
            <a:cxnSpLocks/>
          </p:cNvCxnSpPr>
          <p:nvPr/>
        </p:nvCxnSpPr>
        <p:spPr>
          <a:xfrm>
            <a:off x="8047059" y="2177972"/>
            <a:ext cx="0" cy="76214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47A583E4-A915-96BD-5506-FB61A9A6681F}"/>
              </a:ext>
            </a:extLst>
          </p:cNvPr>
          <p:cNvSpPr/>
          <p:nvPr/>
        </p:nvSpPr>
        <p:spPr>
          <a:xfrm>
            <a:off x="6826677" y="2952908"/>
            <a:ext cx="2433678" cy="704987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2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Формирование задания на выдачу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Проверка остатков (создание уведомлений)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Присвоение выбранных ТМЦ учетной записи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Списание товаров со склада в учетной системе</a:t>
            </a:r>
          </a:p>
          <a:p>
            <a:pPr algn="ctr"/>
            <a:endParaRPr lang="ru-RU" sz="12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83" name="Рисунок 82" descr="Шевроны со сплошной заливкой">
            <a:extLst>
              <a:ext uri="{FF2B5EF4-FFF2-40B4-BE49-F238E27FC236}">
                <a16:creationId xmlns:a16="http://schemas.microsoft.com/office/drawing/2014/main" id="{06C02CE6-B937-E9D5-ED05-7C02526B92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4899" y="1848345"/>
            <a:ext cx="659254" cy="659254"/>
          </a:xfrm>
          <a:prstGeom prst="rect">
            <a:avLst/>
          </a:prstGeom>
        </p:spPr>
      </p:pic>
      <p:sp>
        <p:nvSpPr>
          <p:cNvPr id="86" name="Прямоугольник: один усеченный угол 85">
            <a:extLst>
              <a:ext uri="{FF2B5EF4-FFF2-40B4-BE49-F238E27FC236}">
                <a16:creationId xmlns:a16="http://schemas.microsoft.com/office/drawing/2014/main" id="{3B003F30-87CB-97E4-A6DD-62A3915D60B3}"/>
              </a:ext>
            </a:extLst>
          </p:cNvPr>
          <p:cNvSpPr/>
          <p:nvPr/>
        </p:nvSpPr>
        <p:spPr>
          <a:xfrm>
            <a:off x="8529187" y="5016838"/>
            <a:ext cx="3167035" cy="1010462"/>
          </a:xfrm>
          <a:prstGeom prst="snip1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7F084A72-F2AB-FA68-0664-B3E297AA99A4}"/>
              </a:ext>
            </a:extLst>
          </p:cNvPr>
          <p:cNvSpPr/>
          <p:nvPr/>
        </p:nvSpPr>
        <p:spPr>
          <a:xfrm>
            <a:off x="8319112" y="5016838"/>
            <a:ext cx="323810" cy="1010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Bahnschrift SemiBold Condensed" panose="020B0502040204020203" pitchFamily="34" charset="0"/>
              </a:rPr>
              <a:t>4</a:t>
            </a:r>
          </a:p>
        </p:txBody>
      </p:sp>
      <p:pic>
        <p:nvPicPr>
          <p:cNvPr id="90" name="Рисунок 89" descr="Шевроны со сплошной заливкой">
            <a:extLst>
              <a:ext uri="{FF2B5EF4-FFF2-40B4-BE49-F238E27FC236}">
                <a16:creationId xmlns:a16="http://schemas.microsoft.com/office/drawing/2014/main" id="{ACBD5260-8774-7D73-4E80-FEFF65725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754899" y="5192442"/>
            <a:ext cx="659254" cy="659254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99C0DC3F-37C2-8F19-9ACC-B6A7EEF9F547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717E90F-14C5-D506-9AF9-08DF1E97C84C}"/>
              </a:ext>
            </a:extLst>
          </p:cNvPr>
          <p:cNvSpPr txBox="1"/>
          <p:nvPr/>
        </p:nvSpPr>
        <p:spPr>
          <a:xfrm>
            <a:off x="9414153" y="5029626"/>
            <a:ext cx="239404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Bahnschrift SemiBold Condensed" panose="020B0502040204020203" pitchFamily="34" charset="0"/>
              </a:rPr>
              <a:t>Возврат (Через Авторизацию П.1)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В персональную ячейку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Для повторного использования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Для переточки, ремонта / сдачи в лом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Для поверки (измерительный инструмент)</a:t>
            </a:r>
          </a:p>
          <a:p>
            <a:pPr marL="171450" indent="-171450">
              <a:buFontTx/>
              <a:buChar char="-"/>
            </a:pPr>
            <a:endParaRPr lang="ru-RU" sz="11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5" name="Прямоугольник: один усеченный угол 94">
            <a:extLst>
              <a:ext uri="{FF2B5EF4-FFF2-40B4-BE49-F238E27FC236}">
                <a16:creationId xmlns:a16="http://schemas.microsoft.com/office/drawing/2014/main" id="{29704BE0-CDE9-D1D9-F813-5993F58CC0E1}"/>
              </a:ext>
            </a:extLst>
          </p:cNvPr>
          <p:cNvSpPr/>
          <p:nvPr/>
        </p:nvSpPr>
        <p:spPr>
          <a:xfrm>
            <a:off x="4603459" y="5016838"/>
            <a:ext cx="3167035" cy="1010462"/>
          </a:xfrm>
          <a:prstGeom prst="snip1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D97CCE54-4FB1-9281-B3EC-90C5C36EC3A2}"/>
              </a:ext>
            </a:extLst>
          </p:cNvPr>
          <p:cNvSpPr/>
          <p:nvPr/>
        </p:nvSpPr>
        <p:spPr>
          <a:xfrm>
            <a:off x="4393384" y="5016837"/>
            <a:ext cx="323810" cy="1010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Bahnschrift SemiBold Condensed" panose="020B0502040204020203" pitchFamily="34" charset="0"/>
              </a:rPr>
              <a:t>5</a:t>
            </a:r>
          </a:p>
        </p:txBody>
      </p:sp>
      <p:sp>
        <p:nvSpPr>
          <p:cNvPr id="103" name="Прямоугольник: один усеченный угол 102">
            <a:extLst>
              <a:ext uri="{FF2B5EF4-FFF2-40B4-BE49-F238E27FC236}">
                <a16:creationId xmlns:a16="http://schemas.microsoft.com/office/drawing/2014/main" id="{07513E1F-7E84-1229-7D86-E4D54A215F15}"/>
              </a:ext>
            </a:extLst>
          </p:cNvPr>
          <p:cNvSpPr/>
          <p:nvPr/>
        </p:nvSpPr>
        <p:spPr>
          <a:xfrm>
            <a:off x="694770" y="5016837"/>
            <a:ext cx="3167035" cy="1010462"/>
          </a:xfrm>
          <a:prstGeom prst="snip1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7F691AB-4D95-F885-78D2-E408F20A3319}"/>
              </a:ext>
            </a:extLst>
          </p:cNvPr>
          <p:cNvSpPr/>
          <p:nvPr/>
        </p:nvSpPr>
        <p:spPr>
          <a:xfrm>
            <a:off x="484695" y="5016837"/>
            <a:ext cx="323810" cy="101046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latin typeface="Bahnschrift SemiBold Condensed" panose="020B0502040204020203" pitchFamily="34" charset="0"/>
              </a:rPr>
              <a:t>6</a:t>
            </a:r>
          </a:p>
        </p:txBody>
      </p: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E9A62ACE-0DB7-F99E-25CC-F29D71C17F4F}"/>
              </a:ext>
            </a:extLst>
          </p:cNvPr>
          <p:cNvCxnSpPr>
            <a:stCxn id="67" idx="1"/>
            <a:endCxn id="86" idx="3"/>
          </p:cNvCxnSpPr>
          <p:nvPr/>
        </p:nvCxnSpPr>
        <p:spPr>
          <a:xfrm>
            <a:off x="10112705" y="2683203"/>
            <a:ext cx="0" cy="2333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Прямоугольник: скругленные углы 108">
            <a:extLst>
              <a:ext uri="{FF2B5EF4-FFF2-40B4-BE49-F238E27FC236}">
                <a16:creationId xmlns:a16="http://schemas.microsoft.com/office/drawing/2014/main" id="{FE81009D-570D-F56C-0DCD-07C00D6FFE30}"/>
              </a:ext>
            </a:extLst>
          </p:cNvPr>
          <p:cNvSpPr/>
          <p:nvPr/>
        </p:nvSpPr>
        <p:spPr>
          <a:xfrm>
            <a:off x="10469421" y="3253762"/>
            <a:ext cx="1534881" cy="1197286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Информация о ТМЦ в реальном времени: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1. Количество</a:t>
            </a:r>
            <a:b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2. ФИО сотрудника</a:t>
            </a:r>
            <a:b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3. Станок, операция, деталь</a:t>
            </a:r>
            <a:b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4. Период использования / Время использования</a:t>
            </a:r>
          </a:p>
        </p:txBody>
      </p:sp>
      <p:cxnSp>
        <p:nvCxnSpPr>
          <p:cNvPr id="114" name="Прямая соединительная линия 113">
            <a:extLst>
              <a:ext uri="{FF2B5EF4-FFF2-40B4-BE49-F238E27FC236}">
                <a16:creationId xmlns:a16="http://schemas.microsoft.com/office/drawing/2014/main" id="{E8AFE46B-CB81-BDDC-AEEB-0B8A0263A25F}"/>
              </a:ext>
            </a:extLst>
          </p:cNvPr>
          <p:cNvCxnSpPr>
            <a:stCxn id="109" idx="1"/>
          </p:cNvCxnSpPr>
          <p:nvPr/>
        </p:nvCxnSpPr>
        <p:spPr>
          <a:xfrm flipH="1" flipV="1">
            <a:off x="10112704" y="3850020"/>
            <a:ext cx="356717" cy="238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B272BA02-7717-6080-1AD2-95557B262601}"/>
              </a:ext>
            </a:extLst>
          </p:cNvPr>
          <p:cNvCxnSpPr>
            <a:stCxn id="88" idx="1"/>
            <a:endCxn id="95" idx="0"/>
          </p:cNvCxnSpPr>
          <p:nvPr/>
        </p:nvCxnSpPr>
        <p:spPr>
          <a:xfrm flipH="1">
            <a:off x="7770494" y="5522069"/>
            <a:ext cx="548618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Рисунок 120" descr="Мишень со сплошной заливкой">
            <a:extLst>
              <a:ext uri="{FF2B5EF4-FFF2-40B4-BE49-F238E27FC236}">
                <a16:creationId xmlns:a16="http://schemas.microsoft.com/office/drawing/2014/main" id="{4CB9F8B3-3CCD-9DBF-B7BE-3D2BBDD020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2761" y="5147531"/>
            <a:ext cx="777923" cy="777923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307E8DA6-E3AE-15FF-37A0-510FEFA1A51A}"/>
              </a:ext>
            </a:extLst>
          </p:cNvPr>
          <p:cNvSpPr txBox="1"/>
          <p:nvPr/>
        </p:nvSpPr>
        <p:spPr>
          <a:xfrm>
            <a:off x="5510538" y="5016837"/>
            <a:ext cx="239404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Bahnschrift SemiBold Condensed" panose="020B0502040204020203" pitchFamily="34" charset="0"/>
              </a:rPr>
              <a:t>Обновление остатков на складах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Система в реальном времени регистрирует изменениях на складах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Сбор информации о невозвратах (создание инцидентов)</a:t>
            </a:r>
          </a:p>
          <a:p>
            <a:pPr marL="171450" indent="-171450">
              <a:buFontTx/>
              <a:buChar char="-"/>
            </a:pPr>
            <a:endParaRPr lang="ru-RU" sz="11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125" name="Прямая со стрелкой 124">
            <a:extLst>
              <a:ext uri="{FF2B5EF4-FFF2-40B4-BE49-F238E27FC236}">
                <a16:creationId xmlns:a16="http://schemas.microsoft.com/office/drawing/2014/main" id="{0E741A65-C438-CD92-1B65-B122205F1D30}"/>
              </a:ext>
            </a:extLst>
          </p:cNvPr>
          <p:cNvCxnSpPr>
            <a:stCxn id="97" idx="1"/>
            <a:endCxn id="103" idx="0"/>
          </p:cNvCxnSpPr>
          <p:nvPr/>
        </p:nvCxnSpPr>
        <p:spPr>
          <a:xfrm flipH="1">
            <a:off x="3861805" y="5522068"/>
            <a:ext cx="531579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Прямоугольник: скругленные углы 127">
            <a:extLst>
              <a:ext uri="{FF2B5EF4-FFF2-40B4-BE49-F238E27FC236}">
                <a16:creationId xmlns:a16="http://schemas.microsoft.com/office/drawing/2014/main" id="{C79BBFEA-94E6-725B-0C4D-7B026F527FC7}"/>
              </a:ext>
            </a:extLst>
          </p:cNvPr>
          <p:cNvSpPr/>
          <p:nvPr/>
        </p:nvSpPr>
        <p:spPr>
          <a:xfrm>
            <a:off x="6481417" y="4066075"/>
            <a:ext cx="3213098" cy="704987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sz="12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Проверка выданного перечня ТМЦ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Пополнение ячеек в соответствии с режимом возврата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Регистрация поступления ТМЦ присвоение статусов/мест хранения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Создание реестровых записей о возвращенных ТМЦ</a:t>
            </a:r>
          </a:p>
          <a:p>
            <a:pPr algn="ctr"/>
            <a:endParaRPr lang="ru-RU" sz="12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132" name="Прямая соединительная линия 131">
            <a:extLst>
              <a:ext uri="{FF2B5EF4-FFF2-40B4-BE49-F238E27FC236}">
                <a16:creationId xmlns:a16="http://schemas.microsoft.com/office/drawing/2014/main" id="{D69B84EF-9C2E-0D5C-3FCC-B2BA76317C62}"/>
              </a:ext>
            </a:extLst>
          </p:cNvPr>
          <p:cNvCxnSpPr>
            <a:cxnSpLocks/>
          </p:cNvCxnSpPr>
          <p:nvPr/>
        </p:nvCxnSpPr>
        <p:spPr>
          <a:xfrm>
            <a:off x="8087966" y="4761395"/>
            <a:ext cx="0" cy="772271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BB8EC7E9-E227-B715-7CDF-AEE937562237}"/>
              </a:ext>
            </a:extLst>
          </p:cNvPr>
          <p:cNvSpPr txBox="1"/>
          <p:nvPr/>
        </p:nvSpPr>
        <p:spPr>
          <a:xfrm>
            <a:off x="1597540" y="5012450"/>
            <a:ext cx="223468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Bahnschrift SemiBold Condensed" panose="020B0502040204020203" pitchFamily="34" charset="0"/>
              </a:rPr>
              <a:t>Аналитика и отчетность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Контроль режима эксплуатации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Уведомления об аварийных остатках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Создание заданий на пополнение</a:t>
            </a:r>
          </a:p>
          <a:p>
            <a:r>
              <a:rPr lang="ru-RU" sz="11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Прогнозирование складской программы</a:t>
            </a:r>
          </a:p>
        </p:txBody>
      </p:sp>
      <p:pic>
        <p:nvPicPr>
          <p:cNvPr id="136" name="Рисунок 135" descr="Документ со сплошной заливкой">
            <a:extLst>
              <a:ext uri="{FF2B5EF4-FFF2-40B4-BE49-F238E27FC236}">
                <a16:creationId xmlns:a16="http://schemas.microsoft.com/office/drawing/2014/main" id="{2850C746-D78A-F5B4-A43F-2196D405C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361" y="5185258"/>
            <a:ext cx="688390" cy="688390"/>
          </a:xfrm>
          <a:prstGeom prst="rect">
            <a:avLst/>
          </a:prstGeom>
        </p:spPr>
      </p:pic>
      <p:sp>
        <p:nvSpPr>
          <p:cNvPr id="138" name="Прямоугольник: скругленные углы 137">
            <a:extLst>
              <a:ext uri="{FF2B5EF4-FFF2-40B4-BE49-F238E27FC236}">
                <a16:creationId xmlns:a16="http://schemas.microsoft.com/office/drawing/2014/main" id="{9A9BB928-D914-1DEA-06A4-9294BECE5F70}"/>
              </a:ext>
            </a:extLst>
          </p:cNvPr>
          <p:cNvSpPr/>
          <p:nvPr/>
        </p:nvSpPr>
        <p:spPr>
          <a:xfrm>
            <a:off x="2455817" y="4086004"/>
            <a:ext cx="3359150" cy="704987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Информация о наличии ТМЦ в ячейках на складах</a:t>
            </a:r>
            <a:b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Реестровые записи о действиях на устройствах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Информация о недостачах (Сотрудник, ТМЦ, Количество…)</a:t>
            </a:r>
          </a:p>
          <a:p>
            <a:r>
              <a:rPr lang="ru-RU" sz="1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Лог ошибок возникших во время работы (Текущее состояние системы)</a:t>
            </a:r>
          </a:p>
        </p:txBody>
      </p:sp>
      <p:cxnSp>
        <p:nvCxnSpPr>
          <p:cNvPr id="140" name="Прямая соединительная линия 139">
            <a:extLst>
              <a:ext uri="{FF2B5EF4-FFF2-40B4-BE49-F238E27FC236}">
                <a16:creationId xmlns:a16="http://schemas.microsoft.com/office/drawing/2014/main" id="{52135147-E381-076E-9B92-B36C7A3B1624}"/>
              </a:ext>
            </a:extLst>
          </p:cNvPr>
          <p:cNvCxnSpPr>
            <a:cxnSpLocks/>
            <a:stCxn id="138" idx="2"/>
          </p:cNvCxnSpPr>
          <p:nvPr/>
        </p:nvCxnSpPr>
        <p:spPr>
          <a:xfrm>
            <a:off x="4135392" y="4790991"/>
            <a:ext cx="6530" cy="7384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1970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5331032C-759F-CA45-450F-732BD0BF0E92}"/>
              </a:ext>
            </a:extLst>
          </p:cNvPr>
          <p:cNvSpPr/>
          <p:nvPr/>
        </p:nvSpPr>
        <p:spPr>
          <a:xfrm>
            <a:off x="0" y="243841"/>
            <a:ext cx="7103660" cy="366252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«Уралец». Отказоустойчивость, борьба за живучесть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5732-FDA1-A9B1-F15A-3906DA33D551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61074E-EBB3-F839-DD39-7DC35A1B5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0148"/>
            <a:ext cx="11887200" cy="458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	Система выстроена по принципу многоуровневой изоляции: отказ на нижнем уровне не поднимается выше.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D6EB4-2536-B2B5-426E-7F313BA01B07}"/>
              </a:ext>
            </a:extLst>
          </p:cNvPr>
          <p:cNvSpPr txBox="1"/>
          <p:nvPr/>
        </p:nvSpPr>
        <p:spPr>
          <a:xfrm>
            <a:off x="914401" y="1913306"/>
            <a:ext cx="248411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Bahnschrift SemiBold Condensed" panose="020B0502040204020203" pitchFamily="34" charset="0"/>
              </a:rPr>
              <a:t>Аппаратная изоляция секций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Спиральные и постаматные секции имеют обособленное аппаратное обеспечение (источники питания, шины RS485, контроллеры и т.п.). Отказ одной секции не влияет на работоспособной другой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541C05-CC48-5529-FBC5-7F953D372A44}"/>
              </a:ext>
            </a:extLst>
          </p:cNvPr>
          <p:cNvSpPr txBox="1"/>
          <p:nvPr/>
        </p:nvSpPr>
        <p:spPr>
          <a:xfrm>
            <a:off x="877357" y="3147586"/>
            <a:ext cx="2484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Матричная схема управления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Работа спиральной и постоматной секций основано на матричной топологии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83F61D-7712-203C-52BE-5B490A0C0EFA}"/>
              </a:ext>
            </a:extLst>
          </p:cNvPr>
          <p:cNvSpPr txBox="1"/>
          <p:nvPr/>
        </p:nvSpPr>
        <p:spPr>
          <a:xfrm>
            <a:off x="914400" y="4760908"/>
            <a:ext cx="24841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Изоляция отказавшего компонента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АСУ аппарата определяет вышедший из строя узел, изолирует его, оповещает администратора. Остальные компоненты АСУ продолжают функционировать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3C98DC-AF4D-0443-9FC6-42F2A6C9DF75}"/>
              </a:ext>
            </a:extLst>
          </p:cNvPr>
          <p:cNvSpPr txBox="1"/>
          <p:nvPr/>
        </p:nvSpPr>
        <p:spPr>
          <a:xfrm>
            <a:off x="914400" y="3997857"/>
            <a:ext cx="2484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 SemiBold Condensed" panose="020B0502040204020203" pitchFamily="34" charset="0"/>
              </a:rPr>
              <a:t>Watchdog-</a:t>
            </a:r>
            <a:r>
              <a:rPr lang="ru-RU" sz="1600" dirty="0">
                <a:latin typeface="Bahnschrift SemiBold Condensed" panose="020B0502040204020203" pitchFamily="34" charset="0"/>
              </a:rPr>
              <a:t>контроль уровней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Аппаратный и программный контроль и реакция при зависании контроллеров и ПО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544FB91-2095-672C-FBA5-A416FC402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993" y="1549795"/>
            <a:ext cx="2674942" cy="4458236"/>
          </a:xfrm>
          <a:prstGeom prst="rect">
            <a:avLst/>
          </a:prstGeom>
        </p:spPr>
      </p:pic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094EE6D-3497-6D05-202F-EE7093C944CE}"/>
              </a:ext>
            </a:extLst>
          </p:cNvPr>
          <p:cNvGrpSpPr/>
          <p:nvPr/>
        </p:nvGrpSpPr>
        <p:grpSpPr>
          <a:xfrm>
            <a:off x="6205935" y="2267780"/>
            <a:ext cx="2222873" cy="3246253"/>
            <a:chOff x="6644907" y="1818875"/>
            <a:chExt cx="2222873" cy="3246253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ECB8705B-3829-33CF-D450-099FCFF58253}"/>
                </a:ext>
              </a:extLst>
            </p:cNvPr>
            <p:cNvSpPr>
              <a:spLocks/>
            </p:cNvSpPr>
            <p:nvPr/>
          </p:nvSpPr>
          <p:spPr>
            <a:xfrm>
              <a:off x="6644907" y="2559696"/>
              <a:ext cx="89477" cy="140270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CCC765F3-9608-0B09-F1E5-B9A8A4EDC958}"/>
                </a:ext>
              </a:extLst>
            </p:cNvPr>
            <p:cNvSpPr>
              <a:spLocks/>
            </p:cNvSpPr>
            <p:nvPr/>
          </p:nvSpPr>
          <p:spPr>
            <a:xfrm>
              <a:off x="6677795" y="2041802"/>
              <a:ext cx="2032638" cy="297762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786FDB3A-F29B-FE0B-AF39-C3672CEF15B4}"/>
                </a:ext>
              </a:extLst>
            </p:cNvPr>
            <p:cNvSpPr>
              <a:spLocks/>
            </p:cNvSpPr>
            <p:nvPr/>
          </p:nvSpPr>
          <p:spPr>
            <a:xfrm>
              <a:off x="6835142" y="1818875"/>
              <a:ext cx="2032638" cy="3200533"/>
            </a:xfrm>
            <a:prstGeom prst="roundRect">
              <a:avLst>
                <a:gd name="adj" fmla="val 5889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0C5DB711-F956-B4D1-A0DA-3212B659ED0B}"/>
                </a:ext>
              </a:extLst>
            </p:cNvPr>
            <p:cNvSpPr>
              <a:spLocks/>
            </p:cNvSpPr>
            <p:nvPr/>
          </p:nvSpPr>
          <p:spPr>
            <a:xfrm>
              <a:off x="6802887" y="2683670"/>
              <a:ext cx="46064" cy="17368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BBDE2FD4-E8EE-6561-557E-876D44DD918B}"/>
                </a:ext>
              </a:extLst>
            </p:cNvPr>
            <p:cNvSpPr>
              <a:spLocks/>
            </p:cNvSpPr>
            <p:nvPr/>
          </p:nvSpPr>
          <p:spPr>
            <a:xfrm>
              <a:off x="6802887" y="4284430"/>
              <a:ext cx="46064" cy="17368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: скругленные углы 25">
              <a:extLst>
                <a:ext uri="{FF2B5EF4-FFF2-40B4-BE49-F238E27FC236}">
                  <a16:creationId xmlns:a16="http://schemas.microsoft.com/office/drawing/2014/main" id="{BD811673-50ED-654E-DF20-B08EBE23EAFD}"/>
                </a:ext>
              </a:extLst>
            </p:cNvPr>
            <p:cNvSpPr>
              <a:spLocks/>
            </p:cNvSpPr>
            <p:nvPr/>
          </p:nvSpPr>
          <p:spPr>
            <a:xfrm>
              <a:off x="7013563" y="1937850"/>
              <a:ext cx="1746328" cy="2968675"/>
            </a:xfrm>
            <a:prstGeom prst="roundRect">
              <a:avLst>
                <a:gd name="adj" fmla="val 7351"/>
              </a:avLst>
            </a:prstGeom>
            <a:noFill/>
            <a:ln w="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24A859E-7888-55F2-91B8-0EAABFF5D764}"/>
                </a:ext>
              </a:extLst>
            </p:cNvPr>
            <p:cNvSpPr>
              <a:spLocks/>
            </p:cNvSpPr>
            <p:nvPr/>
          </p:nvSpPr>
          <p:spPr>
            <a:xfrm>
              <a:off x="7062086" y="2044526"/>
              <a:ext cx="1647410" cy="2384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6551C7D0-8B83-F6FC-943A-74470F8FFA22}"/>
                </a:ext>
              </a:extLst>
            </p:cNvPr>
            <p:cNvSpPr>
              <a:spLocks/>
            </p:cNvSpPr>
            <p:nvPr/>
          </p:nvSpPr>
          <p:spPr>
            <a:xfrm>
              <a:off x="7246142" y="5019409"/>
              <a:ext cx="110967" cy="4571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1645EC5F-D809-A957-AF1B-0453FD8FD2B7}"/>
                </a:ext>
              </a:extLst>
            </p:cNvPr>
            <p:cNvSpPr>
              <a:spLocks/>
            </p:cNvSpPr>
            <p:nvPr/>
          </p:nvSpPr>
          <p:spPr>
            <a:xfrm>
              <a:off x="8341517" y="5019409"/>
              <a:ext cx="110967" cy="4571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DEFF88B4-188F-3926-EE24-3608C2324139}"/>
                </a:ext>
              </a:extLst>
            </p:cNvPr>
            <p:cNvSpPr>
              <a:spLocks/>
            </p:cNvSpPr>
            <p:nvPr/>
          </p:nvSpPr>
          <p:spPr>
            <a:xfrm>
              <a:off x="7062084" y="2044525"/>
              <a:ext cx="327600" cy="2384500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3A77D97C-4524-296D-627F-D3E8456E27EE}"/>
                </a:ext>
              </a:extLst>
            </p:cNvPr>
            <p:cNvSpPr>
              <a:spLocks/>
            </p:cNvSpPr>
            <p:nvPr/>
          </p:nvSpPr>
          <p:spPr>
            <a:xfrm>
              <a:off x="7389684" y="2044524"/>
              <a:ext cx="327600" cy="2384500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Прямоугольник 31">
              <a:extLst>
                <a:ext uri="{FF2B5EF4-FFF2-40B4-BE49-F238E27FC236}">
                  <a16:creationId xmlns:a16="http://schemas.microsoft.com/office/drawing/2014/main" id="{498D1BE6-B867-2C7F-A63A-181E4DFFB0B5}"/>
                </a:ext>
              </a:extLst>
            </p:cNvPr>
            <p:cNvSpPr>
              <a:spLocks/>
            </p:cNvSpPr>
            <p:nvPr/>
          </p:nvSpPr>
          <p:spPr>
            <a:xfrm>
              <a:off x="7718221" y="2044247"/>
              <a:ext cx="323846" cy="2382594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458A9A81-DF7A-7A7A-02C8-EA142C03EEFA}"/>
                </a:ext>
              </a:extLst>
            </p:cNvPr>
            <p:cNvSpPr>
              <a:spLocks/>
            </p:cNvSpPr>
            <p:nvPr/>
          </p:nvSpPr>
          <p:spPr>
            <a:xfrm>
              <a:off x="8045713" y="2042341"/>
              <a:ext cx="327600" cy="2384500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4C0D20E7-CCB1-A340-CDD2-B1791147446F}"/>
                </a:ext>
              </a:extLst>
            </p:cNvPr>
            <p:cNvSpPr>
              <a:spLocks/>
            </p:cNvSpPr>
            <p:nvPr/>
          </p:nvSpPr>
          <p:spPr>
            <a:xfrm>
              <a:off x="7062086" y="2281644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id="{2065D936-C559-5F17-F732-7149E4AAD55B}"/>
                </a:ext>
              </a:extLst>
            </p:cNvPr>
            <p:cNvSpPr>
              <a:spLocks/>
            </p:cNvSpPr>
            <p:nvPr/>
          </p:nvSpPr>
          <p:spPr>
            <a:xfrm>
              <a:off x="7525752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0ADFD846-D290-836C-ECCB-9826DB81EDF6}"/>
                </a:ext>
              </a:extLst>
            </p:cNvPr>
            <p:cNvSpPr>
              <a:spLocks/>
            </p:cNvSpPr>
            <p:nvPr/>
          </p:nvSpPr>
          <p:spPr>
            <a:xfrm>
              <a:off x="7199301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id="{55F5815E-3202-C4AB-C700-D1CD3656C898}"/>
                </a:ext>
              </a:extLst>
            </p:cNvPr>
            <p:cNvSpPr>
              <a:spLocks/>
            </p:cNvSpPr>
            <p:nvPr/>
          </p:nvSpPr>
          <p:spPr>
            <a:xfrm>
              <a:off x="7859208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id="{84BAC3B3-0D1C-0436-9026-2C05AF80109C}"/>
                </a:ext>
              </a:extLst>
            </p:cNvPr>
            <p:cNvSpPr>
              <a:spLocks/>
            </p:cNvSpPr>
            <p:nvPr/>
          </p:nvSpPr>
          <p:spPr>
            <a:xfrm>
              <a:off x="8183991" y="2297967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id="{9F6EE1F4-3DDE-F060-4B95-6F3BCF2ADDBD}"/>
                </a:ext>
              </a:extLst>
            </p:cNvPr>
            <p:cNvSpPr>
              <a:spLocks/>
            </p:cNvSpPr>
            <p:nvPr/>
          </p:nvSpPr>
          <p:spPr>
            <a:xfrm>
              <a:off x="8499807" y="229478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70355D4F-BCD9-99F1-4EA0-FC652578BCA2}"/>
                </a:ext>
              </a:extLst>
            </p:cNvPr>
            <p:cNvSpPr>
              <a:spLocks/>
            </p:cNvSpPr>
            <p:nvPr/>
          </p:nvSpPr>
          <p:spPr>
            <a:xfrm>
              <a:off x="7062086" y="2588064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72F65ED2-6F20-918A-7B07-F7B3367096B4}"/>
                </a:ext>
              </a:extLst>
            </p:cNvPr>
            <p:cNvSpPr>
              <a:spLocks/>
            </p:cNvSpPr>
            <p:nvPr/>
          </p:nvSpPr>
          <p:spPr>
            <a:xfrm>
              <a:off x="7525752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39B86DBF-0D27-D2CA-1944-6308109D2A93}"/>
                </a:ext>
              </a:extLst>
            </p:cNvPr>
            <p:cNvSpPr>
              <a:spLocks/>
            </p:cNvSpPr>
            <p:nvPr/>
          </p:nvSpPr>
          <p:spPr>
            <a:xfrm>
              <a:off x="7199301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6D7C59E5-4D2C-5A29-4EC7-9836846ABA78}"/>
                </a:ext>
              </a:extLst>
            </p:cNvPr>
            <p:cNvSpPr>
              <a:spLocks/>
            </p:cNvSpPr>
            <p:nvPr/>
          </p:nvSpPr>
          <p:spPr>
            <a:xfrm>
              <a:off x="7859208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id="{F3890FE1-F97C-3C2F-BB8A-C083822B4867}"/>
                </a:ext>
              </a:extLst>
            </p:cNvPr>
            <p:cNvSpPr>
              <a:spLocks/>
            </p:cNvSpPr>
            <p:nvPr/>
          </p:nvSpPr>
          <p:spPr>
            <a:xfrm>
              <a:off x="8183991" y="2604387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2BA6332-5967-D76D-22B7-A18CE03C6CF3}"/>
                </a:ext>
              </a:extLst>
            </p:cNvPr>
            <p:cNvSpPr>
              <a:spLocks/>
            </p:cNvSpPr>
            <p:nvPr/>
          </p:nvSpPr>
          <p:spPr>
            <a:xfrm>
              <a:off x="8499807" y="2601204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77D932D9-3DE3-D564-EDBD-9425DB1DBF16}"/>
                </a:ext>
              </a:extLst>
            </p:cNvPr>
            <p:cNvSpPr>
              <a:spLocks/>
            </p:cNvSpPr>
            <p:nvPr/>
          </p:nvSpPr>
          <p:spPr>
            <a:xfrm>
              <a:off x="7062086" y="2891623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id="{2BADBC8D-10A8-E82B-19DD-01DB08B82D1F}"/>
                </a:ext>
              </a:extLst>
            </p:cNvPr>
            <p:cNvSpPr>
              <a:spLocks/>
            </p:cNvSpPr>
            <p:nvPr/>
          </p:nvSpPr>
          <p:spPr>
            <a:xfrm>
              <a:off x="7525752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118EF2F3-B8B5-8F8B-C449-881DD4496216}"/>
                </a:ext>
              </a:extLst>
            </p:cNvPr>
            <p:cNvSpPr>
              <a:spLocks/>
            </p:cNvSpPr>
            <p:nvPr/>
          </p:nvSpPr>
          <p:spPr>
            <a:xfrm>
              <a:off x="7199301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id="{0B54B685-4C22-CB7A-C84F-F1DE74288CD3}"/>
                </a:ext>
              </a:extLst>
            </p:cNvPr>
            <p:cNvSpPr>
              <a:spLocks/>
            </p:cNvSpPr>
            <p:nvPr/>
          </p:nvSpPr>
          <p:spPr>
            <a:xfrm>
              <a:off x="7859208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2B441293-35B4-3B17-E6DA-603304AE9D8D}"/>
                </a:ext>
              </a:extLst>
            </p:cNvPr>
            <p:cNvSpPr>
              <a:spLocks/>
            </p:cNvSpPr>
            <p:nvPr/>
          </p:nvSpPr>
          <p:spPr>
            <a:xfrm>
              <a:off x="8183991" y="2907946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id="{64BD95A7-AE64-2805-9BF5-7DDA5F850EBD}"/>
                </a:ext>
              </a:extLst>
            </p:cNvPr>
            <p:cNvSpPr>
              <a:spLocks/>
            </p:cNvSpPr>
            <p:nvPr/>
          </p:nvSpPr>
          <p:spPr>
            <a:xfrm>
              <a:off x="8499807" y="290476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C712668A-F323-80AA-1D26-4754FB2508DA}"/>
                </a:ext>
              </a:extLst>
            </p:cNvPr>
            <p:cNvSpPr>
              <a:spLocks/>
            </p:cNvSpPr>
            <p:nvPr/>
          </p:nvSpPr>
          <p:spPr>
            <a:xfrm>
              <a:off x="7063023" y="3195182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AA6585AF-FA32-80DA-209E-F7E807EAE2E1}"/>
                </a:ext>
              </a:extLst>
            </p:cNvPr>
            <p:cNvSpPr>
              <a:spLocks/>
            </p:cNvSpPr>
            <p:nvPr/>
          </p:nvSpPr>
          <p:spPr>
            <a:xfrm>
              <a:off x="7526689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72EA6553-5DAD-5919-A17D-FDE115312C22}"/>
                </a:ext>
              </a:extLst>
            </p:cNvPr>
            <p:cNvSpPr>
              <a:spLocks/>
            </p:cNvSpPr>
            <p:nvPr/>
          </p:nvSpPr>
          <p:spPr>
            <a:xfrm>
              <a:off x="7200238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AE9B8896-C228-F3F9-F9E6-9CAE8257306F}"/>
                </a:ext>
              </a:extLst>
            </p:cNvPr>
            <p:cNvSpPr>
              <a:spLocks/>
            </p:cNvSpPr>
            <p:nvPr/>
          </p:nvSpPr>
          <p:spPr>
            <a:xfrm>
              <a:off x="7860145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Прямоугольник 55">
              <a:extLst>
                <a:ext uri="{FF2B5EF4-FFF2-40B4-BE49-F238E27FC236}">
                  <a16:creationId xmlns:a16="http://schemas.microsoft.com/office/drawing/2014/main" id="{CB4852BF-8E6A-E962-9BF1-A40C6725EDD6}"/>
                </a:ext>
              </a:extLst>
            </p:cNvPr>
            <p:cNvSpPr>
              <a:spLocks/>
            </p:cNvSpPr>
            <p:nvPr/>
          </p:nvSpPr>
          <p:spPr>
            <a:xfrm>
              <a:off x="8184928" y="321150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Прямоугольник 56">
              <a:extLst>
                <a:ext uri="{FF2B5EF4-FFF2-40B4-BE49-F238E27FC236}">
                  <a16:creationId xmlns:a16="http://schemas.microsoft.com/office/drawing/2014/main" id="{B2A2D090-CB20-0484-510E-565EB2295F17}"/>
                </a:ext>
              </a:extLst>
            </p:cNvPr>
            <p:cNvSpPr>
              <a:spLocks/>
            </p:cNvSpPr>
            <p:nvPr/>
          </p:nvSpPr>
          <p:spPr>
            <a:xfrm>
              <a:off x="8500744" y="32083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Прямоугольник 57">
              <a:extLst>
                <a:ext uri="{FF2B5EF4-FFF2-40B4-BE49-F238E27FC236}">
                  <a16:creationId xmlns:a16="http://schemas.microsoft.com/office/drawing/2014/main" id="{9A19F96A-9BB2-7084-B71C-46AD07FD2562}"/>
                </a:ext>
              </a:extLst>
            </p:cNvPr>
            <p:cNvSpPr>
              <a:spLocks/>
            </p:cNvSpPr>
            <p:nvPr/>
          </p:nvSpPr>
          <p:spPr>
            <a:xfrm>
              <a:off x="7062555" y="3502382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Прямоугольник 58">
              <a:extLst>
                <a:ext uri="{FF2B5EF4-FFF2-40B4-BE49-F238E27FC236}">
                  <a16:creationId xmlns:a16="http://schemas.microsoft.com/office/drawing/2014/main" id="{7C840344-FA31-A48A-0ADF-AE1623614F94}"/>
                </a:ext>
              </a:extLst>
            </p:cNvPr>
            <p:cNvSpPr>
              <a:spLocks/>
            </p:cNvSpPr>
            <p:nvPr/>
          </p:nvSpPr>
          <p:spPr>
            <a:xfrm>
              <a:off x="7526221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Прямоугольник 59">
              <a:extLst>
                <a:ext uri="{FF2B5EF4-FFF2-40B4-BE49-F238E27FC236}">
                  <a16:creationId xmlns:a16="http://schemas.microsoft.com/office/drawing/2014/main" id="{AB940099-1410-5A27-3D92-6E3E1EC41C12}"/>
                </a:ext>
              </a:extLst>
            </p:cNvPr>
            <p:cNvSpPr>
              <a:spLocks/>
            </p:cNvSpPr>
            <p:nvPr/>
          </p:nvSpPr>
          <p:spPr>
            <a:xfrm>
              <a:off x="7199770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F84E9D3E-5C9F-DF7A-6705-B474C2DEA32E}"/>
                </a:ext>
              </a:extLst>
            </p:cNvPr>
            <p:cNvSpPr>
              <a:spLocks/>
            </p:cNvSpPr>
            <p:nvPr/>
          </p:nvSpPr>
          <p:spPr>
            <a:xfrm>
              <a:off x="7859677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Прямоугольник 61">
              <a:extLst>
                <a:ext uri="{FF2B5EF4-FFF2-40B4-BE49-F238E27FC236}">
                  <a16:creationId xmlns:a16="http://schemas.microsoft.com/office/drawing/2014/main" id="{576D6D03-31A4-FD44-9249-571CB4E6313E}"/>
                </a:ext>
              </a:extLst>
            </p:cNvPr>
            <p:cNvSpPr>
              <a:spLocks/>
            </p:cNvSpPr>
            <p:nvPr/>
          </p:nvSpPr>
          <p:spPr>
            <a:xfrm>
              <a:off x="8184460" y="351870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Прямоугольник 62">
              <a:extLst>
                <a:ext uri="{FF2B5EF4-FFF2-40B4-BE49-F238E27FC236}">
                  <a16:creationId xmlns:a16="http://schemas.microsoft.com/office/drawing/2014/main" id="{873CEB1E-CC2E-76B8-9B82-AD9EF869E623}"/>
                </a:ext>
              </a:extLst>
            </p:cNvPr>
            <p:cNvSpPr>
              <a:spLocks/>
            </p:cNvSpPr>
            <p:nvPr/>
          </p:nvSpPr>
          <p:spPr>
            <a:xfrm>
              <a:off x="8500276" y="3515522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Прямоугольник 63">
              <a:extLst>
                <a:ext uri="{FF2B5EF4-FFF2-40B4-BE49-F238E27FC236}">
                  <a16:creationId xmlns:a16="http://schemas.microsoft.com/office/drawing/2014/main" id="{061FEDC4-BEC1-A34D-0385-9B9FD083CF45}"/>
                </a:ext>
              </a:extLst>
            </p:cNvPr>
            <p:cNvSpPr>
              <a:spLocks/>
            </p:cNvSpPr>
            <p:nvPr/>
          </p:nvSpPr>
          <p:spPr>
            <a:xfrm>
              <a:off x="7062086" y="3810883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Прямоугольник 64">
              <a:extLst>
                <a:ext uri="{FF2B5EF4-FFF2-40B4-BE49-F238E27FC236}">
                  <a16:creationId xmlns:a16="http://schemas.microsoft.com/office/drawing/2014/main" id="{A0F2F681-B846-15F9-25FE-5217F018DBFA}"/>
                </a:ext>
              </a:extLst>
            </p:cNvPr>
            <p:cNvSpPr>
              <a:spLocks/>
            </p:cNvSpPr>
            <p:nvPr/>
          </p:nvSpPr>
          <p:spPr>
            <a:xfrm>
              <a:off x="7525752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Прямоугольник 65">
              <a:extLst>
                <a:ext uri="{FF2B5EF4-FFF2-40B4-BE49-F238E27FC236}">
                  <a16:creationId xmlns:a16="http://schemas.microsoft.com/office/drawing/2014/main" id="{8A4C7A8A-0712-B9DF-5F67-92763343D888}"/>
                </a:ext>
              </a:extLst>
            </p:cNvPr>
            <p:cNvSpPr>
              <a:spLocks/>
            </p:cNvSpPr>
            <p:nvPr/>
          </p:nvSpPr>
          <p:spPr>
            <a:xfrm>
              <a:off x="7199301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AAE9FF3B-C0A2-D66B-E838-EC205A6EFDDA}"/>
                </a:ext>
              </a:extLst>
            </p:cNvPr>
            <p:cNvSpPr>
              <a:spLocks/>
            </p:cNvSpPr>
            <p:nvPr/>
          </p:nvSpPr>
          <p:spPr>
            <a:xfrm>
              <a:off x="7859208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94B8F372-6ED9-EA65-4E2C-20FE76E2D1E0}"/>
                </a:ext>
              </a:extLst>
            </p:cNvPr>
            <p:cNvSpPr>
              <a:spLocks/>
            </p:cNvSpPr>
            <p:nvPr/>
          </p:nvSpPr>
          <p:spPr>
            <a:xfrm>
              <a:off x="8183991" y="3827206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BFBCF0B8-5081-C859-D158-B6FC24E6B15E}"/>
                </a:ext>
              </a:extLst>
            </p:cNvPr>
            <p:cNvSpPr>
              <a:spLocks/>
            </p:cNvSpPr>
            <p:nvPr/>
          </p:nvSpPr>
          <p:spPr>
            <a:xfrm>
              <a:off x="8499807" y="3824023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Прямоугольник 69">
              <a:extLst>
                <a:ext uri="{FF2B5EF4-FFF2-40B4-BE49-F238E27FC236}">
                  <a16:creationId xmlns:a16="http://schemas.microsoft.com/office/drawing/2014/main" id="{511AFD94-90A8-6C88-C4F9-CADA29492465}"/>
                </a:ext>
              </a:extLst>
            </p:cNvPr>
            <p:cNvSpPr>
              <a:spLocks/>
            </p:cNvSpPr>
            <p:nvPr/>
          </p:nvSpPr>
          <p:spPr>
            <a:xfrm>
              <a:off x="7062084" y="4117625"/>
              <a:ext cx="1647410" cy="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Прямоугольник 70">
              <a:extLst>
                <a:ext uri="{FF2B5EF4-FFF2-40B4-BE49-F238E27FC236}">
                  <a16:creationId xmlns:a16="http://schemas.microsoft.com/office/drawing/2014/main" id="{4C05BD61-48D3-D4B1-8DFA-D39193D0E3E6}"/>
                </a:ext>
              </a:extLst>
            </p:cNvPr>
            <p:cNvSpPr>
              <a:spLocks/>
            </p:cNvSpPr>
            <p:nvPr/>
          </p:nvSpPr>
          <p:spPr>
            <a:xfrm>
              <a:off x="7525750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Прямоугольник 71">
              <a:extLst>
                <a:ext uri="{FF2B5EF4-FFF2-40B4-BE49-F238E27FC236}">
                  <a16:creationId xmlns:a16="http://schemas.microsoft.com/office/drawing/2014/main" id="{59A33E14-3AC9-25CF-59E7-17F218DFDA9E}"/>
                </a:ext>
              </a:extLst>
            </p:cNvPr>
            <p:cNvSpPr>
              <a:spLocks/>
            </p:cNvSpPr>
            <p:nvPr/>
          </p:nvSpPr>
          <p:spPr>
            <a:xfrm>
              <a:off x="7199299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Прямоугольник 72">
              <a:extLst>
                <a:ext uri="{FF2B5EF4-FFF2-40B4-BE49-F238E27FC236}">
                  <a16:creationId xmlns:a16="http://schemas.microsoft.com/office/drawing/2014/main" id="{6ABE9E2E-E459-5DD9-D513-AE603189D263}"/>
                </a:ext>
              </a:extLst>
            </p:cNvPr>
            <p:cNvSpPr>
              <a:spLocks/>
            </p:cNvSpPr>
            <p:nvPr/>
          </p:nvSpPr>
          <p:spPr>
            <a:xfrm>
              <a:off x="7859206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Прямоугольник 73">
              <a:extLst>
                <a:ext uri="{FF2B5EF4-FFF2-40B4-BE49-F238E27FC236}">
                  <a16:creationId xmlns:a16="http://schemas.microsoft.com/office/drawing/2014/main" id="{3148C81E-E9DA-9DC1-9DFF-B6F0BD318794}"/>
                </a:ext>
              </a:extLst>
            </p:cNvPr>
            <p:cNvSpPr>
              <a:spLocks/>
            </p:cNvSpPr>
            <p:nvPr/>
          </p:nvSpPr>
          <p:spPr>
            <a:xfrm>
              <a:off x="8183989" y="4133948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Прямоугольник 74">
              <a:extLst>
                <a:ext uri="{FF2B5EF4-FFF2-40B4-BE49-F238E27FC236}">
                  <a16:creationId xmlns:a16="http://schemas.microsoft.com/office/drawing/2014/main" id="{7050E0BD-97B0-EDBF-263D-059E850E73CF}"/>
                </a:ext>
              </a:extLst>
            </p:cNvPr>
            <p:cNvSpPr>
              <a:spLocks/>
            </p:cNvSpPr>
            <p:nvPr/>
          </p:nvSpPr>
          <p:spPr>
            <a:xfrm>
              <a:off x="8499805" y="4130765"/>
              <a:ext cx="53165" cy="4571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Прямоугольник 75">
              <a:extLst>
                <a:ext uri="{FF2B5EF4-FFF2-40B4-BE49-F238E27FC236}">
                  <a16:creationId xmlns:a16="http://schemas.microsoft.com/office/drawing/2014/main" id="{B7A3EFAA-EE29-CA86-657A-78C3859248E9}"/>
                </a:ext>
              </a:extLst>
            </p:cNvPr>
            <p:cNvSpPr>
              <a:spLocks/>
            </p:cNvSpPr>
            <p:nvPr/>
          </p:nvSpPr>
          <p:spPr>
            <a:xfrm>
              <a:off x="7062084" y="4426841"/>
              <a:ext cx="819017" cy="402561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Прямоугольник 76">
              <a:extLst>
                <a:ext uri="{FF2B5EF4-FFF2-40B4-BE49-F238E27FC236}">
                  <a16:creationId xmlns:a16="http://schemas.microsoft.com/office/drawing/2014/main" id="{75F425B5-AAF2-66D9-86D9-7CAFAE9D13B9}"/>
                </a:ext>
              </a:extLst>
            </p:cNvPr>
            <p:cNvSpPr>
              <a:spLocks/>
            </p:cNvSpPr>
            <p:nvPr/>
          </p:nvSpPr>
          <p:spPr>
            <a:xfrm>
              <a:off x="7890713" y="4426840"/>
              <a:ext cx="819017" cy="402561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0C2976A1-73E5-E530-BB89-70CCDDAA6314}"/>
              </a:ext>
            </a:extLst>
          </p:cNvPr>
          <p:cNvSpPr/>
          <p:nvPr/>
        </p:nvSpPr>
        <p:spPr>
          <a:xfrm rot="18900000">
            <a:off x="888207" y="2067893"/>
            <a:ext cx="52387" cy="523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1D23E3DE-C545-6657-9D28-B9249335F543}"/>
              </a:ext>
            </a:extLst>
          </p:cNvPr>
          <p:cNvSpPr/>
          <p:nvPr/>
        </p:nvSpPr>
        <p:spPr>
          <a:xfrm rot="18900000">
            <a:off x="884562" y="2990056"/>
            <a:ext cx="52387" cy="523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7A214CBC-6CE3-6C41-90CD-C5856EE10740}"/>
              </a:ext>
            </a:extLst>
          </p:cNvPr>
          <p:cNvSpPr/>
          <p:nvPr/>
        </p:nvSpPr>
        <p:spPr>
          <a:xfrm rot="18900000">
            <a:off x="884562" y="3938234"/>
            <a:ext cx="52387" cy="523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D7D2C8CC-CEEF-123F-C7EA-04E8E1312D1E}"/>
              </a:ext>
            </a:extLst>
          </p:cNvPr>
          <p:cNvSpPr/>
          <p:nvPr/>
        </p:nvSpPr>
        <p:spPr>
          <a:xfrm rot="18900000">
            <a:off x="878595" y="4807696"/>
            <a:ext cx="52387" cy="5238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5C04CD-132F-DF4A-F943-5E74FCF63165}"/>
              </a:ext>
            </a:extLst>
          </p:cNvPr>
          <p:cNvSpPr txBox="1"/>
          <p:nvPr/>
        </p:nvSpPr>
        <p:spPr>
          <a:xfrm>
            <a:off x="9206829" y="2011084"/>
            <a:ext cx="248411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КЗ в моторе одной ячейки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Изоляция ячейки, блокировка только одного столбца матрицы, остальные столбцы продолжают функционировать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B7DC938-870F-FE3D-9DE9-A9809D53EDE9}"/>
              </a:ext>
            </a:extLst>
          </p:cNvPr>
          <p:cNvSpPr txBox="1"/>
          <p:nvPr/>
        </p:nvSpPr>
        <p:spPr>
          <a:xfrm>
            <a:off x="9205004" y="2946148"/>
            <a:ext cx="248411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Обрыв питания ячейки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Блокировка только одной ячейки матрицы, остальные ячейки продолжают функционировать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5936FB6-869E-4029-5993-6254D4454FFD}"/>
              </a:ext>
            </a:extLst>
          </p:cNvPr>
          <p:cNvSpPr txBox="1"/>
          <p:nvPr/>
        </p:nvSpPr>
        <p:spPr>
          <a:xfrm>
            <a:off x="9181799" y="3954170"/>
            <a:ext cx="248411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Отказ сенсора ячейки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Блокировка только одной ячейки матрицы, остальные ячейки продолжают функционировать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5685425-59AA-4520-354E-A1134231B040}"/>
              </a:ext>
            </a:extLst>
          </p:cNvPr>
          <p:cNvSpPr txBox="1"/>
          <p:nvPr/>
        </p:nvSpPr>
        <p:spPr>
          <a:xfrm>
            <a:off x="9205004" y="4930813"/>
            <a:ext cx="24841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Bahnschrift SemiBold Condensed" panose="020B0502040204020203" pitchFamily="34" charset="0"/>
              </a:rPr>
              <a:t>Разрушение дисплея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Режим «битый экран».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 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Интерфейсы RFID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/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QR продолжает работать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 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highlight>
                  <a:srgbClr val="00FF00"/>
                </a:highlight>
                <a:latin typeface="Bahnschrift SemiBold Condensed" panose="020B0502040204020203" pitchFamily="34" charset="0"/>
              </a:rPr>
              <a:t>. Переход в особый режим, выдача ТМЦ и накопление данных с некоторыми ограничениями продолжается</a:t>
            </a:r>
          </a:p>
        </p:txBody>
      </p:sp>
      <p:sp>
        <p:nvSpPr>
          <p:cNvPr id="108" name="Крест 107">
            <a:extLst>
              <a:ext uri="{FF2B5EF4-FFF2-40B4-BE49-F238E27FC236}">
                <a16:creationId xmlns:a16="http://schemas.microsoft.com/office/drawing/2014/main" id="{0C432829-4F2F-9F71-EA7F-9B0FF34DBE5B}"/>
              </a:ext>
            </a:extLst>
          </p:cNvPr>
          <p:cNvSpPr/>
          <p:nvPr/>
        </p:nvSpPr>
        <p:spPr>
          <a:xfrm rot="2700000">
            <a:off x="4304331" y="3210424"/>
            <a:ext cx="82092" cy="82092"/>
          </a:xfrm>
          <a:prstGeom prst="plus">
            <a:avLst>
              <a:gd name="adj" fmla="val 4481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4" name="Соединитель: уступ 113">
            <a:extLst>
              <a:ext uri="{FF2B5EF4-FFF2-40B4-BE49-F238E27FC236}">
                <a16:creationId xmlns:a16="http://schemas.microsoft.com/office/drawing/2014/main" id="{44B200EC-6539-C8FE-7523-3CD013492FDE}"/>
              </a:ext>
            </a:extLst>
          </p:cNvPr>
          <p:cNvCxnSpPr>
            <a:cxnSpLocks/>
            <a:stCxn id="124" idx="0"/>
          </p:cNvCxnSpPr>
          <p:nvPr/>
        </p:nvCxnSpPr>
        <p:spPr>
          <a:xfrm rot="5400000" flipH="1" flipV="1">
            <a:off x="6300918" y="212993"/>
            <a:ext cx="784216" cy="4695299"/>
          </a:xfrm>
          <a:prstGeom prst="bentConnector2">
            <a:avLst/>
          </a:prstGeom>
          <a:ln w="31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DFA87E51-891C-E8D0-43A6-ADE3A9EF6496}"/>
              </a:ext>
            </a:extLst>
          </p:cNvPr>
          <p:cNvSpPr/>
          <p:nvPr/>
        </p:nvSpPr>
        <p:spPr>
          <a:xfrm>
            <a:off x="4287329" y="2952750"/>
            <a:ext cx="116096" cy="1531144"/>
          </a:xfrm>
          <a:prstGeom prst="rect">
            <a:avLst/>
          </a:prstGeom>
          <a:solidFill>
            <a:srgbClr val="FF0000">
              <a:alpha val="44000"/>
            </a:srgb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8D74E372-0662-88B7-054B-A88C540AF85F}"/>
              </a:ext>
            </a:extLst>
          </p:cNvPr>
          <p:cNvSpPr/>
          <p:nvPr/>
        </p:nvSpPr>
        <p:spPr>
          <a:xfrm>
            <a:off x="7281863" y="2800350"/>
            <a:ext cx="316706" cy="228600"/>
          </a:xfrm>
          <a:prstGeom prst="rect">
            <a:avLst/>
          </a:prstGeom>
          <a:solidFill>
            <a:srgbClr val="FF0000">
              <a:alpha val="46000"/>
            </a:srgbClr>
          </a:solidFill>
          <a:ln w="63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8" name="Крест 127">
            <a:extLst>
              <a:ext uri="{FF2B5EF4-FFF2-40B4-BE49-F238E27FC236}">
                <a16:creationId xmlns:a16="http://schemas.microsoft.com/office/drawing/2014/main" id="{124850F0-1AB5-1A8D-0900-3798ABDE938C}"/>
              </a:ext>
            </a:extLst>
          </p:cNvPr>
          <p:cNvSpPr/>
          <p:nvPr/>
        </p:nvSpPr>
        <p:spPr>
          <a:xfrm rot="2700000">
            <a:off x="7372296" y="2846971"/>
            <a:ext cx="150757" cy="150757"/>
          </a:xfrm>
          <a:prstGeom prst="plus">
            <a:avLst>
              <a:gd name="adj" fmla="val 4481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0" name="Соединитель: уступ 129">
            <a:extLst>
              <a:ext uri="{FF2B5EF4-FFF2-40B4-BE49-F238E27FC236}">
                <a16:creationId xmlns:a16="http://schemas.microsoft.com/office/drawing/2014/main" id="{A59D74C0-702D-DD93-9605-EB3013EF67AA}"/>
              </a:ext>
            </a:extLst>
          </p:cNvPr>
          <p:cNvCxnSpPr>
            <a:cxnSpLocks/>
            <a:stCxn id="126" idx="3"/>
          </p:cNvCxnSpPr>
          <p:nvPr/>
        </p:nvCxnSpPr>
        <p:spPr>
          <a:xfrm>
            <a:off x="7598569" y="2914650"/>
            <a:ext cx="1417437" cy="88414"/>
          </a:xfrm>
          <a:prstGeom prst="bentConnector3">
            <a:avLst>
              <a:gd name="adj1" fmla="val 69891"/>
            </a:avLst>
          </a:prstGeom>
          <a:ln w="31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Прямоугольник: скругленные углы 133">
            <a:extLst>
              <a:ext uri="{FF2B5EF4-FFF2-40B4-BE49-F238E27FC236}">
                <a16:creationId xmlns:a16="http://schemas.microsoft.com/office/drawing/2014/main" id="{4E33D3EF-EF01-DF7C-391F-89A99D0A945A}"/>
              </a:ext>
            </a:extLst>
          </p:cNvPr>
          <p:cNvSpPr/>
          <p:nvPr/>
        </p:nvSpPr>
        <p:spPr>
          <a:xfrm>
            <a:off x="5410864" y="3035829"/>
            <a:ext cx="482730" cy="986102"/>
          </a:xfrm>
          <a:prstGeom prst="roundRect">
            <a:avLst/>
          </a:prstGeom>
          <a:solidFill>
            <a:srgbClr val="FF00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6" name="Крест 135">
            <a:extLst>
              <a:ext uri="{FF2B5EF4-FFF2-40B4-BE49-F238E27FC236}">
                <a16:creationId xmlns:a16="http://schemas.microsoft.com/office/drawing/2014/main" id="{2C3C7EF9-6E14-AC7E-6857-4B2186B624E5}"/>
              </a:ext>
            </a:extLst>
          </p:cNvPr>
          <p:cNvSpPr/>
          <p:nvPr/>
        </p:nvSpPr>
        <p:spPr>
          <a:xfrm rot="2700000">
            <a:off x="5576849" y="3533206"/>
            <a:ext cx="150757" cy="150757"/>
          </a:xfrm>
          <a:prstGeom prst="plus">
            <a:avLst>
              <a:gd name="adj" fmla="val 44816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5" name="Соединитель: уступ 144">
            <a:extLst>
              <a:ext uri="{FF2B5EF4-FFF2-40B4-BE49-F238E27FC236}">
                <a16:creationId xmlns:a16="http://schemas.microsoft.com/office/drawing/2014/main" id="{E8494B7B-4B14-609B-8C73-281294463892}"/>
              </a:ext>
            </a:extLst>
          </p:cNvPr>
          <p:cNvCxnSpPr>
            <a:cxnSpLocks/>
          </p:cNvCxnSpPr>
          <p:nvPr/>
        </p:nvCxnSpPr>
        <p:spPr>
          <a:xfrm>
            <a:off x="5654043" y="3687678"/>
            <a:ext cx="3361963" cy="1727515"/>
          </a:xfrm>
          <a:prstGeom prst="bentConnector3">
            <a:avLst>
              <a:gd name="adj1" fmla="val 13712"/>
            </a:avLst>
          </a:prstGeom>
          <a:ln w="31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7F889B7F-C056-B9DC-98AD-24165B10CF33}"/>
              </a:ext>
            </a:extLst>
          </p:cNvPr>
          <p:cNvSpPr txBox="1"/>
          <p:nvPr/>
        </p:nvSpPr>
        <p:spPr>
          <a:xfrm>
            <a:off x="914400" y="1558704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Архитектурные и технические решения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FE71E9E-6E1A-677D-93C1-3C520C288ED4}"/>
              </a:ext>
            </a:extLst>
          </p:cNvPr>
          <p:cNvSpPr txBox="1"/>
          <p:nvPr/>
        </p:nvSpPr>
        <p:spPr>
          <a:xfrm>
            <a:off x="9098723" y="1549795"/>
            <a:ext cx="342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>
                <a:latin typeface="Bahnschrift SemiBold Condensed" panose="020B0502040204020203" pitchFamily="34" charset="0"/>
              </a:rPr>
              <a:t>Сценарии</a:t>
            </a:r>
          </a:p>
        </p:txBody>
      </p:sp>
      <p:pic>
        <p:nvPicPr>
          <p:cNvPr id="164" name="Рисунок 163" descr="Флажок со сплошной заливкой">
            <a:extLst>
              <a:ext uri="{FF2B5EF4-FFF2-40B4-BE49-F238E27FC236}">
                <a16:creationId xmlns:a16="http://schemas.microsoft.com/office/drawing/2014/main" id="{01713171-5716-0527-9DDE-DF0B5267A8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8723" y="2105724"/>
            <a:ext cx="166155" cy="189093"/>
          </a:xfrm>
          <a:prstGeom prst="rect">
            <a:avLst/>
          </a:prstGeom>
        </p:spPr>
      </p:pic>
      <p:pic>
        <p:nvPicPr>
          <p:cNvPr id="165" name="Рисунок 164" descr="Флажок со сплошной заливкой">
            <a:extLst>
              <a:ext uri="{FF2B5EF4-FFF2-40B4-BE49-F238E27FC236}">
                <a16:creationId xmlns:a16="http://schemas.microsoft.com/office/drawing/2014/main" id="{3726C01F-78AD-0947-6B6B-390FCDAE0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8722" y="3030981"/>
            <a:ext cx="166155" cy="189093"/>
          </a:xfrm>
          <a:prstGeom prst="rect">
            <a:avLst/>
          </a:prstGeom>
        </p:spPr>
      </p:pic>
      <p:pic>
        <p:nvPicPr>
          <p:cNvPr id="168" name="Рисунок 167" descr="Флажок со сплошной заливкой">
            <a:extLst>
              <a:ext uri="{FF2B5EF4-FFF2-40B4-BE49-F238E27FC236}">
                <a16:creationId xmlns:a16="http://schemas.microsoft.com/office/drawing/2014/main" id="{40CBB576-8024-C2FA-212B-C430DBE27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8723" y="5016443"/>
            <a:ext cx="166155" cy="189093"/>
          </a:xfrm>
          <a:prstGeom prst="rect">
            <a:avLst/>
          </a:prstGeom>
        </p:spPr>
      </p:pic>
      <p:pic>
        <p:nvPicPr>
          <p:cNvPr id="6" name="Рисунок 5" descr="Флажок со сплошной заливкой">
            <a:extLst>
              <a:ext uri="{FF2B5EF4-FFF2-40B4-BE49-F238E27FC236}">
                <a16:creationId xmlns:a16="http://schemas.microsoft.com/office/drawing/2014/main" id="{0F830B79-2B88-DCCF-4339-BBFC7AE6AB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8722" y="4037487"/>
            <a:ext cx="166155" cy="18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521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B48CD45F-CB4B-DA32-BCA7-6509B6471E92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«Уралец». Промышленная безопасность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0AB45736-50CB-F5CB-0356-DBCAF3CE4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0148"/>
            <a:ext cx="11887200" cy="458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	Промышленная безопасность — защита оборудования, данных, персонала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CB094-F76A-0ED8-9844-6A6DD9E9CDD3}"/>
              </a:ext>
            </a:extLst>
          </p:cNvPr>
          <p:cNvSpPr txBox="1"/>
          <p:nvPr/>
        </p:nvSpPr>
        <p:spPr>
          <a:xfrm>
            <a:off x="923925" y="1698652"/>
            <a:ext cx="422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Электробезопасность 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Программная изоляция шин при КЗ, без пожароопасного рестарта. 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Сегментированное питание - 4 независимые шины: 24В системная, 24/12В полевая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25C57-3643-B14E-C409-7C470A867E28}"/>
              </a:ext>
            </a:extLst>
          </p:cNvPr>
          <p:cNvSpPr txBox="1"/>
          <p:nvPr/>
        </p:nvSpPr>
        <p:spPr>
          <a:xfrm>
            <a:off x="923925" y="2830827"/>
            <a:ext cx="4324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Защита данных при отключении питания 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Сегментированный ИБП - двухуровневый на базе герметичных свинцовых АКБ, обеспечивает корректное завершение работы ОС, сообщение администратору, защита файловой системы. Время автономной работы — не менее 2х15 минут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D76A93-E634-ED2F-4684-6BE991458950}"/>
              </a:ext>
            </a:extLst>
          </p:cNvPr>
          <p:cNvSpPr txBox="1"/>
          <p:nvPr/>
        </p:nvSpPr>
        <p:spPr>
          <a:xfrm>
            <a:off x="923925" y="3912833"/>
            <a:ext cx="43243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Климатическая защита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Контроль температуры и влажности окружающей среды, а также температуры ключевых аппаратных компонентов АСУ. При критических показаниях — отправка сообщения администратору, автоматическое завершение работы аппарата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970BA2-DD5F-4A65-E902-A3EED4023E34}"/>
              </a:ext>
            </a:extLst>
          </p:cNvPr>
          <p:cNvSpPr txBox="1"/>
          <p:nvPr/>
        </p:nvSpPr>
        <p:spPr>
          <a:xfrm>
            <a:off x="6554848" y="1698652"/>
            <a:ext cx="456947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Кибербезопасность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АСУ аппарат имеет собственную, закрытую, изолированную файерволом от сети заказчика, сеть. Для подключения требуется один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IP 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адрес в сети заказчика. Доступ в интернет не требуется. В системе присутствует возможность удаленного подключения через защищенный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VPN 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канал. Присутствует резервный защищённый   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wi-fi 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канал с возможностью </a:t>
            </a:r>
            <a:r>
              <a:rPr lang="ru-RU" sz="1200" dirty="0" err="1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вкл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/</a:t>
            </a:r>
            <a:r>
              <a:rPr lang="ru-RU" sz="1200" dirty="0" err="1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откл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администратором.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A15362-7623-DC28-2903-E0CCC9E8132E}"/>
              </a:ext>
            </a:extLst>
          </p:cNvPr>
          <p:cNvSpPr txBox="1"/>
          <p:nvPr/>
        </p:nvSpPr>
        <p:spPr>
          <a:xfrm>
            <a:off x="6552623" y="3015493"/>
            <a:ext cx="45717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Физическая безопасность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Доступ к ячейкам только по RFID или ПИН-коду. Протоколирование всех открытий дверей. Фото/видеофиксация бизнес-операций. Ролевая модель доступа.</a:t>
            </a:r>
          </a:p>
        </p:txBody>
      </p:sp>
      <p:pic>
        <p:nvPicPr>
          <p:cNvPr id="19" name="Рисунок 18" descr="Разряд молнии со сплошной заливкой">
            <a:extLst>
              <a:ext uri="{FF2B5EF4-FFF2-40B4-BE49-F238E27FC236}">
                <a16:creationId xmlns:a16="http://schemas.microsoft.com/office/drawing/2014/main" id="{6BC31CDB-A8DE-A5A2-D368-6FFE117B45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72" y="1891015"/>
            <a:ext cx="458254" cy="458254"/>
          </a:xfrm>
          <a:prstGeom prst="rect">
            <a:avLst/>
          </a:prstGeom>
        </p:spPr>
      </p:pic>
      <p:pic>
        <p:nvPicPr>
          <p:cNvPr id="21" name="Рисунок 20" descr="Термометр со сплошной заливкой">
            <a:extLst>
              <a:ext uri="{FF2B5EF4-FFF2-40B4-BE49-F238E27FC236}">
                <a16:creationId xmlns:a16="http://schemas.microsoft.com/office/drawing/2014/main" id="{43484E88-A637-7F50-4063-5DBBCD2712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560" y="3942235"/>
            <a:ext cx="458253" cy="458253"/>
          </a:xfrm>
          <a:prstGeom prst="rect">
            <a:avLst/>
          </a:prstGeom>
        </p:spPr>
      </p:pic>
      <p:pic>
        <p:nvPicPr>
          <p:cNvPr id="23" name="Рисунок 22" descr="База данных со сплошной заливкой">
            <a:extLst>
              <a:ext uri="{FF2B5EF4-FFF2-40B4-BE49-F238E27FC236}">
                <a16:creationId xmlns:a16="http://schemas.microsoft.com/office/drawing/2014/main" id="{CD097C59-E9DE-34D3-227D-6C078D504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077" y="2849524"/>
            <a:ext cx="458848" cy="458848"/>
          </a:xfrm>
          <a:prstGeom prst="rect">
            <a:avLst/>
          </a:prstGeom>
        </p:spPr>
      </p:pic>
      <p:pic>
        <p:nvPicPr>
          <p:cNvPr id="25" name="Рисунок 24" descr="Плохое зрение со сплошной заливкой">
            <a:extLst>
              <a:ext uri="{FF2B5EF4-FFF2-40B4-BE49-F238E27FC236}">
                <a16:creationId xmlns:a16="http://schemas.microsoft.com/office/drawing/2014/main" id="{5A233AF8-2ADB-3149-3FC2-5969079461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3776" y="1680448"/>
            <a:ext cx="458848" cy="458848"/>
          </a:xfrm>
          <a:prstGeom prst="rect">
            <a:avLst/>
          </a:prstGeom>
        </p:spPr>
      </p:pic>
      <p:pic>
        <p:nvPicPr>
          <p:cNvPr id="27" name="Рисунок 26" descr="Блокировка со сплошной заливкой">
            <a:extLst>
              <a:ext uri="{FF2B5EF4-FFF2-40B4-BE49-F238E27FC236}">
                <a16:creationId xmlns:a16="http://schemas.microsoft.com/office/drawing/2014/main" id="{9126D3F8-033B-2B46-6673-01DA5177F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3776" y="3039946"/>
            <a:ext cx="458849" cy="45884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C75F784-65FC-07CE-1DF4-FED0AB738269}"/>
              </a:ext>
            </a:extLst>
          </p:cNvPr>
          <p:cNvSpPr txBox="1"/>
          <p:nvPr/>
        </p:nvSpPr>
        <p:spPr>
          <a:xfrm>
            <a:off x="6552624" y="4010330"/>
            <a:ext cx="45717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Bahnschrift SemiBold Condensed" panose="020B0502040204020203" pitchFamily="34" charset="0"/>
              </a:rPr>
              <a:t>Предиктивная диагностика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Непрерывное отслеживание ключевых параметров узлов АСУ (токи, напряжения, КЗ, обрыв линии питания, температуры, влажности и др. Предиктивный подход позволяет максимально оперативно реагировать на инциденты, помогая идентифицировать тип и масштаб неисправности. Учет моторесурса основных узлов, планирование ТО</a:t>
            </a:r>
          </a:p>
        </p:txBody>
      </p:sp>
      <p:sp>
        <p:nvSpPr>
          <p:cNvPr id="33" name="Объект 2">
            <a:extLst>
              <a:ext uri="{FF2B5EF4-FFF2-40B4-BE49-F238E27FC236}">
                <a16:creationId xmlns:a16="http://schemas.microsoft.com/office/drawing/2014/main" id="{4CB6B098-7685-85DE-D62C-3810B8EB81AE}"/>
              </a:ext>
            </a:extLst>
          </p:cNvPr>
          <p:cNvSpPr txBox="1">
            <a:spLocks/>
          </p:cNvSpPr>
          <p:nvPr/>
        </p:nvSpPr>
        <p:spPr>
          <a:xfrm>
            <a:off x="464559" y="5393471"/>
            <a:ext cx="10659767" cy="646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Автоматизированная Система Управления аппарата спроектирована так - чтобы отказ одного компонента привел к минимальному ущербу, не блокируя производственные процессы заказчика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AA546D-DF7B-4DA6-974D-C1E23797B69C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39" name="Рисунок 38" descr="Лампочка и шестеренка со сплошной заливкой">
            <a:extLst>
              <a:ext uri="{FF2B5EF4-FFF2-40B4-BE49-F238E27FC236}">
                <a16:creationId xmlns:a16="http://schemas.microsoft.com/office/drawing/2014/main" id="{51DE8AC6-53F0-A1DD-5A3C-27EDDC82CB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6899" y="4037753"/>
            <a:ext cx="612602" cy="61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447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3564A2-BCF7-5665-4093-3332218A9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17000" contrast="-1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6232" y="0"/>
            <a:ext cx="6855768" cy="6855768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AD883E9-78B8-E9C1-5EDC-5F727F775452}"/>
              </a:ext>
            </a:extLst>
          </p:cNvPr>
          <p:cNvSpPr/>
          <p:nvPr/>
        </p:nvSpPr>
        <p:spPr>
          <a:xfrm>
            <a:off x="0" y="0"/>
            <a:ext cx="7410450" cy="6855768"/>
          </a:xfrm>
          <a:prstGeom prst="rect">
            <a:avLst/>
          </a:prstGeom>
          <a:gradFill>
            <a:gsLst>
              <a:gs pos="0">
                <a:schemeClr val="tx1">
                  <a:alpha val="10000"/>
                </a:schemeClr>
              </a:gs>
              <a:gs pos="14000">
                <a:schemeClr val="tx1">
                  <a:alpha val="93000"/>
                </a:schemeClr>
              </a:gs>
              <a:gs pos="32000">
                <a:schemeClr val="tx1"/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91C18-CE88-4D55-C478-4E34B94A1C61}"/>
              </a:ext>
            </a:extLst>
          </p:cNvPr>
          <p:cNvSpPr txBox="1"/>
          <p:nvPr/>
        </p:nvSpPr>
        <p:spPr>
          <a:xfrm>
            <a:off x="1257300" y="1009650"/>
            <a:ext cx="825817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0</a:t>
            </a:r>
            <a:r>
              <a:rPr lang="ru-RU" sz="96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3</a:t>
            </a:r>
            <a:endParaRPr lang="en-US" sz="96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  <a:p>
            <a:r>
              <a:rPr lang="ru-RU" sz="4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Программное обеспечение</a:t>
            </a:r>
          </a:p>
          <a:p>
            <a:r>
              <a:rPr lang="ru-RU" sz="28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Инструмент администрирования складского учета</a:t>
            </a:r>
          </a:p>
          <a:p>
            <a:r>
              <a:rPr lang="ru-RU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«здесь нужна нормальная картинка раздела»</a:t>
            </a:r>
          </a:p>
          <a:p>
            <a:endParaRPr lang="ru-RU" sz="44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  <a:p>
            <a:endParaRPr lang="ru-RU" sz="44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221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9C345DC6-6FBD-7560-8C92-79430DB225E5}"/>
              </a:ext>
            </a:extLst>
          </p:cNvPr>
          <p:cNvSpPr/>
          <p:nvPr/>
        </p:nvSpPr>
        <p:spPr>
          <a:xfrm>
            <a:off x="0" y="243840"/>
            <a:ext cx="60960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Программное обеспечение. </a:t>
            </a:r>
            <a:r>
              <a:rPr lang="en-US" sz="2400" dirty="0">
                <a:latin typeface="Bahnschrift SemiBold Condensed" panose="020B0502040204020203" pitchFamily="34" charset="0"/>
              </a:rPr>
              <a:t>TMS</a:t>
            </a:r>
            <a:endParaRPr lang="ru-RU" sz="2400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80B77CA9-4F72-06F4-9BCD-C4EA4B89C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890147"/>
            <a:ext cx="10953750" cy="51487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Комплекс ПО «Уральца»  венчает - Tool Management System (TMS).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TMS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это центральный компонент комплекса.</a:t>
            </a:r>
            <a:b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Система объединяет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:	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100" dirty="0"/>
              <a:t>➤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вендинговые аппараты работающие в цеховом пространстве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100" dirty="0"/>
              <a:t>➤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сервера хранящие номенклатуру ТМЦ, отчеты, средства конфигурирования</a:t>
            </a:r>
            <a:b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100" dirty="0"/>
              <a:t>➤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инструменты взаимодействия с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ERP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заказчика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в единую, интегрированную систему управления инструментом, оснасткой и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другими ТМЦ. Оно обеспечивает полный цикл учёта, контроля и планирования — от поступления инструмента на склад до его утилизации.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TMS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интегрируется с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ERP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или другими учётными системами предприятия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 адаптируется под производственные процессы заказчика. </a:t>
            </a:r>
          </a:p>
          <a:p>
            <a:pPr marL="0" indent="0" algn="just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Функциональные модули и возможности системы: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номенклатура и складские операции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склады и адресное хранение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планирование производства и нормирование выдачи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администрирование пользователей и права доступа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отчёты, задачи, уведомления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интеграция и безопасность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A7B06-00F2-7399-AEB3-E9DF07ABFBDD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7868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99FE37B-48ED-0CFA-90BE-05C9951C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8" y="4117796"/>
            <a:ext cx="967740" cy="967740"/>
          </a:xfrm>
          <a:prstGeom prst="rect">
            <a:avLst/>
          </a:prstGeom>
        </p:spPr>
      </p:pic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878C400C-7617-94F9-2983-825C13FDDA4B}"/>
              </a:ext>
            </a:extLst>
          </p:cNvPr>
          <p:cNvSpPr/>
          <p:nvPr/>
        </p:nvSpPr>
        <p:spPr>
          <a:xfrm>
            <a:off x="0" y="243840"/>
            <a:ext cx="794385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Программное обеспечение. Номенклатура и складские операции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17D7EE1-06E9-E841-10D5-93419C5FC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890147"/>
            <a:ext cx="10953750" cy="9577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Иерархический справочник всех номенклатурных позиций (инструмент, оснастка, СИЗ, ТМЦ), сгруппированных по категориям и группам. Каждая позиция представлена в виде карточки с названием, артикулом, техническими характеристиками, изображениями. Справочник можно импортировать из XLSX.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9BD13A7-3FDD-350A-F921-9158C5697300}"/>
              </a:ext>
            </a:extLst>
          </p:cNvPr>
          <p:cNvSpPr txBox="1">
            <a:spLocks/>
          </p:cNvSpPr>
          <p:nvPr/>
        </p:nvSpPr>
        <p:spPr>
          <a:xfrm>
            <a:off x="933450" y="1847850"/>
            <a:ext cx="5162550" cy="44862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Предусмотренный функционал: </a:t>
            </a:r>
          </a:p>
          <a:p>
            <a:pPr marL="0" indent="0"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КАТАЛОГ </a:t>
            </a:r>
            <a:b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Создание электронного каталога номенклатуры производства, группировка по категориями и видам, назначение набора технических характеристик, присвоение внутренних учетных номеров</a:t>
            </a:r>
            <a:endParaRPr lang="ru-RU" sz="2000" u="sng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  <a:p>
            <a:pPr marL="0" indent="0"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ПОПОЛНЕНИЕ / ИЗЪЯТИЕ</a:t>
            </a:r>
            <a:b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загрузка инструмента в ячейку с указанием количества</a:t>
            </a:r>
            <a:b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выдача инструмента сотруднику (с привязкой к его учётной записи)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ИНВЕНТАРИЗАЦИЯ</a:t>
            </a:r>
            <a:b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сверка фактического наличия с учётными данными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СДАЧА В ЛОМ</a:t>
            </a:r>
            <a:b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списание непригодного инструмента (с взвешиванием)</a:t>
            </a:r>
          </a:p>
          <a:p>
            <a:pPr marL="0" indent="0"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ПЕРЕТОЧКА / РЕМОНТ</a:t>
            </a:r>
            <a:br>
              <a:rPr lang="ru-RU" sz="2000" b="1" dirty="0"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отправка инструмента на восстановление и возврат в работу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ПОВЕРКА</a:t>
            </a:r>
            <a:br>
              <a:rPr lang="ru-RU" sz="2000" dirty="0"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изъятие на поверку и возврат с указанием даты следующей поверки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4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93CB2-12BC-FAF5-CE74-D61F71A34768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1689A77-D580-FAF2-ECC8-166140C0C2A6}"/>
              </a:ext>
            </a:extLst>
          </p:cNvPr>
          <p:cNvCxnSpPr>
            <a:stCxn id="6" idx="2"/>
          </p:cNvCxnSpPr>
          <p:nvPr/>
        </p:nvCxnSpPr>
        <p:spPr>
          <a:xfrm flipH="1">
            <a:off x="6400800" y="1847850"/>
            <a:ext cx="9525" cy="428625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Объект 2">
            <a:extLst>
              <a:ext uri="{FF2B5EF4-FFF2-40B4-BE49-F238E27FC236}">
                <a16:creationId xmlns:a16="http://schemas.microsoft.com/office/drawing/2014/main" id="{AA4B5546-3B66-A315-0106-C08DC4756548}"/>
              </a:ext>
            </a:extLst>
          </p:cNvPr>
          <p:cNvSpPr txBox="1">
            <a:spLocks/>
          </p:cNvSpPr>
          <p:nvPr/>
        </p:nvSpPr>
        <p:spPr>
          <a:xfrm>
            <a:off x="6486525" y="1847849"/>
            <a:ext cx="4573905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Как работает на практике:</a:t>
            </a:r>
          </a:p>
          <a:p>
            <a:pPr algn="just">
              <a:lnSpc>
                <a:spcPct val="7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Кладовщик создаёт номенклатурную позицию в справочнике.</a:t>
            </a:r>
          </a:p>
          <a:p>
            <a:pPr algn="just">
              <a:lnSpc>
                <a:spcPct val="7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При поступлении инструмента он выполняет операцию «Пополнение», указывает ячейку и количество.</a:t>
            </a:r>
          </a:p>
          <a:p>
            <a:pPr algn="just">
              <a:lnSpc>
                <a:spcPct val="7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Сотрудник получает инструмент через операцию «Изъятие» — система автоматически привязывает его к сотруднику.</a:t>
            </a:r>
          </a:p>
          <a:p>
            <a:pPr algn="just">
              <a:lnSpc>
                <a:spcPct val="7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При возврате система показывает список ранее выданного — сотрудник выбирает, что сдаёт.</a:t>
            </a:r>
          </a:p>
          <a:p>
            <a:pPr algn="just">
              <a:lnSpc>
                <a:spcPct val="7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Если инструмент непригоден для дальнейшего использования — операция «Сдача в лом» с фотофиксацией.</a:t>
            </a:r>
          </a:p>
          <a:p>
            <a:pPr algn="just">
              <a:lnSpc>
                <a:spcPct val="7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Если инструмент требует переточки или поверки — система фиксирует статус и дату следующего события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.</a:t>
            </a:r>
          </a:p>
          <a:p>
            <a:pPr marL="0" indent="0">
              <a:buNone/>
            </a:pPr>
            <a:endParaRPr lang="ru-RU" sz="14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  <a:p>
            <a:pPr marL="0" indent="0" algn="just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Каждый инструмент всегда привязан к конкретному сотруднику и месту. Исключены потери, хищения, списания без обоснования. </a:t>
            </a:r>
            <a:b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Процесс возврата становится быстрым и прозрачным.</a:t>
            </a:r>
          </a:p>
        </p:txBody>
      </p:sp>
      <p:pic>
        <p:nvPicPr>
          <p:cNvPr id="15" name="Рисунок 14" descr="Книги на полке со сплошной заливкой">
            <a:extLst>
              <a:ext uri="{FF2B5EF4-FFF2-40B4-BE49-F238E27FC236}">
                <a16:creationId xmlns:a16="http://schemas.microsoft.com/office/drawing/2014/main" id="{31B5ED6B-8236-990F-555E-D3AE32BF7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137" y="2302668"/>
            <a:ext cx="581025" cy="581025"/>
          </a:xfrm>
          <a:prstGeom prst="rect">
            <a:avLst/>
          </a:prstGeom>
        </p:spPr>
      </p:pic>
      <p:pic>
        <p:nvPicPr>
          <p:cNvPr id="17" name="Рисунок 16" descr="Передача со сплошной заливкой">
            <a:extLst>
              <a:ext uri="{FF2B5EF4-FFF2-40B4-BE49-F238E27FC236}">
                <a16:creationId xmlns:a16="http://schemas.microsoft.com/office/drawing/2014/main" id="{B5C4F47C-237A-E6BC-0E94-27600F754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>
            <a:off x="383380" y="3127771"/>
            <a:ext cx="490538" cy="490538"/>
          </a:xfrm>
          <a:prstGeom prst="rect">
            <a:avLst/>
          </a:prstGeom>
        </p:spPr>
      </p:pic>
      <p:pic>
        <p:nvPicPr>
          <p:cNvPr id="19" name="Рисунок 18" descr="Контрольный список со сплошной заливкой">
            <a:extLst>
              <a:ext uri="{FF2B5EF4-FFF2-40B4-BE49-F238E27FC236}">
                <a16:creationId xmlns:a16="http://schemas.microsoft.com/office/drawing/2014/main" id="{319EC217-84BC-6D1D-7EAD-E7C6ABF2B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80" y="3815854"/>
            <a:ext cx="490537" cy="490537"/>
          </a:xfrm>
          <a:prstGeom prst="rect">
            <a:avLst/>
          </a:prstGeom>
        </p:spPr>
      </p:pic>
      <p:pic>
        <p:nvPicPr>
          <p:cNvPr id="21" name="Рисунок 20" descr="Мишень со сплошной заливкой">
            <a:extLst>
              <a:ext uri="{FF2B5EF4-FFF2-40B4-BE49-F238E27FC236}">
                <a16:creationId xmlns:a16="http://schemas.microsoft.com/office/drawing/2014/main" id="{F375825F-D480-398A-C08B-AC022A81B2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1473" y="4919757"/>
            <a:ext cx="485777" cy="485777"/>
          </a:xfrm>
          <a:prstGeom prst="rect">
            <a:avLst/>
          </a:prstGeom>
        </p:spPr>
      </p:pic>
      <p:pic>
        <p:nvPicPr>
          <p:cNvPr id="24" name="Рисунок 23" descr="Флажок со сплошной заливкой">
            <a:extLst>
              <a:ext uri="{FF2B5EF4-FFF2-40B4-BE49-F238E27FC236}">
                <a16:creationId xmlns:a16="http://schemas.microsoft.com/office/drawing/2014/main" id="{10396877-D5F9-0A8E-25B9-AF20E9CBAA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2" y="5500784"/>
            <a:ext cx="485777" cy="48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87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366AB664-96B5-8E94-DE22-8F670EF4F633}"/>
              </a:ext>
            </a:extLst>
          </p:cNvPr>
          <p:cNvSpPr/>
          <p:nvPr/>
        </p:nvSpPr>
        <p:spPr>
          <a:xfrm>
            <a:off x="0" y="243840"/>
            <a:ext cx="794385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Программное обеспечение. Склады и адресное хранение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10B2E08-C02A-CBF0-CA7E-1D04BA9A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890147"/>
            <a:ext cx="10953750" cy="9577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Справочник всех мест хранения — спиральные шкафы, постаматы, стеллажи. Каждое место хранения описывается параметрами: количество ячеек, их конфигурация, тип оборудования, параметры подключения (для автоматизированных устройств)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447CCAB-B2CC-EFA2-E7C3-F3F1AB7F680A}"/>
              </a:ext>
            </a:extLst>
          </p:cNvPr>
          <p:cNvSpPr txBox="1">
            <a:spLocks/>
          </p:cNvSpPr>
          <p:nvPr/>
        </p:nvSpPr>
        <p:spPr>
          <a:xfrm>
            <a:off x="933450" y="1695451"/>
            <a:ext cx="4965700" cy="457581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6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Склады и помещения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Возможность создать помещения и склады (в том числе и автоматизированные) и настроить их план в визуальном интерфейсе, с указанием расположения, количества стеллажей и мест хранения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5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6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Места хранения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Создание мест хранения (ячеек склада) с настройкой следующих параметров:</a:t>
            </a:r>
            <a:b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присвоение номера ячейки для номенклатуры / набора ТМЦ</a:t>
            </a:r>
            <a:b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указание ёмкости ячейки (максимальный запас для места хранения)</a:t>
            </a:r>
            <a:b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настройка неснижаемого/аварийного остатка для ячейки</a:t>
            </a:r>
            <a:b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права доступа (настройка доступа к ячейке среди сотрудников)</a:t>
            </a:r>
            <a:b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 назначение: для выдачи, для возврата, для приема лома, для поверки и для переточки/ремонта ТМЦ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2000" dirty="0">
              <a:solidFill>
                <a:schemeClr val="tx1">
                  <a:lumMod val="75000"/>
                  <a:lumOff val="25000"/>
                </a:schemeClr>
              </a:solidFill>
              <a:latin typeface="Bahnschrift SemiBold Condensed" panose="020B0502040204020203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26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Логика работы: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Кладовщик открывает план аппарата, видит все ячейки с указанием остатков. При пополнении он нажимает на нужную ячейку, вводит количество — остатки обновляются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При выдаче система автоматически высвечивает нужную ячейку (подсветка), сотрудник забирает инструмент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ru-RU" sz="18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Если в ячейке осталось меньше минимального остатка — она подсвечивается жёлтым, система создаёт задачу на пополнение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3E3B7-D4B1-1E61-ECC0-226C06CFD34B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A777FB-95F1-9E5B-06E9-093E92EBE509}"/>
              </a:ext>
            </a:extLst>
          </p:cNvPr>
          <p:cNvSpPr/>
          <p:nvPr/>
        </p:nvSpPr>
        <p:spPr>
          <a:xfrm>
            <a:off x="6804660" y="1847850"/>
            <a:ext cx="5162550" cy="30594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2"/>
                </a:solidFill>
              </a:rPr>
              <a:t>«</a:t>
            </a:r>
            <a: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КАРТИНКА, ПОКАЗЫВАЮЩАЯ ИНТЕРФЕЙС ВЗАИМОДЕЙСТВИЯ СО СКЛАДОМ И ПОМЕЩЕНИЯМИ»</a:t>
            </a:r>
            <a:b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</a:br>
            <a: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Нужно показать что есть помещения, склады, что там лежит номенклатура, подсвеченные ячейки сигнализируют о достижении минимальных остатков с кратким выводом сообщения об этом. Помимо картинки номенклатуры в ячейке выводится наименование и артикул</a:t>
            </a:r>
            <a:endParaRPr lang="ru-RU" dirty="0">
              <a:solidFill>
                <a:schemeClr val="accent2"/>
              </a:solidFill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4265D90-7C21-8138-1F0D-C47872229AF0}"/>
              </a:ext>
            </a:extLst>
          </p:cNvPr>
          <p:cNvGrpSpPr/>
          <p:nvPr/>
        </p:nvGrpSpPr>
        <p:grpSpPr>
          <a:xfrm>
            <a:off x="496841" y="2912702"/>
            <a:ext cx="290513" cy="276227"/>
            <a:chOff x="642937" y="2656890"/>
            <a:chExt cx="290513" cy="276227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710A0C2-0D0F-3685-8887-2430019A2C05}"/>
                </a:ext>
              </a:extLst>
            </p:cNvPr>
            <p:cNvSpPr/>
            <p:nvPr/>
          </p:nvSpPr>
          <p:spPr>
            <a:xfrm>
              <a:off x="642937" y="2795004"/>
              <a:ext cx="138113" cy="138113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3DDEC9C1-4C87-5937-4E15-0CA09F4C2859}"/>
                </a:ext>
              </a:extLst>
            </p:cNvPr>
            <p:cNvSpPr/>
            <p:nvPr/>
          </p:nvSpPr>
          <p:spPr>
            <a:xfrm>
              <a:off x="795337" y="2795003"/>
              <a:ext cx="138113" cy="138113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0BC4087-107D-8ABF-6803-4243E4178EAC}"/>
                </a:ext>
              </a:extLst>
            </p:cNvPr>
            <p:cNvSpPr/>
            <p:nvPr/>
          </p:nvSpPr>
          <p:spPr>
            <a:xfrm>
              <a:off x="719137" y="2656890"/>
              <a:ext cx="138113" cy="138113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6" name="Прямоугольник: один усеченный угол 15">
              <a:extLst>
                <a:ext uri="{FF2B5EF4-FFF2-40B4-BE49-F238E27FC236}">
                  <a16:creationId xmlns:a16="http://schemas.microsoft.com/office/drawing/2014/main" id="{E339A0BC-10E1-2893-42ED-5D131F891DE8}"/>
                </a:ext>
              </a:extLst>
            </p:cNvPr>
            <p:cNvSpPr/>
            <p:nvPr/>
          </p:nvSpPr>
          <p:spPr>
            <a:xfrm>
              <a:off x="745331" y="2678323"/>
              <a:ext cx="83344" cy="45719"/>
            </a:xfrm>
            <a:prstGeom prst="snip1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: один усеченный угол 17">
              <a:extLst>
                <a:ext uri="{FF2B5EF4-FFF2-40B4-BE49-F238E27FC236}">
                  <a16:creationId xmlns:a16="http://schemas.microsoft.com/office/drawing/2014/main" id="{858E03FB-5AFD-C6D9-9E94-AB6739463868}"/>
                </a:ext>
              </a:extLst>
            </p:cNvPr>
            <p:cNvSpPr/>
            <p:nvPr/>
          </p:nvSpPr>
          <p:spPr>
            <a:xfrm>
              <a:off x="814387" y="2816436"/>
              <a:ext cx="83344" cy="45719"/>
            </a:xfrm>
            <a:prstGeom prst="snip1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: один усеченный угол 19">
              <a:extLst>
                <a:ext uri="{FF2B5EF4-FFF2-40B4-BE49-F238E27FC236}">
                  <a16:creationId xmlns:a16="http://schemas.microsoft.com/office/drawing/2014/main" id="{2C40038B-0A40-4E3C-0FD0-D8BB15280BC3}"/>
                </a:ext>
              </a:extLst>
            </p:cNvPr>
            <p:cNvSpPr/>
            <p:nvPr/>
          </p:nvSpPr>
          <p:spPr>
            <a:xfrm>
              <a:off x="668416" y="2816435"/>
              <a:ext cx="83344" cy="45719"/>
            </a:xfrm>
            <a:prstGeom prst="snip1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5011441-B2CB-0C60-B263-D4B2DCD74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81" y="1958026"/>
            <a:ext cx="618035" cy="41994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C92E6B1-ACA2-DCEA-BCA9-23320E803836}"/>
              </a:ext>
            </a:extLst>
          </p:cNvPr>
          <p:cNvSpPr txBox="1"/>
          <p:nvPr/>
        </p:nvSpPr>
        <p:spPr>
          <a:xfrm>
            <a:off x="6804660" y="5233312"/>
            <a:ext cx="5162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Полная наглядность, мгновенный контроль остатков, автоматическая генерация задач на пополнение. Информация о статусе ТМЦ в реальном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3444885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DC604515-051B-98DB-2FEF-0DBFB97E91B8}"/>
              </a:ext>
            </a:extLst>
          </p:cNvPr>
          <p:cNvSpPr/>
          <p:nvPr/>
        </p:nvSpPr>
        <p:spPr>
          <a:xfrm>
            <a:off x="0" y="243840"/>
            <a:ext cx="960755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Программное обеспечение. </a:t>
            </a:r>
            <a:r>
              <a:rPr lang="ru-RU" sz="2400" b="1" dirty="0">
                <a:latin typeface="Bahnschrift SemiBold Condensed" panose="020B0502040204020203" pitchFamily="34" charset="0"/>
              </a:rPr>
              <a:t>Планирование производства и нормирование выдачи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12353508-D367-D0B0-5605-A9C4A15EF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890147"/>
            <a:ext cx="10953750" cy="9577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Инструмент выдаётся по нормативу, сменные задания планируются автоматически</a:t>
            </a:r>
          </a:p>
          <a:p>
            <a:pPr marL="0" indent="0" algn="just"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Этот модуль объединяет три взаимосвязанных механизма, которые обеспечивают подготовку производства и контроль выдачи инструмента.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3F705-DD0C-05BA-8AD7-EEFD5647F059}"/>
              </a:ext>
            </a:extLst>
          </p:cNvPr>
          <p:cNvSpPr txBox="1"/>
          <p:nvPr/>
        </p:nvSpPr>
        <p:spPr>
          <a:xfrm>
            <a:off x="933450" y="1847850"/>
            <a:ext cx="29654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u="sng" dirty="0">
                <a:latin typeface="Bahnschrift SemiBold Condensed" panose="020B0502040204020203" pitchFamily="34" charset="0"/>
              </a:rPr>
              <a:t>Центры затрат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Иерархический справочник, отражающий структуру технологических процессов предприятия. 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Изделие → Деталь → Операция → Переход. 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 каждому элементу иерархии привязывается список необходимого инструмента и ТМЦ с указанием количества.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D8BA8-92C1-FA70-B9B1-6A81111C7570}"/>
              </a:ext>
            </a:extLst>
          </p:cNvPr>
          <p:cNvSpPr txBox="1"/>
          <p:nvPr/>
        </p:nvSpPr>
        <p:spPr>
          <a:xfrm>
            <a:off x="4832350" y="1847850"/>
            <a:ext cx="28257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u="sng" dirty="0">
                <a:latin typeface="Bahnschrift SemiBold Condensed" panose="020B0502040204020203" pitchFamily="34" charset="0"/>
              </a:rPr>
              <a:t>Нормы выдачи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Индивидуальные ограничения для каждого пользователя: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по количеству инструмента на период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по количеству одновременно на руках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Система автоматически блокирует выдачу при превышении нормы.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2EAB0-E859-1AFE-A8F6-DBD1E93FCA5E}"/>
              </a:ext>
            </a:extLst>
          </p:cNvPr>
          <p:cNvSpPr txBox="1"/>
          <p:nvPr/>
        </p:nvSpPr>
        <p:spPr>
          <a:xfrm>
            <a:off x="8591550" y="1847850"/>
            <a:ext cx="30289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u="sng" dirty="0">
                <a:latin typeface="Bahnschrift SemiBold Condensed" panose="020B0502040204020203" pitchFamily="34" charset="0"/>
              </a:rPr>
              <a:t>Сменные задания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Планирование производственных заданий для станков и участков. </a:t>
            </a:r>
          </a:p>
          <a:p>
            <a:pPr algn="just"/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Сменное задание позволяет настроить: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Перечень деталей для обработки за смену</a:t>
            </a: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Необходимый инструмент, оснастку и ТМЦ с указанием количества на каждую операцию</a:t>
            </a:r>
          </a:p>
        </p:txBody>
      </p:sp>
      <p:sp>
        <p:nvSpPr>
          <p:cNvPr id="14" name="Крест 13">
            <a:extLst>
              <a:ext uri="{FF2B5EF4-FFF2-40B4-BE49-F238E27FC236}">
                <a16:creationId xmlns:a16="http://schemas.microsoft.com/office/drawing/2014/main" id="{45965125-90DB-2607-F4AF-67509B04EC0F}"/>
              </a:ext>
            </a:extLst>
          </p:cNvPr>
          <p:cNvSpPr/>
          <p:nvPr/>
        </p:nvSpPr>
        <p:spPr>
          <a:xfrm>
            <a:off x="4222750" y="2438400"/>
            <a:ext cx="298450" cy="298450"/>
          </a:xfrm>
          <a:prstGeom prst="plus">
            <a:avLst>
              <a:gd name="adj" fmla="val 3719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Крест 15">
            <a:extLst>
              <a:ext uri="{FF2B5EF4-FFF2-40B4-BE49-F238E27FC236}">
                <a16:creationId xmlns:a16="http://schemas.microsoft.com/office/drawing/2014/main" id="{53AFEAD1-905E-5128-0061-D33AFD785771}"/>
              </a:ext>
            </a:extLst>
          </p:cNvPr>
          <p:cNvSpPr/>
          <p:nvPr/>
        </p:nvSpPr>
        <p:spPr>
          <a:xfrm>
            <a:off x="7975600" y="2438400"/>
            <a:ext cx="298450" cy="298450"/>
          </a:xfrm>
          <a:prstGeom prst="plus">
            <a:avLst>
              <a:gd name="adj" fmla="val 3719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D3446-53C6-E842-B001-ADDF97E8237B}"/>
              </a:ext>
            </a:extLst>
          </p:cNvPr>
          <p:cNvSpPr txBox="1"/>
          <p:nvPr/>
        </p:nvSpPr>
        <p:spPr>
          <a:xfrm>
            <a:off x="933450" y="3896797"/>
            <a:ext cx="54356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Как работает на практике: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ru-RU" sz="12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Технолог создаёт структуру центров затрат и присваивает инструмент к каждой операции.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ru-RU" sz="12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Система генерирует штрих-код для каждой операции.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ru-RU" sz="12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Мастер или технолог создаёт сменное задание (на основе центра затрат или из учётной системы).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ru-RU" sz="12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Проверка наличия необходимого для операции инструмента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ru-RU" sz="12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Если чего-то не хватает — система формирует уведомление и создаёт задачу на пополнение.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ru-RU" sz="12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Оператор получает задание на своём интерфейсе и видит перечень деталей и инструмента.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ru-RU" sz="12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Сотрудник сканирует штрих-код задания у аппарата выдачи, система присваивает перечень инструмента к исполняемой операции, производится выдача ТМЦ.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D46A7E-1792-CDD7-980C-3B7DDFC3C08E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62F0C6B-B9AA-051D-1CED-3F2FB1A50361}"/>
              </a:ext>
            </a:extLst>
          </p:cNvPr>
          <p:cNvSpPr/>
          <p:nvPr/>
        </p:nvSpPr>
        <p:spPr>
          <a:xfrm>
            <a:off x="6410324" y="3429000"/>
            <a:ext cx="5476875" cy="28575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2"/>
                </a:solidFill>
              </a:rPr>
              <a:t>«</a:t>
            </a:r>
            <a: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КАРТИНКА, ПОКАЗЫВАЮЩАЯ ИНТЕРФЕЙС СМЕННЫХ ЗАДАНИЙ»</a:t>
            </a:r>
            <a:b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</a:br>
            <a: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ПОКАЗАТЬ ДЕРЕВО СМЕННОГО ЗАДАНИЯ:</a:t>
            </a:r>
            <a:b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</a:br>
            <a: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Деталь-Операция-Перечень инструмента-Количество</a:t>
            </a:r>
            <a:endParaRPr lang="ru-RU" dirty="0">
              <a:solidFill>
                <a:schemeClr val="accent2"/>
              </a:solidFill>
            </a:endParaRPr>
          </a:p>
        </p:txBody>
      </p:sp>
      <p:pic>
        <p:nvPicPr>
          <p:cNvPr id="23" name="Рисунок 22" descr="Документ со сплошной заливкой">
            <a:extLst>
              <a:ext uri="{FF2B5EF4-FFF2-40B4-BE49-F238E27FC236}">
                <a16:creationId xmlns:a16="http://schemas.microsoft.com/office/drawing/2014/main" id="{E0BD5325-9144-E580-C0EF-3269529DD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81975" y="1811814"/>
            <a:ext cx="457200" cy="457200"/>
          </a:xfrm>
          <a:prstGeom prst="rect">
            <a:avLst/>
          </a:prstGeom>
        </p:spPr>
      </p:pic>
      <p:pic>
        <p:nvPicPr>
          <p:cNvPr id="25" name="Рисунок 24" descr="Список со сплошной заливкой">
            <a:extLst>
              <a:ext uri="{FF2B5EF4-FFF2-40B4-BE49-F238E27FC236}">
                <a16:creationId xmlns:a16="http://schemas.microsoft.com/office/drawing/2014/main" id="{8644D694-3050-C7BA-C3BC-E806A1647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830440"/>
            <a:ext cx="419948" cy="419948"/>
          </a:xfrm>
          <a:prstGeom prst="rect">
            <a:avLst/>
          </a:prstGeom>
        </p:spPr>
      </p:pic>
      <p:pic>
        <p:nvPicPr>
          <p:cNvPr id="27" name="Рисунок 26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CF44C7A0-27FD-7628-EA62-713C5DCFC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975" y="1811814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05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FD2ABA06-4ACE-1F13-5154-52DE0F108A0A}"/>
              </a:ext>
            </a:extLst>
          </p:cNvPr>
          <p:cNvSpPr/>
          <p:nvPr/>
        </p:nvSpPr>
        <p:spPr>
          <a:xfrm>
            <a:off x="0" y="243840"/>
            <a:ext cx="960755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Программное обеспечение. </a:t>
            </a:r>
            <a:r>
              <a:rPr lang="ru-RU" sz="2400" b="1" dirty="0">
                <a:latin typeface="Bahnschrift SemiBold Condensed" panose="020B0502040204020203" pitchFamily="34" charset="0"/>
              </a:rPr>
              <a:t>Администрирование пользователей и права доступа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48523EEE-004B-F7AA-9548-73C6EF523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890147"/>
            <a:ext cx="10039350" cy="65290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В системе управления предусмотрена политика прав, которая позволяет настраивать доступ сотрудников как внутри системы, так и к складам (в том числе автоматизированным) на производственной площадке.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6F613-1FDC-ACA6-E199-9C7BA6914CF5}"/>
              </a:ext>
            </a:extLst>
          </p:cNvPr>
          <p:cNvSpPr txBox="1"/>
          <p:nvPr/>
        </p:nvSpPr>
        <p:spPr>
          <a:xfrm>
            <a:off x="933450" y="1943100"/>
            <a:ext cx="5400675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Справочник пользователей системы</a:t>
            </a:r>
          </a:p>
          <a:p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База данных сотрудников со следующей информацией: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Контактные данные: ФИО, телефон,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e-mail</a:t>
            </a:r>
            <a:endParaRPr lang="ru-RU" sz="14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Роли в системе (оператор, мастер, кладовщик, администратор, ревизор, бухгалтер)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ПИН-кода и/или номера RFID-карты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Шаблонов норм выдачи, применённых к пользователю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Статуса (активен/заблокирован)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4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44522-FFBC-CC69-07AA-8B2AC38910FA}"/>
              </a:ext>
            </a:extLst>
          </p:cNvPr>
          <p:cNvSpPr txBox="1"/>
          <p:nvPr/>
        </p:nvSpPr>
        <p:spPr>
          <a:xfrm>
            <a:off x="942975" y="3773270"/>
            <a:ext cx="56578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ru-RU" sz="20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Создание ролевых моделей</a:t>
            </a:r>
          </a:p>
          <a:p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Предусмотрен функционал создания ролевых моделей для пользователей системы: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Оператор: Выдача, возврат, сдача в лом, передача по смене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Мастер: Функционал оператора, просмотр сменных заданий, контроль выдачи, статистика и отчеты по цеху / участку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Кладовщик: Все операции, кроме администрирования пользователей и настроек оборудования, отчеты по складу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Администратор: Полный доступ ко всем функциям системы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Аудитор: Полный доступ на просмотр, без права изменения</a:t>
            </a:r>
          </a:p>
          <a:p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Настройка доступа и присвоение роли настраивается в соответствии с требованиями политики предприятия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8F5953-D8BC-13F4-80F0-AD64384F3073}"/>
              </a:ext>
            </a:extLst>
          </p:cNvPr>
          <p:cNvSpPr txBox="1"/>
          <p:nvPr/>
        </p:nvSpPr>
        <p:spPr>
          <a:xfrm>
            <a:off x="933450" y="1433228"/>
            <a:ext cx="8048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Прозрачность на всех уровнях: каждый сотрудник работает только в рамках своих полномочий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FCF79-4B37-FEAE-8899-921E2DB5213E}"/>
              </a:ext>
            </a:extLst>
          </p:cNvPr>
          <p:cNvSpPr txBox="1"/>
          <p:nvPr/>
        </p:nvSpPr>
        <p:spPr>
          <a:xfrm>
            <a:off x="6334125" y="1943100"/>
            <a:ext cx="532447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Принцип работы политики прав: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Администратор создаёт нового сотрудника, назначает ему роль и лимиты на выдачу ТМЦ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Сотрудник авторизуется по RFID-карте или ПИН-коду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Интерфейс адаптируется под его права — доступны только те операции и номенклатура, которые назначены в политике прав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Все действия записываются в реестр с присвоением учетной записи сотрудника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31E09-F4BC-2E88-9032-B6B891BDCDC4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18" name="Рисунок 17" descr="Подключения со сплошной заливкой">
            <a:extLst>
              <a:ext uri="{FF2B5EF4-FFF2-40B4-BE49-F238E27FC236}">
                <a16:creationId xmlns:a16="http://schemas.microsoft.com/office/drawing/2014/main" id="{DD8E3F8A-1D4C-739C-9581-B0E21D913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025" y="1974166"/>
            <a:ext cx="742950" cy="742950"/>
          </a:xfrm>
          <a:prstGeom prst="rect">
            <a:avLst/>
          </a:prstGeom>
        </p:spPr>
      </p:pic>
      <p:pic>
        <p:nvPicPr>
          <p:cNvPr id="20" name="Рисунок 19" descr="Бейдж сотрудника со сплошной заливкой">
            <a:extLst>
              <a:ext uri="{FF2B5EF4-FFF2-40B4-BE49-F238E27FC236}">
                <a16:creationId xmlns:a16="http://schemas.microsoft.com/office/drawing/2014/main" id="{2EC3C847-D653-C2E9-CD51-51E3C0C570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159" y="3855931"/>
            <a:ext cx="654816" cy="654816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F5A040-9016-B809-7C62-F28EC7093B40}"/>
              </a:ext>
            </a:extLst>
          </p:cNvPr>
          <p:cNvSpPr/>
          <p:nvPr/>
        </p:nvSpPr>
        <p:spPr>
          <a:xfrm>
            <a:off x="6410324" y="3851315"/>
            <a:ext cx="5476875" cy="22658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2"/>
                </a:solidFill>
              </a:rPr>
              <a:t>«</a:t>
            </a:r>
            <a: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КАРТИНКА, ПОКАЗЫВАЮЩАЯ ИНТЕРФЕЙС СПРАВОЧНИКА ПОЛЬЗОВАТЕЛЕЙ»</a:t>
            </a:r>
            <a:b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</a:br>
            <a:r>
              <a:rPr lang="ru-RU" dirty="0">
                <a:solidFill>
                  <a:schemeClr val="accent2"/>
                </a:solidFill>
                <a:latin typeface="Bahnschrift SemiBold Condensed" panose="020B0502040204020203" pitchFamily="34" charset="0"/>
              </a:rPr>
              <a:t>ПОКАЗАТЬ РОЛИ, ПОКАЗАТЬ</a:t>
            </a:r>
            <a:endParaRPr lang="ru-RU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290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1DA9920C-88F3-4552-61A8-5B3754307DC3}"/>
              </a:ext>
            </a:extLst>
          </p:cNvPr>
          <p:cNvSpPr/>
          <p:nvPr/>
        </p:nvSpPr>
        <p:spPr>
          <a:xfrm>
            <a:off x="0" y="243840"/>
            <a:ext cx="7305675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Программное обеспечение. </a:t>
            </a:r>
            <a:r>
              <a:rPr lang="ru-RU" sz="2400" b="1" dirty="0">
                <a:latin typeface="Bahnschrift SemiBold Condensed" panose="020B0502040204020203" pitchFamily="34" charset="0"/>
              </a:rPr>
              <a:t>Отчёты, задачи, уведомления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76BBE34-7950-AF24-4A19-1803797D9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499" y="1543050"/>
            <a:ext cx="4352925" cy="327920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ОТЧЕТЫ – ДАННЫЕ ДЛЯ ПРИНЯТИЯ РЕШЕНИЙ: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Склад: Актуальные остатки, уровень дефицита, инвентаризации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Использование: Расход по сотрудникам, по станкам, сравнение с нормативами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Сотрудники: Инструмент «на руках» у каждого, история выдач/возвратов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Мерительный инструмент: Поверки, сроки, история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Центры затрат: Расход по технологическим операциям для анализа себестоимости ТМЦ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Каждый отчёт можно выгрузить в XLSX, отправить на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e-mail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, визуализировать в виде графиков и диаграмм.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2377120B-14D9-799F-645A-FBAD8ACC4DDB}"/>
              </a:ext>
            </a:extLst>
          </p:cNvPr>
          <p:cNvSpPr txBox="1">
            <a:spLocks/>
          </p:cNvSpPr>
          <p:nvPr/>
        </p:nvSpPr>
        <p:spPr>
          <a:xfrm>
            <a:off x="971548" y="4099131"/>
            <a:ext cx="4352925" cy="3279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ЗАДАЧИ И ПРОЕКТЫ: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Задачи можно ставить на основании любого документа в системе: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Достижение минимального остатка → задача на пополнение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Истечение срока поверки → задача на поверку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Нарушение нормы выдачи → задача на разбор ситуации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Задачи группируются в проекты, имеют исполнителей, наблюдателей, сроки, комментарии, прикреплённые файлы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A6594ECB-6CB2-04C6-7C01-4DBF6B4C3284}"/>
              </a:ext>
            </a:extLst>
          </p:cNvPr>
          <p:cNvSpPr txBox="1">
            <a:spLocks/>
          </p:cNvSpPr>
          <p:nvPr/>
        </p:nvSpPr>
        <p:spPr>
          <a:xfrm>
            <a:off x="6638924" y="1543050"/>
            <a:ext cx="5553076" cy="34056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2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СИСТЕМА УВЕДОМЛЕНИЙ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Система формирует уведомления по системным триггерам: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нарушение норм выдачи (превышение лимитов)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достижение минимального остатка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истечение срока поверки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Аппаратная неисправность (Напряжение, Температура, Заклинивание замка…)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недостаток инструмента для выполнения сменного задания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Уведомления направляются: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внутри системы (операторам, мастерам, кладовщикам)</a:t>
            </a:r>
          </a:p>
          <a:p>
            <a:pPr>
              <a:lnSpc>
                <a:spcPct val="60000"/>
              </a:lnSpc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во внешние каналы: 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e-mail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, SMS-шлюз, мессенджеры (по настройке)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714D4A78-545E-A971-9122-EFCC4C9120F8}"/>
              </a:ext>
            </a:extLst>
          </p:cNvPr>
          <p:cNvSpPr txBox="1">
            <a:spLocks/>
          </p:cNvSpPr>
          <p:nvPr/>
        </p:nvSpPr>
        <p:spPr>
          <a:xfrm>
            <a:off x="933450" y="890147"/>
            <a:ext cx="10039350" cy="652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Ничего не упущено — всё под контролем. Руководитель, мастер и кладовщик всегда знают, где дефицит, у кого какие задачи, что требует внимания. Система напоминает, а не человек держит всё в голове.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5687A-5D93-9F5F-347F-F33E3B2E0CBA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18" name="Рисунок 17" descr="Предупреждение со сплошной заливкой">
            <a:extLst>
              <a:ext uri="{FF2B5EF4-FFF2-40B4-BE49-F238E27FC236}">
                <a16:creationId xmlns:a16="http://schemas.microsoft.com/office/drawing/2014/main" id="{206CA83E-2025-52A6-8F71-2AEE039FC7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6000" y="1537863"/>
            <a:ext cx="387350" cy="387350"/>
          </a:xfrm>
          <a:prstGeom prst="rect">
            <a:avLst/>
          </a:prstGeom>
        </p:spPr>
      </p:pic>
      <p:pic>
        <p:nvPicPr>
          <p:cNvPr id="20" name="Рисунок 19" descr="Контрольный список со сплошной заливкой">
            <a:extLst>
              <a:ext uri="{FF2B5EF4-FFF2-40B4-BE49-F238E27FC236}">
                <a16:creationId xmlns:a16="http://schemas.microsoft.com/office/drawing/2014/main" id="{74C4C563-357C-A123-3C12-9379322C7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503" y="4099131"/>
            <a:ext cx="419947" cy="419947"/>
          </a:xfrm>
          <a:prstGeom prst="rect">
            <a:avLst/>
          </a:prstGeom>
        </p:spPr>
      </p:pic>
      <p:pic>
        <p:nvPicPr>
          <p:cNvPr id="22" name="Рисунок 21" descr="Линейчатая диаграмма со сплошной заливкой">
            <a:extLst>
              <a:ext uri="{FF2B5EF4-FFF2-40B4-BE49-F238E27FC236}">
                <a16:creationId xmlns:a16="http://schemas.microsoft.com/office/drawing/2014/main" id="{2C7CAE78-EE7B-4D69-9D32-EF11D1DBF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928" y="1505265"/>
            <a:ext cx="419948" cy="41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35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08A5DE2-E009-408F-5B6A-6F22C26B0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991" y="1407504"/>
            <a:ext cx="873065" cy="873065"/>
          </a:xfrm>
          <a:prstGeom prst="rect">
            <a:avLst/>
          </a:prstGeom>
        </p:spPr>
      </p:pic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8D6B3F32-0959-A959-3BFE-CE6571140D13}"/>
              </a:ext>
            </a:extLst>
          </p:cNvPr>
          <p:cNvSpPr/>
          <p:nvPr/>
        </p:nvSpPr>
        <p:spPr>
          <a:xfrm>
            <a:off x="0" y="243840"/>
            <a:ext cx="7305675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Программное обеспечение. </a:t>
            </a:r>
            <a:r>
              <a:rPr lang="ru-RU" sz="2400" b="1" dirty="0">
                <a:latin typeface="Bahnschrift SemiBold Condensed" panose="020B0502040204020203" pitchFamily="34" charset="0"/>
              </a:rPr>
              <a:t>Интеграция и Безопасность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FC196C75-EC6B-9E99-B8BD-FA89DCF45715}"/>
              </a:ext>
            </a:extLst>
          </p:cNvPr>
          <p:cNvSpPr txBox="1">
            <a:spLocks/>
          </p:cNvSpPr>
          <p:nvPr/>
        </p:nvSpPr>
        <p:spPr>
          <a:xfrm>
            <a:off x="933450" y="890147"/>
            <a:ext cx="10172700" cy="843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Система становится частью цифровой экосистемы предприятия. Данные защищены и находятся в изолированном секторе. Система соответствует требованиям промышленной кибербезопасности и может работать на предприятиях с закрытым контуром.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8AF9A2-048E-F0F2-7FEC-88E4AB298527}"/>
              </a:ext>
            </a:extLst>
          </p:cNvPr>
          <p:cNvSpPr txBox="1"/>
          <p:nvPr/>
        </p:nvSpPr>
        <p:spPr>
          <a:xfrm>
            <a:off x="933450" y="1617678"/>
            <a:ext cx="481263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u="sng" dirty="0">
                <a:latin typeface="Bahnschrift SemiBold Condensed" panose="020B0502040204020203" pitchFamily="34" charset="0"/>
              </a:rPr>
              <a:t>Интеграция с учётными системами предприятия: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Поддерживаются: 1С:УПП, 1С:УНФ, ERP, MES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Протоколы: REST API, MQTT, опционально OPC UA</a:t>
            </a:r>
          </a:p>
          <a:p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       </a:t>
            </a: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Направления обмена: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из учётной системы в TMS: настройка конфигураций, нормативов, справочников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из TMS в учётную систему: операции выдачи/возврата, списания, остатки, данные о наработке</a:t>
            </a:r>
          </a:p>
          <a:p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Интеграция с AD/LDAP: возможность встроиться в существующую систему управления доступом предприятия.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F3FAA5-2C43-3A13-81BC-CA60AB234A5A}"/>
              </a:ext>
            </a:extLst>
          </p:cNvPr>
          <p:cNvSpPr txBox="1"/>
          <p:nvPr/>
        </p:nvSpPr>
        <p:spPr>
          <a:xfrm>
            <a:off x="6019800" y="1617678"/>
            <a:ext cx="516255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u="sng" dirty="0">
                <a:latin typeface="Bahnschrift SemiBold Condensed" panose="020B0502040204020203" pitchFamily="34" charset="0"/>
              </a:rPr>
              <a:t>Информационная безопасность:</a:t>
            </a:r>
          </a:p>
          <a:p>
            <a:endParaRPr lang="ru-RU" dirty="0">
              <a:latin typeface="Bahnschrift SemiBold Condensed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Работа в изолированной сети: система не требует подключения к интернету. Все данные остаются внутри периметра предприятия.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Шифрование каналов: все соединения защищены TLS/SSH.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Ролевая модель доступа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Протоколирование: все операции, ошибки, попытки доступа фиксируются в защищённом журнале (</a:t>
            </a:r>
            <a:r>
              <a:rPr lang="ru-RU" sz="1400" dirty="0" err="1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GrayLog</a:t>
            </a: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) с временной меткой и идентификатором пользователя.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Отдельный туннель для удалённой поддержки: опционально — через защищённый VPN-канал с многоуровневой аутентификацией. Возможен полный запрет внешнего доступа.</a:t>
            </a:r>
          </a:p>
        </p:txBody>
      </p:sp>
      <p:pic>
        <p:nvPicPr>
          <p:cNvPr id="14" name="Рисунок 13" descr="Компьютер со сплошной заливкой">
            <a:extLst>
              <a:ext uri="{FF2B5EF4-FFF2-40B4-BE49-F238E27FC236}">
                <a16:creationId xmlns:a16="http://schemas.microsoft.com/office/drawing/2014/main" id="{DDED5F95-70F8-FB76-ECFF-F700A893E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180" y="1828178"/>
            <a:ext cx="205169" cy="205169"/>
          </a:xfrm>
          <a:prstGeom prst="rect">
            <a:avLst/>
          </a:prstGeom>
        </p:spPr>
      </p:pic>
      <p:pic>
        <p:nvPicPr>
          <p:cNvPr id="15" name="Рисунок 14" descr="База данных со сплошной заливкой">
            <a:extLst>
              <a:ext uri="{FF2B5EF4-FFF2-40B4-BE49-F238E27FC236}">
                <a16:creationId xmlns:a16="http://schemas.microsoft.com/office/drawing/2014/main" id="{AA888E1F-6EBD-2761-A0F0-98716BF1D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8041" y="1708550"/>
            <a:ext cx="222122" cy="222122"/>
          </a:xfrm>
          <a:prstGeom prst="rect">
            <a:avLst/>
          </a:prstGeom>
        </p:spPr>
      </p:pic>
      <p:pic>
        <p:nvPicPr>
          <p:cNvPr id="16" name="Рисунок 15" descr="Смартфон со сплошной заливкой">
            <a:extLst>
              <a:ext uri="{FF2B5EF4-FFF2-40B4-BE49-F238E27FC236}">
                <a16:creationId xmlns:a16="http://schemas.microsoft.com/office/drawing/2014/main" id="{A254D127-E6B9-F5E9-F6AC-0FE7B33802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985" y="1663205"/>
            <a:ext cx="361665" cy="361665"/>
          </a:xfrm>
          <a:prstGeom prst="rect">
            <a:avLst/>
          </a:prstGeom>
        </p:spPr>
      </p:pic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FDB74CEC-DC5E-AAAF-9E27-F8159F98FB6F}"/>
              </a:ext>
            </a:extLst>
          </p:cNvPr>
          <p:cNvCxnSpPr>
            <a:cxnSpLocks/>
          </p:cNvCxnSpPr>
          <p:nvPr/>
        </p:nvCxnSpPr>
        <p:spPr>
          <a:xfrm flipH="1">
            <a:off x="425218" y="1690316"/>
            <a:ext cx="2929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FBA1257C-F125-37FE-67CA-C0E705B55C33}"/>
              </a:ext>
            </a:extLst>
          </p:cNvPr>
          <p:cNvCxnSpPr>
            <a:cxnSpLocks/>
          </p:cNvCxnSpPr>
          <p:nvPr/>
        </p:nvCxnSpPr>
        <p:spPr>
          <a:xfrm>
            <a:off x="458374" y="1951477"/>
            <a:ext cx="2589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Рисунок 21" descr="Ноутбук со сплошной заливкой">
            <a:extLst>
              <a:ext uri="{FF2B5EF4-FFF2-40B4-BE49-F238E27FC236}">
                <a16:creationId xmlns:a16="http://schemas.microsoft.com/office/drawing/2014/main" id="{D29C0DD4-D94A-9070-8795-D42D981CA2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673" y="1614443"/>
            <a:ext cx="205168" cy="205168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34121D4-36DE-0532-0FAA-C325C393404E}"/>
              </a:ext>
            </a:extLst>
          </p:cNvPr>
          <p:cNvSpPr/>
          <p:nvPr/>
        </p:nvSpPr>
        <p:spPr>
          <a:xfrm>
            <a:off x="662126" y="4459462"/>
            <a:ext cx="10288365" cy="1916574"/>
          </a:xfrm>
          <a:prstGeom prst="roundRect">
            <a:avLst/>
          </a:prstGeom>
          <a:noFill/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347583-C936-2368-E02A-FD555127A6DC}"/>
              </a:ext>
            </a:extLst>
          </p:cNvPr>
          <p:cNvSpPr txBox="1"/>
          <p:nvPr/>
        </p:nvSpPr>
        <p:spPr>
          <a:xfrm>
            <a:off x="750287" y="4916055"/>
            <a:ext cx="15890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u="sng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Внешние системы:</a:t>
            </a:r>
            <a:endParaRPr lang="en-US" u="sng" dirty="0">
              <a:latin typeface="Bahnschrift SemiBold Condensed" panose="020B0502040204020203" pitchFamily="34" charset="0"/>
            </a:endParaRP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1C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: УПП / 1С: УНФ;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ERP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и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MES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-системы;</a:t>
            </a:r>
            <a:b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Системы мониторинга </a:t>
            </a:r>
          </a:p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Zabbix, Prometheus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</a:t>
            </a: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A7AC6A9-D04D-F4D8-470E-05F2EF7AC0E9}"/>
              </a:ext>
            </a:extLst>
          </p:cNvPr>
          <p:cNvCxnSpPr>
            <a:cxnSpLocks/>
          </p:cNvCxnSpPr>
          <p:nvPr/>
        </p:nvCxnSpPr>
        <p:spPr>
          <a:xfrm>
            <a:off x="2342517" y="4464246"/>
            <a:ext cx="0" cy="1907005"/>
          </a:xfrm>
          <a:prstGeom prst="line">
            <a:avLst/>
          </a:prstGeom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Рисунок 39" descr="Компьютер со сплошной заливкой">
            <a:extLst>
              <a:ext uri="{FF2B5EF4-FFF2-40B4-BE49-F238E27FC236}">
                <a16:creationId xmlns:a16="http://schemas.microsoft.com/office/drawing/2014/main" id="{A8989B9A-CA67-9FBF-578A-09A46E8C6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" y="4643225"/>
            <a:ext cx="360252" cy="360252"/>
          </a:xfrm>
          <a:prstGeom prst="rect">
            <a:avLst/>
          </a:prstGeom>
        </p:spPr>
      </p:pic>
      <p:pic>
        <p:nvPicPr>
          <p:cNvPr id="42" name="Рисунок 41" descr="Ноутбук со сплошной заливкой">
            <a:extLst>
              <a:ext uri="{FF2B5EF4-FFF2-40B4-BE49-F238E27FC236}">
                <a16:creationId xmlns:a16="http://schemas.microsoft.com/office/drawing/2014/main" id="{EAE6E9C5-B2A4-710B-3C1C-DC754D099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1950" y="4626441"/>
            <a:ext cx="406456" cy="406456"/>
          </a:xfrm>
          <a:prstGeom prst="rect">
            <a:avLst/>
          </a:prstGeom>
        </p:spPr>
      </p:pic>
      <p:pic>
        <p:nvPicPr>
          <p:cNvPr id="44" name="Рисунок 43" descr="Смартфон со сплошной заливкой">
            <a:extLst>
              <a:ext uri="{FF2B5EF4-FFF2-40B4-BE49-F238E27FC236}">
                <a16:creationId xmlns:a16="http://schemas.microsoft.com/office/drawing/2014/main" id="{4D42E01C-20A1-C25D-E9C2-CF92314FBF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24633" y="4674891"/>
            <a:ext cx="284675" cy="284675"/>
          </a:xfrm>
          <a:prstGeom prst="rect">
            <a:avLst/>
          </a:prstGeom>
        </p:spPr>
      </p:pic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1A1479A8-0852-8364-4222-423E23705B0A}"/>
              </a:ext>
            </a:extLst>
          </p:cNvPr>
          <p:cNvCxnSpPr>
            <a:cxnSpLocks/>
          </p:cNvCxnSpPr>
          <p:nvPr/>
        </p:nvCxnSpPr>
        <p:spPr>
          <a:xfrm>
            <a:off x="4612851" y="4469031"/>
            <a:ext cx="0" cy="1907005"/>
          </a:xfrm>
          <a:prstGeom prst="line">
            <a:avLst/>
          </a:prstGeom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Рисунок 55" descr="Блокировка со сплошной заливкой">
            <a:extLst>
              <a:ext uri="{FF2B5EF4-FFF2-40B4-BE49-F238E27FC236}">
                <a16:creationId xmlns:a16="http://schemas.microsoft.com/office/drawing/2014/main" id="{0859E58A-879D-8064-B714-DC8E1B2F12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61544" y="5212200"/>
            <a:ext cx="247930" cy="24793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9D69687C-4199-7D0B-C4B2-8E49CD5190A1}"/>
              </a:ext>
            </a:extLst>
          </p:cNvPr>
          <p:cNvSpPr txBox="1"/>
          <p:nvPr/>
        </p:nvSpPr>
        <p:spPr>
          <a:xfrm>
            <a:off x="2468046" y="5009071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TLS/SSH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912714BC-F134-5937-6749-81D5A7ED398C}"/>
              </a:ext>
            </a:extLst>
          </p:cNvPr>
          <p:cNvCxnSpPr/>
          <p:nvPr/>
        </p:nvCxnSpPr>
        <p:spPr>
          <a:xfrm>
            <a:off x="2500311" y="5032897"/>
            <a:ext cx="2028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78E522A-9F5C-B43D-E4DF-B72E79B70C32}"/>
              </a:ext>
            </a:extLst>
          </p:cNvPr>
          <p:cNvSpPr txBox="1"/>
          <p:nvPr/>
        </p:nvSpPr>
        <p:spPr>
          <a:xfrm>
            <a:off x="2431951" y="4452688"/>
            <a:ext cx="2225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Bahnschrift SemiBold Condensed" panose="020B0502040204020203" pitchFamily="34" charset="0"/>
              </a:rPr>
              <a:t>Справочники: 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Номенклатура, сотрудники, задания</a:t>
            </a:r>
          </a:p>
        </p:txBody>
      </p: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7BB10FC1-4841-4D88-F356-867CA1BC0735}"/>
              </a:ext>
            </a:extLst>
          </p:cNvPr>
          <p:cNvCxnSpPr>
            <a:cxnSpLocks/>
          </p:cNvCxnSpPr>
          <p:nvPr/>
        </p:nvCxnSpPr>
        <p:spPr>
          <a:xfrm flipH="1">
            <a:off x="2500312" y="5854700"/>
            <a:ext cx="2028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0056862-8D2A-6A4F-5C16-31013ED52D09}"/>
              </a:ext>
            </a:extLst>
          </p:cNvPr>
          <p:cNvSpPr txBox="1"/>
          <p:nvPr/>
        </p:nvSpPr>
        <p:spPr>
          <a:xfrm>
            <a:off x="2431951" y="5392073"/>
            <a:ext cx="2225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Bahnschrift SemiBold Condensed" panose="020B0502040204020203" pitchFamily="34" charset="0"/>
              </a:rPr>
              <a:t>Операции: 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Выдача/Возврат, списания</a:t>
            </a:r>
          </a:p>
          <a:p>
            <a:r>
              <a:rPr lang="ru-RU" sz="1200" dirty="0">
                <a:latin typeface="Bahnschrift SemiBold Condensed" panose="020B0502040204020203" pitchFamily="34" charset="0"/>
              </a:rPr>
              <a:t>События: </a:t>
            </a: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Уведомления, ошибки</a:t>
            </a:r>
          </a:p>
        </p:txBody>
      </p: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99B0D7EC-A296-77D4-F034-553569BC5746}"/>
              </a:ext>
            </a:extLst>
          </p:cNvPr>
          <p:cNvCxnSpPr/>
          <p:nvPr/>
        </p:nvCxnSpPr>
        <p:spPr>
          <a:xfrm>
            <a:off x="2500311" y="4941697"/>
            <a:ext cx="2028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 стрелкой 83">
            <a:extLst>
              <a:ext uri="{FF2B5EF4-FFF2-40B4-BE49-F238E27FC236}">
                <a16:creationId xmlns:a16="http://schemas.microsoft.com/office/drawing/2014/main" id="{E26BD696-11EC-68EA-EB1B-A8ABFDA96584}"/>
              </a:ext>
            </a:extLst>
          </p:cNvPr>
          <p:cNvCxnSpPr>
            <a:cxnSpLocks/>
          </p:cNvCxnSpPr>
          <p:nvPr/>
        </p:nvCxnSpPr>
        <p:spPr>
          <a:xfrm flipH="1">
            <a:off x="2500311" y="5946775"/>
            <a:ext cx="2028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547EE7A-C091-CB18-3569-2B1698197C16}"/>
              </a:ext>
            </a:extLst>
          </p:cNvPr>
          <p:cNvSpPr txBox="1"/>
          <p:nvPr/>
        </p:nvSpPr>
        <p:spPr>
          <a:xfrm>
            <a:off x="3878863" y="5009072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REST API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97E3B5A-40E1-B944-1646-09AD83FD24E9}"/>
              </a:ext>
            </a:extLst>
          </p:cNvPr>
          <p:cNvSpPr txBox="1"/>
          <p:nvPr/>
        </p:nvSpPr>
        <p:spPr>
          <a:xfrm>
            <a:off x="4703186" y="4582112"/>
            <a:ext cx="1751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u="sng" dirty="0">
                <a:latin typeface="Bahnschrift SemiBold Condensed" panose="020B0502040204020203" pitchFamily="34" charset="0"/>
              </a:rPr>
              <a:t>Сервер администрирования</a:t>
            </a:r>
            <a:endParaRPr lang="en-US" u="sng" dirty="0">
              <a:latin typeface="Bahnschrift SemiBold Condensed" panose="020B0502040204020203" pitchFamily="34" charset="0"/>
            </a:endParaRPr>
          </a:p>
        </p:txBody>
      </p:sp>
      <p:cxnSp>
        <p:nvCxnSpPr>
          <p:cNvPr id="89" name="Прямая соединительная линия 88">
            <a:extLst>
              <a:ext uri="{FF2B5EF4-FFF2-40B4-BE49-F238E27FC236}">
                <a16:creationId xmlns:a16="http://schemas.microsoft.com/office/drawing/2014/main" id="{EDDDDBF8-D0AA-2E30-7B63-7F7480B9012C}"/>
              </a:ext>
            </a:extLst>
          </p:cNvPr>
          <p:cNvCxnSpPr>
            <a:cxnSpLocks/>
          </p:cNvCxnSpPr>
          <p:nvPr/>
        </p:nvCxnSpPr>
        <p:spPr>
          <a:xfrm>
            <a:off x="6497395" y="4469031"/>
            <a:ext cx="0" cy="1907005"/>
          </a:xfrm>
          <a:prstGeom prst="line">
            <a:avLst/>
          </a:prstGeom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B353272C-1648-4D1C-7A69-E1451E0A16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079" y="5176753"/>
            <a:ext cx="880157" cy="776609"/>
          </a:xfrm>
          <a:prstGeom prst="rect">
            <a:avLst/>
          </a:prstGeom>
        </p:spPr>
      </p:pic>
      <p:pic>
        <p:nvPicPr>
          <p:cNvPr id="93" name="Рисунок 92" descr="Одна шестеренка со сплошной заливкой">
            <a:extLst>
              <a:ext uri="{FF2B5EF4-FFF2-40B4-BE49-F238E27FC236}">
                <a16:creationId xmlns:a16="http://schemas.microsoft.com/office/drawing/2014/main" id="{5388DE74-6CFB-521F-99D3-F7E1FC8EA5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25752" y="5672805"/>
            <a:ext cx="280557" cy="280557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03F07DE7-0352-02CE-B9B0-F88F0977B8A9}"/>
              </a:ext>
            </a:extLst>
          </p:cNvPr>
          <p:cNvSpPr txBox="1"/>
          <p:nvPr/>
        </p:nvSpPr>
        <p:spPr>
          <a:xfrm>
            <a:off x="7642888" y="4611090"/>
            <a:ext cx="1751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u="sng" dirty="0">
                <a:latin typeface="Bahnschrift SemiBold Condensed" panose="020B0502040204020203" pitchFamily="34" charset="0"/>
              </a:rPr>
              <a:t>Управляющий сервер</a:t>
            </a:r>
            <a:endParaRPr lang="en-US" u="sng" dirty="0">
              <a:latin typeface="Bahnschrift SemiBold Condensed" panose="020B0502040204020203" pitchFamily="34" charset="0"/>
            </a:endParaRPr>
          </a:p>
        </p:txBody>
      </p:sp>
      <p:grpSp>
        <p:nvGrpSpPr>
          <p:cNvPr id="109" name="Группа 108">
            <a:extLst>
              <a:ext uri="{FF2B5EF4-FFF2-40B4-BE49-F238E27FC236}">
                <a16:creationId xmlns:a16="http://schemas.microsoft.com/office/drawing/2014/main" id="{4D7EDB27-8A56-4166-2919-11F2CCD3FC17}"/>
              </a:ext>
            </a:extLst>
          </p:cNvPr>
          <p:cNvGrpSpPr/>
          <p:nvPr/>
        </p:nvGrpSpPr>
        <p:grpSpPr>
          <a:xfrm>
            <a:off x="8356065" y="5286070"/>
            <a:ext cx="324916" cy="687479"/>
            <a:chOff x="8464216" y="5280072"/>
            <a:chExt cx="271126" cy="573666"/>
          </a:xfrm>
        </p:grpSpPr>
        <p:sp>
          <p:nvSpPr>
            <p:cNvPr id="100" name="Прямоугольник: скругленные углы 99">
              <a:extLst>
                <a:ext uri="{FF2B5EF4-FFF2-40B4-BE49-F238E27FC236}">
                  <a16:creationId xmlns:a16="http://schemas.microsoft.com/office/drawing/2014/main" id="{98839FBC-8424-D8D8-5C94-73F28C8DBF7F}"/>
                </a:ext>
              </a:extLst>
            </p:cNvPr>
            <p:cNvSpPr/>
            <p:nvPr/>
          </p:nvSpPr>
          <p:spPr>
            <a:xfrm>
              <a:off x="8464216" y="5280072"/>
              <a:ext cx="271126" cy="573666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1" name="Прямоугольник 100">
              <a:extLst>
                <a:ext uri="{FF2B5EF4-FFF2-40B4-BE49-F238E27FC236}">
                  <a16:creationId xmlns:a16="http://schemas.microsoft.com/office/drawing/2014/main" id="{5EFDA99F-C31E-EFD6-9A93-984337D8499F}"/>
                </a:ext>
              </a:extLst>
            </p:cNvPr>
            <p:cNvSpPr/>
            <p:nvPr/>
          </p:nvSpPr>
          <p:spPr>
            <a:xfrm>
              <a:off x="8505825" y="5329238"/>
              <a:ext cx="190500" cy="6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Прямоугольник 102">
              <a:extLst>
                <a:ext uri="{FF2B5EF4-FFF2-40B4-BE49-F238E27FC236}">
                  <a16:creationId xmlns:a16="http://schemas.microsoft.com/office/drawing/2014/main" id="{1433A691-464C-40EC-45AD-6CD7B01C175C}"/>
                </a:ext>
              </a:extLst>
            </p:cNvPr>
            <p:cNvSpPr/>
            <p:nvPr/>
          </p:nvSpPr>
          <p:spPr>
            <a:xfrm>
              <a:off x="8505825" y="5411615"/>
              <a:ext cx="190500" cy="628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Прямоугольник 104">
              <a:extLst>
                <a:ext uri="{FF2B5EF4-FFF2-40B4-BE49-F238E27FC236}">
                  <a16:creationId xmlns:a16="http://schemas.microsoft.com/office/drawing/2014/main" id="{F7CE1F2C-AED0-8E18-8380-E20E6B1EBF37}"/>
                </a:ext>
              </a:extLst>
            </p:cNvPr>
            <p:cNvSpPr/>
            <p:nvPr/>
          </p:nvSpPr>
          <p:spPr>
            <a:xfrm rot="16200000" flipV="1">
              <a:off x="8488802" y="5583795"/>
              <a:ext cx="102769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Прямоугольник 106">
              <a:extLst>
                <a:ext uri="{FF2B5EF4-FFF2-40B4-BE49-F238E27FC236}">
                  <a16:creationId xmlns:a16="http://schemas.microsoft.com/office/drawing/2014/main" id="{3A0F156E-AD34-AE13-8529-DD061CBACA4B}"/>
                </a:ext>
              </a:extLst>
            </p:cNvPr>
            <p:cNvSpPr/>
            <p:nvPr/>
          </p:nvSpPr>
          <p:spPr>
            <a:xfrm rot="16200000" flipV="1">
              <a:off x="8488671" y="5701328"/>
              <a:ext cx="102769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Овал 107">
              <a:extLst>
                <a:ext uri="{FF2B5EF4-FFF2-40B4-BE49-F238E27FC236}">
                  <a16:creationId xmlns:a16="http://schemas.microsoft.com/office/drawing/2014/main" id="{8B660EFF-9C08-8F70-02EC-9AD411F475AF}"/>
                </a:ext>
              </a:extLst>
            </p:cNvPr>
            <p:cNvSpPr/>
            <p:nvPr/>
          </p:nvSpPr>
          <p:spPr>
            <a:xfrm>
              <a:off x="8607296" y="5698331"/>
              <a:ext cx="62835" cy="628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92A3213F-4585-3EBE-6D17-BC6B8D272C14}"/>
              </a:ext>
            </a:extLst>
          </p:cNvPr>
          <p:cNvCxnSpPr/>
          <p:nvPr/>
        </p:nvCxnSpPr>
        <p:spPr>
          <a:xfrm flipH="1">
            <a:off x="6651669" y="4817228"/>
            <a:ext cx="10828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Прямая со стрелкой 111">
            <a:extLst>
              <a:ext uri="{FF2B5EF4-FFF2-40B4-BE49-F238E27FC236}">
                <a16:creationId xmlns:a16="http://schemas.microsoft.com/office/drawing/2014/main" id="{730875D3-6DB6-8C67-4861-565D26A6B8C7}"/>
              </a:ext>
            </a:extLst>
          </p:cNvPr>
          <p:cNvCxnSpPr/>
          <p:nvPr/>
        </p:nvCxnSpPr>
        <p:spPr>
          <a:xfrm flipH="1">
            <a:off x="6651669" y="5860923"/>
            <a:ext cx="10828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3" name="Прямая соединительная линия 112">
            <a:extLst>
              <a:ext uri="{FF2B5EF4-FFF2-40B4-BE49-F238E27FC236}">
                <a16:creationId xmlns:a16="http://schemas.microsoft.com/office/drawing/2014/main" id="{D6D378CB-31D0-BB71-377A-9A4000213748}"/>
              </a:ext>
            </a:extLst>
          </p:cNvPr>
          <p:cNvCxnSpPr>
            <a:cxnSpLocks/>
          </p:cNvCxnSpPr>
          <p:nvPr/>
        </p:nvCxnSpPr>
        <p:spPr>
          <a:xfrm>
            <a:off x="7834404" y="4469031"/>
            <a:ext cx="0" cy="1907005"/>
          </a:xfrm>
          <a:prstGeom prst="line">
            <a:avLst/>
          </a:prstGeom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6753504-B8C1-86C5-A149-85C6A40D5432}"/>
              </a:ext>
            </a:extLst>
          </p:cNvPr>
          <p:cNvSpPr txBox="1"/>
          <p:nvPr/>
        </p:nvSpPr>
        <p:spPr>
          <a:xfrm>
            <a:off x="6548680" y="4828333"/>
            <a:ext cx="13369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Запрос </a:t>
            </a:r>
            <a:r>
              <a:rPr lang="ru-RU" sz="1000" b="1" dirty="0">
                <a:solidFill>
                  <a:srgbClr val="0F1115"/>
                </a:solidFill>
                <a:latin typeface="Bahnschrift SemiBold Condensed" panose="020B0502040204020203" pitchFamily="34" charset="0"/>
              </a:rPr>
              <a:t>заданий</a:t>
            </a:r>
            <a: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 от СА</a:t>
            </a:r>
          </a:p>
          <a:p>
            <a: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Операционная телеметрия</a:t>
            </a:r>
            <a:b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</a:br>
            <a: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Состояние аппарата</a:t>
            </a:r>
            <a:b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</a:br>
            <a: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Журналы событий (логи)</a:t>
            </a:r>
            <a:b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</a:br>
            <a: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Данные о наработке</a:t>
            </a:r>
            <a:b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</a:br>
            <a:r>
              <a:rPr lang="ru-RU" sz="1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Медиафайлы</a:t>
            </a:r>
            <a:endParaRPr lang="ru-RU" sz="1000" dirty="0">
              <a:latin typeface="Bahnschrift SemiBold Condensed" panose="020B0502040204020203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EE44A52-A2CD-B2A8-BF08-79D5579215AE}"/>
              </a:ext>
            </a:extLst>
          </p:cNvPr>
          <p:cNvSpPr txBox="1"/>
          <p:nvPr/>
        </p:nvSpPr>
        <p:spPr>
          <a:xfrm>
            <a:off x="6572328" y="5901531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WS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92F0185-0E88-D9A5-36DF-D7F4345CF801}"/>
              </a:ext>
            </a:extLst>
          </p:cNvPr>
          <p:cNvSpPr txBox="1"/>
          <p:nvPr/>
        </p:nvSpPr>
        <p:spPr>
          <a:xfrm>
            <a:off x="7305675" y="5901531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MQTT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7270352-B9AC-6441-3054-C1EA1EA0CB31}"/>
              </a:ext>
            </a:extLst>
          </p:cNvPr>
          <p:cNvSpPr txBox="1"/>
          <p:nvPr/>
        </p:nvSpPr>
        <p:spPr>
          <a:xfrm>
            <a:off x="9476192" y="4935134"/>
            <a:ext cx="1518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Пользовательские интерфейсы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Секции хранения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Датчики, актуаторы, ИБП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3D72478-60FB-DFDF-5EB3-0570B686876B}"/>
              </a:ext>
            </a:extLst>
          </p:cNvPr>
          <p:cNvSpPr txBox="1"/>
          <p:nvPr/>
        </p:nvSpPr>
        <p:spPr>
          <a:xfrm>
            <a:off x="2457555" y="5937850"/>
            <a:ext cx="601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TLS/SSH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7D2ADB9-F0C4-F4B9-4C53-B2EFDF96BB78}"/>
              </a:ext>
            </a:extLst>
          </p:cNvPr>
          <p:cNvSpPr txBox="1"/>
          <p:nvPr/>
        </p:nvSpPr>
        <p:spPr>
          <a:xfrm>
            <a:off x="3868372" y="5937851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REST API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E55D233-5B88-99D0-B1BC-3518B023C6C2}"/>
              </a:ext>
            </a:extLst>
          </p:cNvPr>
          <p:cNvSpPr txBox="1"/>
          <p:nvPr/>
        </p:nvSpPr>
        <p:spPr>
          <a:xfrm>
            <a:off x="6586756" y="4508160"/>
            <a:ext cx="335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WS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C55633E-4B13-B4AF-F31B-B99EABD04E71}"/>
              </a:ext>
            </a:extLst>
          </p:cNvPr>
          <p:cNvSpPr txBox="1"/>
          <p:nvPr/>
        </p:nvSpPr>
        <p:spPr>
          <a:xfrm>
            <a:off x="7320103" y="4508160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Bahnschrift SemiBold Condensed" panose="020B0502040204020203" pitchFamily="34" charset="0"/>
              </a:rPr>
              <a:t>MQTT</a:t>
            </a:r>
            <a:endParaRPr lang="ru-RU" sz="1200" dirty="0">
              <a:latin typeface="Bahnschrift SemiBold Condensed" panose="020B0502040204020203" pitchFamily="34" charset="0"/>
            </a:endParaRPr>
          </a:p>
        </p:txBody>
      </p:sp>
      <p:cxnSp>
        <p:nvCxnSpPr>
          <p:cNvPr id="135" name="Прямая со стрелкой 134">
            <a:extLst>
              <a:ext uri="{FF2B5EF4-FFF2-40B4-BE49-F238E27FC236}">
                <a16:creationId xmlns:a16="http://schemas.microsoft.com/office/drawing/2014/main" id="{B1E71415-0CF0-A65B-3F8D-B204FB563193}"/>
              </a:ext>
            </a:extLst>
          </p:cNvPr>
          <p:cNvCxnSpPr>
            <a:cxnSpLocks/>
            <a:stCxn id="123" idx="1"/>
          </p:cNvCxnSpPr>
          <p:nvPr/>
        </p:nvCxnSpPr>
        <p:spPr>
          <a:xfrm flipH="1">
            <a:off x="8913022" y="5350633"/>
            <a:ext cx="5631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C7F1672F-684E-943A-EF85-03AC32DDA288}"/>
              </a:ext>
            </a:extLst>
          </p:cNvPr>
          <p:cNvSpPr txBox="1"/>
          <p:nvPr/>
        </p:nvSpPr>
        <p:spPr>
          <a:xfrm>
            <a:off x="8876354" y="5042746"/>
            <a:ext cx="6927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Bahnschrift SemiBold Condensed" panose="020B0502040204020203" pitchFamily="34" charset="0"/>
              </a:rPr>
              <a:t>Сигналы</a:t>
            </a:r>
          </a:p>
        </p:txBody>
      </p:sp>
      <p:cxnSp>
        <p:nvCxnSpPr>
          <p:cNvPr id="138" name="Прямая соединительная линия 137">
            <a:extLst>
              <a:ext uri="{FF2B5EF4-FFF2-40B4-BE49-F238E27FC236}">
                <a16:creationId xmlns:a16="http://schemas.microsoft.com/office/drawing/2014/main" id="{5A4912D8-B1EC-FCB4-3068-AF7AE5A3B4D2}"/>
              </a:ext>
            </a:extLst>
          </p:cNvPr>
          <p:cNvCxnSpPr>
            <a:cxnSpLocks/>
          </p:cNvCxnSpPr>
          <p:nvPr/>
        </p:nvCxnSpPr>
        <p:spPr>
          <a:xfrm>
            <a:off x="9511187" y="4842990"/>
            <a:ext cx="0" cy="1098165"/>
          </a:xfrm>
          <a:prstGeom prst="line">
            <a:avLst/>
          </a:prstGeom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3BD62100-FB86-1C08-71D8-B7785E2A471D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115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28F245-2593-ABC3-6DD7-A0C939D123DE}"/>
              </a:ext>
            </a:extLst>
          </p:cNvPr>
          <p:cNvSpPr txBox="1"/>
          <p:nvPr/>
        </p:nvSpPr>
        <p:spPr>
          <a:xfrm>
            <a:off x="1257300" y="1009650"/>
            <a:ext cx="825817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600" dirty="0">
                <a:latin typeface="Bahnschrift SemiBold Condensed" panose="020B0502040204020203" pitchFamily="34" charset="0"/>
              </a:rPr>
              <a:t>04</a:t>
            </a:r>
            <a:endParaRPr lang="en-US" sz="9600" dirty="0">
              <a:latin typeface="Bahnschrift SemiBold Condensed" panose="020B0502040204020203" pitchFamily="34" charset="0"/>
            </a:endParaRPr>
          </a:p>
          <a:p>
            <a:r>
              <a:rPr lang="ru-RU" sz="4400" dirty="0">
                <a:latin typeface="Bahnschrift SemiBold Condensed" panose="020B0502040204020203" pitchFamily="34" charset="0"/>
              </a:rPr>
              <a:t>«Уралец» в системе предприятия</a:t>
            </a:r>
          </a:p>
          <a:p>
            <a:endParaRPr lang="ru-RU" sz="2800" dirty="0">
              <a:latin typeface="Bahnschrift SemiBold Condensed" panose="020B0502040204020203" pitchFamily="34" charset="0"/>
            </a:endParaRPr>
          </a:p>
          <a:p>
            <a:endParaRPr lang="ru-RU" sz="4400" dirty="0">
              <a:latin typeface="Bahnschrift SemiBold Condensed" panose="020B0502040204020203" pitchFamily="34" charset="0"/>
            </a:endParaRPr>
          </a:p>
          <a:p>
            <a:endParaRPr lang="ru-RU" sz="4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485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Соединитель: уступ 141">
            <a:extLst>
              <a:ext uri="{FF2B5EF4-FFF2-40B4-BE49-F238E27FC236}">
                <a16:creationId xmlns:a16="http://schemas.microsoft.com/office/drawing/2014/main" id="{19FEEF6D-D2DC-9A94-6899-F69E60529DE2}"/>
              </a:ext>
            </a:extLst>
          </p:cNvPr>
          <p:cNvCxnSpPr>
            <a:cxnSpLocks/>
            <a:stCxn id="61" idx="2"/>
          </p:cNvCxnSpPr>
          <p:nvPr/>
        </p:nvCxnSpPr>
        <p:spPr>
          <a:xfrm rot="5400000">
            <a:off x="2310421" y="2030470"/>
            <a:ext cx="2472665" cy="2203998"/>
          </a:xfrm>
          <a:prstGeom prst="bentConnector3">
            <a:avLst>
              <a:gd name="adj1" fmla="val 2919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C6427957-F467-9749-8FBC-C33D3B459CD7}"/>
              </a:ext>
            </a:extLst>
          </p:cNvPr>
          <p:cNvSpPr/>
          <p:nvPr/>
        </p:nvSpPr>
        <p:spPr>
          <a:xfrm>
            <a:off x="4320976" y="891447"/>
            <a:ext cx="2877678" cy="1508105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0" name="Рисунок 139">
            <a:extLst>
              <a:ext uri="{FF2B5EF4-FFF2-40B4-BE49-F238E27FC236}">
                <a16:creationId xmlns:a16="http://schemas.microsoft.com/office/drawing/2014/main" id="{1DC4EEE1-9834-CEB3-12FE-6F00C0CA4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29" y="4898452"/>
            <a:ext cx="549671" cy="373495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8DBF59BD-B050-7402-9FF7-753281B0F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743" y="1423181"/>
            <a:ext cx="536017" cy="472956"/>
          </a:xfrm>
          <a:prstGeom prst="rect">
            <a:avLst/>
          </a:prstGeom>
        </p:spPr>
      </p:pic>
      <p:pic>
        <p:nvPicPr>
          <p:cNvPr id="63" name="Рисунок 62" descr="Одна шестеренка со сплошной заливкой">
            <a:extLst>
              <a:ext uri="{FF2B5EF4-FFF2-40B4-BE49-F238E27FC236}">
                <a16:creationId xmlns:a16="http://schemas.microsoft.com/office/drawing/2014/main" id="{EC48449E-B9BE-50B0-DF6F-DAA299B7D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6417" y="1725277"/>
            <a:ext cx="170860" cy="1708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7B079B-DE6E-2A91-3141-9C6090AE35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599" y="4016197"/>
            <a:ext cx="1529593" cy="2039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B5BED9-7B6F-DAB1-BA69-C6B414D46CA3}"/>
              </a:ext>
            </a:extLst>
          </p:cNvPr>
          <p:cNvSpPr txBox="1"/>
          <p:nvPr/>
        </p:nvSpPr>
        <p:spPr>
          <a:xfrm>
            <a:off x="939364" y="1133449"/>
            <a:ext cx="24053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sng" dirty="0">
                <a:latin typeface="Bahnschrift SemiBold Condensed" panose="020B0502040204020203" pitchFamily="34" charset="0"/>
              </a:rPr>
              <a:t>Мастер участка / </a:t>
            </a:r>
            <a:r>
              <a:rPr lang="en-US" sz="1600" u="sng" dirty="0">
                <a:latin typeface="Bahnschrift SemiBold Condensed" panose="020B0502040204020203" pitchFamily="34" charset="0"/>
              </a:rPr>
              <a:t>ERP / MES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sz="1400" dirty="0">
                <a:latin typeface="Bahnschrift SemiBold Condensed" panose="020B0502040204020203" pitchFamily="34" charset="0"/>
              </a:rPr>
              <a:t>Формирование потребности в ТМЦ</a:t>
            </a:r>
            <a:b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Система автоматически формирует перечень необходимого инструмента для каждой операции/сменного задания</a:t>
            </a:r>
          </a:p>
        </p:txBody>
      </p:sp>
      <p:pic>
        <p:nvPicPr>
          <p:cNvPr id="16" name="Рисунок 15" descr="Компьютер со сплошной заливкой">
            <a:extLst>
              <a:ext uri="{FF2B5EF4-FFF2-40B4-BE49-F238E27FC236}">
                <a16:creationId xmlns:a16="http://schemas.microsoft.com/office/drawing/2014/main" id="{1CF8AA5C-0122-CA8B-E872-13C025A9E1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361" y="1801970"/>
            <a:ext cx="387350" cy="387350"/>
          </a:xfrm>
          <a:prstGeom prst="rect">
            <a:avLst/>
          </a:prstGeom>
        </p:spPr>
      </p:pic>
      <p:pic>
        <p:nvPicPr>
          <p:cNvPr id="18" name="Рисунок 17" descr="Пользователь со сплошной заливкой">
            <a:extLst>
              <a:ext uri="{FF2B5EF4-FFF2-40B4-BE49-F238E27FC236}">
                <a16:creationId xmlns:a16="http://schemas.microsoft.com/office/drawing/2014/main" id="{93D4B0E0-A4FE-8132-8909-44D70FA20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743" y="1537736"/>
            <a:ext cx="330200" cy="330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E645D60-8501-4CAE-2A37-A528ADF83CC9}"/>
              </a:ext>
            </a:extLst>
          </p:cNvPr>
          <p:cNvSpPr txBox="1"/>
          <p:nvPr/>
        </p:nvSpPr>
        <p:spPr>
          <a:xfrm>
            <a:off x="370007" y="1153423"/>
            <a:ext cx="54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Bahnschrift SemiBold Condensed" panose="020B0502040204020203" pitchFamily="34" charset="0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CCAD35-FCF9-F57E-22F5-4EB316A5A861}"/>
              </a:ext>
            </a:extLst>
          </p:cNvPr>
          <p:cNvSpPr txBox="1"/>
          <p:nvPr/>
        </p:nvSpPr>
        <p:spPr>
          <a:xfrm>
            <a:off x="4657823" y="3560351"/>
            <a:ext cx="24053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>
                <a:latin typeface="Bahnschrift SemiBold Condensed" panose="020B0502040204020203" pitchFamily="34" charset="0"/>
              </a:rPr>
              <a:t>Аппарат «УРАЛЕЦ»</a:t>
            </a:r>
          </a:p>
          <a:p>
            <a:r>
              <a:rPr lang="ru-RU" sz="1400" dirty="0">
                <a:latin typeface="Bahnschrift SemiBold Condensed" panose="020B0502040204020203" pitchFamily="34" charset="0"/>
              </a:rPr>
              <a:t>Хранение, Выдача и Возврат ТМЦ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0C0200-C959-4EE6-A897-0C396333C1B4}"/>
              </a:ext>
            </a:extLst>
          </p:cNvPr>
          <p:cNvSpPr txBox="1"/>
          <p:nvPr/>
        </p:nvSpPr>
        <p:spPr>
          <a:xfrm>
            <a:off x="4847589" y="861035"/>
            <a:ext cx="240538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sng" dirty="0">
                <a:latin typeface="Bahnschrift SemiBold Condensed" panose="020B0502040204020203" pitchFamily="34" charset="0"/>
              </a:rPr>
              <a:t>Сервер Администрирования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sz="1400" dirty="0">
                <a:latin typeface="Bahnschrift SemiBold Condensed" panose="020B0502040204020203" pitchFamily="34" charset="0"/>
              </a:rPr>
              <a:t>Хранение и Обработка данных</a:t>
            </a:r>
            <a:b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Хранит: номенклатуру, лимиты, права доступа, историю операций</a:t>
            </a:r>
            <a:b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Автоматический расчёт потребности в закупках на основе фактического расхода и минимальных остатков, уведомления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153EB9-442B-E2BB-15F2-201C8F1ABE10}"/>
              </a:ext>
            </a:extLst>
          </p:cNvPr>
          <p:cNvSpPr txBox="1"/>
          <p:nvPr/>
        </p:nvSpPr>
        <p:spPr>
          <a:xfrm>
            <a:off x="4320975" y="961516"/>
            <a:ext cx="54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Bahnschrift SemiBold Condensed" panose="020B0502040204020203" pitchFamily="34" charset="0"/>
              </a:rPr>
              <a:t>2</a:t>
            </a:r>
          </a:p>
        </p:txBody>
      </p:sp>
      <p:sp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FEE8469B-3A5B-D806-B989-80F4B6D119A4}"/>
              </a:ext>
            </a:extLst>
          </p:cNvPr>
          <p:cNvSpPr/>
          <p:nvPr/>
        </p:nvSpPr>
        <p:spPr>
          <a:xfrm>
            <a:off x="439660" y="1133449"/>
            <a:ext cx="2767090" cy="113877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Прямоугольник: скругленные углы 77">
            <a:extLst>
              <a:ext uri="{FF2B5EF4-FFF2-40B4-BE49-F238E27FC236}">
                <a16:creationId xmlns:a16="http://schemas.microsoft.com/office/drawing/2014/main" id="{C10B9297-6DE7-BDCA-4D8F-4739D65CD188}"/>
              </a:ext>
            </a:extLst>
          </p:cNvPr>
          <p:cNvSpPr/>
          <p:nvPr/>
        </p:nvSpPr>
        <p:spPr>
          <a:xfrm>
            <a:off x="4185524" y="3545758"/>
            <a:ext cx="3120151" cy="2632427"/>
          </a:xfrm>
          <a:prstGeom prst="round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CEFA4B8-BB30-861E-2FAD-D68F3BDB468B}"/>
              </a:ext>
            </a:extLst>
          </p:cNvPr>
          <p:cNvSpPr txBox="1"/>
          <p:nvPr/>
        </p:nvSpPr>
        <p:spPr>
          <a:xfrm>
            <a:off x="4193147" y="3621905"/>
            <a:ext cx="54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Bahnschrift SemiBold Condensed" panose="020B0502040204020203" pitchFamily="34" charset="0"/>
              </a:rPr>
              <a:t>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34FD16-AA00-B4BC-E3AD-4AB93481041B}"/>
              </a:ext>
            </a:extLst>
          </p:cNvPr>
          <p:cNvSpPr txBox="1"/>
          <p:nvPr/>
        </p:nvSpPr>
        <p:spPr>
          <a:xfrm>
            <a:off x="4245293" y="4251096"/>
            <a:ext cx="169513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Авторизованный доступ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Круглосуточная работа</a:t>
            </a:r>
            <a:b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Логирование операций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Фото/видеофиксация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Мониторинг состояния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Хранение 96 видов ТМЦ</a:t>
            </a:r>
            <a:b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Выдача наборов инструмента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Регистрация недостач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22145E-EA0F-DDB3-9AC5-D170B893209B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2B7D737-7E72-8FAF-F4B9-DE9C8E9338C2}"/>
              </a:ext>
            </a:extLst>
          </p:cNvPr>
          <p:cNvSpPr txBox="1"/>
          <p:nvPr/>
        </p:nvSpPr>
        <p:spPr>
          <a:xfrm>
            <a:off x="8638848" y="2976371"/>
            <a:ext cx="312015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sng" dirty="0">
                <a:latin typeface="Bahnschrift SemiBold Condensed" panose="020B0502040204020203" pitchFamily="34" charset="0"/>
              </a:rPr>
              <a:t>Оператор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sz="1400" dirty="0">
                <a:latin typeface="Bahnschrift SemiBold Condensed" panose="020B0502040204020203" pitchFamily="34" charset="0"/>
              </a:rPr>
              <a:t>Получение, Использование, Возврат инструмента</a:t>
            </a:r>
            <a:b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Авторизация, получение ТМЦ (по сменному заданию/самостоятельный выбор), Возврат (для повторного использования, для переточки, сдача в лом)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DC2DA01-AF62-6EE9-853E-92DC84A3A021}"/>
              </a:ext>
            </a:extLst>
          </p:cNvPr>
          <p:cNvSpPr txBox="1"/>
          <p:nvPr/>
        </p:nvSpPr>
        <p:spPr>
          <a:xfrm>
            <a:off x="8089178" y="3046439"/>
            <a:ext cx="54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Bahnschrift SemiBold Condensed" panose="020B0502040204020203" pitchFamily="34" charset="0"/>
              </a:rPr>
              <a:t>4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410EECCF-8561-876D-0217-B93CCF73C64F}"/>
              </a:ext>
            </a:extLst>
          </p:cNvPr>
          <p:cNvSpPr/>
          <p:nvPr/>
        </p:nvSpPr>
        <p:spPr>
          <a:xfrm>
            <a:off x="8089178" y="2976371"/>
            <a:ext cx="3636796" cy="113877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6" name="Рисунок 85" descr="Пользователь со сплошной заливкой">
            <a:extLst>
              <a:ext uri="{FF2B5EF4-FFF2-40B4-BE49-F238E27FC236}">
                <a16:creationId xmlns:a16="http://schemas.microsoft.com/office/drawing/2014/main" id="{573F204E-A642-C16C-CEF0-4221AB2C2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8888" y="3429571"/>
            <a:ext cx="462340" cy="46234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B277FEA7-ADB1-F883-6599-715B36530A6C}"/>
              </a:ext>
            </a:extLst>
          </p:cNvPr>
          <p:cNvSpPr txBox="1"/>
          <p:nvPr/>
        </p:nvSpPr>
        <p:spPr>
          <a:xfrm>
            <a:off x="8638848" y="1139321"/>
            <a:ext cx="31201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sng" dirty="0">
                <a:latin typeface="Bahnschrift SemiBold Condensed" panose="020B0502040204020203" pitchFamily="34" charset="0"/>
              </a:rPr>
              <a:t>Рабочее место / станок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sz="1400" dirty="0">
                <a:latin typeface="Bahnschrift SemiBold Condensed" panose="020B0502040204020203" pitchFamily="34" charset="0"/>
              </a:rPr>
              <a:t>Эксплуатация инструмента</a:t>
            </a:r>
            <a:b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Контроль исполняемой операции/детали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Формирование статистики расхода по заданию/операции</a:t>
            </a:r>
          </a:p>
          <a:p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Передача по смене у станка (опционально)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76A961-C094-D898-782A-7635FCFEB477}"/>
              </a:ext>
            </a:extLst>
          </p:cNvPr>
          <p:cNvSpPr txBox="1"/>
          <p:nvPr/>
        </p:nvSpPr>
        <p:spPr>
          <a:xfrm>
            <a:off x="8089178" y="1209389"/>
            <a:ext cx="54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Bahnschrift SemiBold Condensed" panose="020B0502040204020203" pitchFamily="34" charset="0"/>
              </a:rPr>
              <a:t>5</a:t>
            </a:r>
          </a:p>
        </p:txBody>
      </p:sp>
      <p:sp>
        <p:nvSpPr>
          <p:cNvPr id="92" name="Прямоугольник: скругленные углы 91">
            <a:extLst>
              <a:ext uri="{FF2B5EF4-FFF2-40B4-BE49-F238E27FC236}">
                <a16:creationId xmlns:a16="http://schemas.microsoft.com/office/drawing/2014/main" id="{A62BD16D-ECA8-9FA4-3CEB-30567EE466E0}"/>
              </a:ext>
            </a:extLst>
          </p:cNvPr>
          <p:cNvSpPr/>
          <p:nvPr/>
        </p:nvSpPr>
        <p:spPr>
          <a:xfrm>
            <a:off x="8089178" y="1139321"/>
            <a:ext cx="3636796" cy="113877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96320D49-2A7B-2B20-B30E-F837981600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491" y="1685273"/>
            <a:ext cx="510355" cy="355378"/>
          </a:xfrm>
          <a:prstGeom prst="rect">
            <a:avLst/>
          </a:prstGeom>
        </p:spPr>
      </p:pic>
      <p:sp>
        <p:nvSpPr>
          <p:cNvPr id="98" name="Прямоугольник: один усеченный угол 97">
            <a:extLst>
              <a:ext uri="{FF2B5EF4-FFF2-40B4-BE49-F238E27FC236}">
                <a16:creationId xmlns:a16="http://schemas.microsoft.com/office/drawing/2014/main" id="{0B77A414-60DD-081F-590D-4A3DC5F80799}"/>
              </a:ext>
            </a:extLst>
          </p:cNvPr>
          <p:cNvSpPr/>
          <p:nvPr/>
        </p:nvSpPr>
        <p:spPr>
          <a:xfrm>
            <a:off x="0" y="243840"/>
            <a:ext cx="7305675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«Уралец» в системе предприятия</a:t>
            </a:r>
            <a:endParaRPr lang="ru-RU" sz="2400" b="1" dirty="0">
              <a:latin typeface="Bahnschrift SemiBold Condensed" panose="020B0502040204020203" pitchFamily="34" charset="0"/>
            </a:endParaRPr>
          </a:p>
        </p:txBody>
      </p: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60FF7043-9857-6306-78BF-4F317F54F5F1}"/>
              </a:ext>
            </a:extLst>
          </p:cNvPr>
          <p:cNvCxnSpPr/>
          <p:nvPr/>
        </p:nvCxnSpPr>
        <p:spPr>
          <a:xfrm>
            <a:off x="3206750" y="1423181"/>
            <a:ext cx="1114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6C8749D-D429-11EC-1782-875D563A0BCD}"/>
              </a:ext>
            </a:extLst>
          </p:cNvPr>
          <p:cNvCxnSpPr/>
          <p:nvPr/>
        </p:nvCxnSpPr>
        <p:spPr>
          <a:xfrm flipH="1">
            <a:off x="3206750" y="2029677"/>
            <a:ext cx="1114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E924F9F0-E4EB-3EE1-0039-A5764398DB6B}"/>
              </a:ext>
            </a:extLst>
          </p:cNvPr>
          <p:cNvSpPr txBox="1"/>
          <p:nvPr/>
        </p:nvSpPr>
        <p:spPr>
          <a:xfrm>
            <a:off x="3323023" y="1182797"/>
            <a:ext cx="85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Bahnschrift SemiBold Condensed" panose="020B0502040204020203" pitchFamily="34" charset="0"/>
              </a:rPr>
              <a:t>Задания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7625269-ACBA-4B3B-A03F-1B60CFF15EE2}"/>
              </a:ext>
            </a:extLst>
          </p:cNvPr>
          <p:cNvSpPr txBox="1"/>
          <p:nvPr/>
        </p:nvSpPr>
        <p:spPr>
          <a:xfrm>
            <a:off x="3241058" y="2011298"/>
            <a:ext cx="10435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Bahnschrift SemiBold Condensed" panose="020B0502040204020203" pitchFamily="34" charset="0"/>
              </a:rPr>
              <a:t>Информация об эксплуатации (отчеты)</a:t>
            </a:r>
          </a:p>
        </p:txBody>
      </p:sp>
      <p:cxnSp>
        <p:nvCxnSpPr>
          <p:cNvPr id="107" name="Прямая со стрелкой 106">
            <a:extLst>
              <a:ext uri="{FF2B5EF4-FFF2-40B4-BE49-F238E27FC236}">
                <a16:creationId xmlns:a16="http://schemas.microsoft.com/office/drawing/2014/main" id="{BD406313-F6EA-03F6-45B8-D6DA99E11C5F}"/>
              </a:ext>
            </a:extLst>
          </p:cNvPr>
          <p:cNvCxnSpPr/>
          <p:nvPr/>
        </p:nvCxnSpPr>
        <p:spPr>
          <a:xfrm>
            <a:off x="4916760" y="2399552"/>
            <a:ext cx="0" cy="1132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8544EC9-E0A2-0C97-11F4-539E04802EF8}"/>
              </a:ext>
            </a:extLst>
          </p:cNvPr>
          <p:cNvSpPr txBox="1"/>
          <p:nvPr/>
        </p:nvSpPr>
        <p:spPr>
          <a:xfrm>
            <a:off x="3735385" y="2699459"/>
            <a:ext cx="12169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latin typeface="Bahnschrift SemiBold Condensed" panose="020B0502040204020203" pitchFamily="34" charset="0"/>
              </a:rPr>
              <a:t>Политика прав</a:t>
            </a:r>
            <a:br>
              <a:rPr lang="ru-RU" sz="1000" dirty="0">
                <a:latin typeface="Bahnschrift SemiBold Condensed" panose="020B0502040204020203" pitchFamily="34" charset="0"/>
              </a:rPr>
            </a:br>
            <a:r>
              <a:rPr lang="ru-RU" sz="1000" dirty="0">
                <a:latin typeface="Bahnschrift SemiBold Condensed" panose="020B0502040204020203" pitchFamily="34" charset="0"/>
              </a:rPr>
              <a:t>Лимиты</a:t>
            </a:r>
            <a:br>
              <a:rPr lang="ru-RU" sz="1000" dirty="0">
                <a:latin typeface="Bahnschrift SemiBold Condensed" panose="020B0502040204020203" pitchFamily="34" charset="0"/>
              </a:rPr>
            </a:br>
            <a:r>
              <a:rPr lang="ru-RU" sz="1000" dirty="0">
                <a:latin typeface="Bahnschrift SemiBold Condensed" panose="020B0502040204020203" pitchFamily="34" charset="0"/>
              </a:rPr>
              <a:t>Задания на выдачу</a:t>
            </a:r>
          </a:p>
        </p:txBody>
      </p: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40BD7F7F-8A3C-E2C4-DB5A-4C4650C54E3D}"/>
              </a:ext>
            </a:extLst>
          </p:cNvPr>
          <p:cNvCxnSpPr/>
          <p:nvPr/>
        </p:nvCxnSpPr>
        <p:spPr>
          <a:xfrm flipV="1">
            <a:off x="6546850" y="2399552"/>
            <a:ext cx="0" cy="1146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9B968249-243B-572E-EC6B-C9D430AF4856}"/>
              </a:ext>
            </a:extLst>
          </p:cNvPr>
          <p:cNvSpPr txBox="1"/>
          <p:nvPr/>
        </p:nvSpPr>
        <p:spPr>
          <a:xfrm>
            <a:off x="5200650" y="2661441"/>
            <a:ext cx="13927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000" dirty="0">
                <a:latin typeface="Bahnschrift SemiBold Condensed" panose="020B0502040204020203" pitchFamily="34" charset="0"/>
              </a:rPr>
              <a:t>Остатки</a:t>
            </a:r>
          </a:p>
          <a:p>
            <a:pPr algn="r"/>
            <a:r>
              <a:rPr lang="ru-RU" sz="1000" dirty="0">
                <a:latin typeface="Bahnschrift SemiBold Condensed" panose="020B0502040204020203" pitchFamily="34" charset="0"/>
              </a:rPr>
              <a:t>Журнал событий</a:t>
            </a:r>
          </a:p>
          <a:p>
            <a:pPr algn="r"/>
            <a:r>
              <a:rPr lang="ru-RU" sz="1000" dirty="0">
                <a:latin typeface="Bahnschrift SemiBold Condensed" panose="020B0502040204020203" pitchFamily="34" charset="0"/>
              </a:rPr>
              <a:t>Состояние аппарата</a:t>
            </a:r>
          </a:p>
          <a:p>
            <a:pPr algn="r"/>
            <a:r>
              <a:rPr lang="ru-RU" sz="1000" dirty="0">
                <a:latin typeface="Bahnschrift SemiBold Condensed" panose="020B0502040204020203" pitchFamily="34" charset="0"/>
              </a:rPr>
              <a:t>Статистика выдачи</a:t>
            </a:r>
          </a:p>
        </p:txBody>
      </p:sp>
      <p:cxnSp>
        <p:nvCxnSpPr>
          <p:cNvPr id="116" name="Соединитель: уступ 115">
            <a:extLst>
              <a:ext uri="{FF2B5EF4-FFF2-40B4-BE49-F238E27FC236}">
                <a16:creationId xmlns:a16="http://schemas.microsoft.com/office/drawing/2014/main" id="{B7965B90-AE10-DBAE-C3D3-CD15EDCAEB2D}"/>
              </a:ext>
            </a:extLst>
          </p:cNvPr>
          <p:cNvCxnSpPr/>
          <p:nvPr/>
        </p:nvCxnSpPr>
        <p:spPr>
          <a:xfrm flipV="1">
            <a:off x="7305675" y="3660741"/>
            <a:ext cx="783503" cy="7080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8ABE96E-AAB8-A154-8C4D-107B41585405}"/>
              </a:ext>
            </a:extLst>
          </p:cNvPr>
          <p:cNvSpPr txBox="1"/>
          <p:nvPr/>
        </p:nvSpPr>
        <p:spPr>
          <a:xfrm>
            <a:off x="7219525" y="3411646"/>
            <a:ext cx="85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Bahnschrift SemiBold Condensed" panose="020B0502040204020203" pitchFamily="34" charset="0"/>
              </a:rPr>
              <a:t>Получение ТМЦ</a:t>
            </a:r>
          </a:p>
        </p:txBody>
      </p: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78D27D90-77E8-D8C2-1609-3D2183BFA1CB}"/>
              </a:ext>
            </a:extLst>
          </p:cNvPr>
          <p:cNvCxnSpPr>
            <a:cxnSpLocks/>
          </p:cNvCxnSpPr>
          <p:nvPr/>
        </p:nvCxnSpPr>
        <p:spPr>
          <a:xfrm flipV="1">
            <a:off x="9061450" y="2272222"/>
            <a:ext cx="0" cy="7004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6B3AD0-4F38-6CCB-575E-A3607B1B956A}"/>
              </a:ext>
            </a:extLst>
          </p:cNvPr>
          <p:cNvSpPr txBox="1"/>
          <p:nvPr/>
        </p:nvSpPr>
        <p:spPr>
          <a:xfrm>
            <a:off x="8286980" y="2434846"/>
            <a:ext cx="85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Bahnschrift SemiBold Condensed" panose="020B0502040204020203" pitchFamily="34" charset="0"/>
              </a:rPr>
              <a:t>Инструмент</a:t>
            </a:r>
          </a:p>
        </p:txBody>
      </p:sp>
      <p:cxnSp>
        <p:nvCxnSpPr>
          <p:cNvPr id="124" name="Прямая со стрелкой 123">
            <a:extLst>
              <a:ext uri="{FF2B5EF4-FFF2-40B4-BE49-F238E27FC236}">
                <a16:creationId xmlns:a16="http://schemas.microsoft.com/office/drawing/2014/main" id="{9D6A06D4-1CB9-96D8-4181-05A813DE74C7}"/>
              </a:ext>
            </a:extLst>
          </p:cNvPr>
          <p:cNvCxnSpPr>
            <a:cxnSpLocks/>
          </p:cNvCxnSpPr>
          <p:nvPr/>
        </p:nvCxnSpPr>
        <p:spPr>
          <a:xfrm>
            <a:off x="10668000" y="2272222"/>
            <a:ext cx="0" cy="693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9F80B61F-CE2C-E70E-572E-6B966274B724}"/>
              </a:ext>
            </a:extLst>
          </p:cNvPr>
          <p:cNvSpPr txBox="1"/>
          <p:nvPr/>
        </p:nvSpPr>
        <p:spPr>
          <a:xfrm>
            <a:off x="9773918" y="2392969"/>
            <a:ext cx="971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Bahnschrift SemiBold Condensed" panose="020B0502040204020203" pitchFamily="34" charset="0"/>
              </a:rPr>
              <a:t>Использованный</a:t>
            </a:r>
          </a:p>
          <a:p>
            <a:pPr algn="ctr"/>
            <a:r>
              <a:rPr lang="ru-RU" sz="1000" dirty="0">
                <a:latin typeface="Bahnschrift SemiBold Condensed" panose="020B0502040204020203" pitchFamily="34" charset="0"/>
              </a:rPr>
              <a:t>инструмент</a:t>
            </a:r>
          </a:p>
        </p:txBody>
      </p:sp>
      <p:cxnSp>
        <p:nvCxnSpPr>
          <p:cNvPr id="131" name="Соединитель: уступ 130">
            <a:extLst>
              <a:ext uri="{FF2B5EF4-FFF2-40B4-BE49-F238E27FC236}">
                <a16:creationId xmlns:a16="http://schemas.microsoft.com/office/drawing/2014/main" id="{D4796B2A-ED9F-B03C-F6D6-8E0A291490B5}"/>
              </a:ext>
            </a:extLst>
          </p:cNvPr>
          <p:cNvCxnSpPr>
            <a:stCxn id="76" idx="2"/>
          </p:cNvCxnSpPr>
          <p:nvPr/>
        </p:nvCxnSpPr>
        <p:spPr>
          <a:xfrm rot="5400000">
            <a:off x="8041648" y="3379172"/>
            <a:ext cx="1129956" cy="26019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7AC3962D-3E44-8950-CEBF-DF3A41113FE3}"/>
              </a:ext>
            </a:extLst>
          </p:cNvPr>
          <p:cNvSpPr txBox="1"/>
          <p:nvPr/>
        </p:nvSpPr>
        <p:spPr>
          <a:xfrm>
            <a:off x="8209881" y="4998880"/>
            <a:ext cx="85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latin typeface="Bahnschrift SemiBold Condensed" panose="020B0502040204020203" pitchFamily="34" charset="0"/>
              </a:rPr>
              <a:t>Возврат ТМЦ 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6FCD0D6-6F3F-F188-5BDB-2E2F39CE1DEE}"/>
              </a:ext>
            </a:extLst>
          </p:cNvPr>
          <p:cNvSpPr txBox="1"/>
          <p:nvPr/>
        </p:nvSpPr>
        <p:spPr>
          <a:xfrm>
            <a:off x="989331" y="4368800"/>
            <a:ext cx="2077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u="sng" dirty="0">
                <a:latin typeface="Bahnschrift SemiBold Condensed" panose="020B0502040204020203" pitchFamily="34" charset="0"/>
              </a:rPr>
              <a:t>Склад и логистика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sz="1400" dirty="0">
                <a:latin typeface="Bahnschrift SemiBold Condensed" panose="020B0502040204020203" pitchFamily="34" charset="0"/>
              </a:rPr>
              <a:t>Снабжение и пополнение</a:t>
            </a:r>
            <a:br>
              <a:rPr lang="ru-RU" sz="14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12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Автоматическая генерация задач на пополнение при достижении минимального остатка, уведомление кладовщика, формирование складской программы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F20A688-8290-2D06-E9C5-807E0B2E62C3}"/>
              </a:ext>
            </a:extLst>
          </p:cNvPr>
          <p:cNvSpPr txBox="1"/>
          <p:nvPr/>
        </p:nvSpPr>
        <p:spPr>
          <a:xfrm>
            <a:off x="439660" y="4438868"/>
            <a:ext cx="549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Bahnschrift SemiBold Condensed" panose="020B0502040204020203" pitchFamily="34" charset="0"/>
              </a:rPr>
              <a:t>6</a:t>
            </a:r>
          </a:p>
        </p:txBody>
      </p:sp>
      <p:sp>
        <p:nvSpPr>
          <p:cNvPr id="137" name="Прямоугольник: скругленные углы 136">
            <a:extLst>
              <a:ext uri="{FF2B5EF4-FFF2-40B4-BE49-F238E27FC236}">
                <a16:creationId xmlns:a16="http://schemas.microsoft.com/office/drawing/2014/main" id="{3F23376D-A15B-59CC-DF25-CCEAF8DECAE8}"/>
              </a:ext>
            </a:extLst>
          </p:cNvPr>
          <p:cNvSpPr/>
          <p:nvPr/>
        </p:nvSpPr>
        <p:spPr>
          <a:xfrm>
            <a:off x="439661" y="4368800"/>
            <a:ext cx="2767090" cy="1477328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7AC2A6B-F55D-1510-A596-0C9F6EB96F26}"/>
              </a:ext>
            </a:extLst>
          </p:cNvPr>
          <p:cNvSpPr txBox="1"/>
          <p:nvPr/>
        </p:nvSpPr>
        <p:spPr>
          <a:xfrm>
            <a:off x="2412464" y="3211591"/>
            <a:ext cx="1183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Bahnschrift SemiBold Condensed" panose="020B0502040204020203" pitchFamily="34" charset="0"/>
              </a:rPr>
              <a:t>Заявка на пополнение устройств</a:t>
            </a:r>
          </a:p>
        </p:txBody>
      </p:sp>
      <p:cxnSp>
        <p:nvCxnSpPr>
          <p:cNvPr id="151" name="Прямая со стрелкой 150">
            <a:extLst>
              <a:ext uri="{FF2B5EF4-FFF2-40B4-BE49-F238E27FC236}">
                <a16:creationId xmlns:a16="http://schemas.microsoft.com/office/drawing/2014/main" id="{51AE5AC3-6FC7-1B10-1435-1AE464340A81}"/>
              </a:ext>
            </a:extLst>
          </p:cNvPr>
          <p:cNvCxnSpPr>
            <a:stCxn id="137" idx="3"/>
          </p:cNvCxnSpPr>
          <p:nvPr/>
        </p:nvCxnSpPr>
        <p:spPr>
          <a:xfrm>
            <a:off x="3206751" y="5107464"/>
            <a:ext cx="9742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336CFD5B-5E16-B2AD-6C06-C6A54F2643EF}"/>
              </a:ext>
            </a:extLst>
          </p:cNvPr>
          <p:cNvSpPr txBox="1"/>
          <p:nvPr/>
        </p:nvSpPr>
        <p:spPr>
          <a:xfrm>
            <a:off x="3211322" y="4835920"/>
            <a:ext cx="11836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Bahnschrift SemiBold Condensed" panose="020B0502040204020203" pitchFamily="34" charset="0"/>
              </a:rPr>
              <a:t>Пополнение ТМЦ</a:t>
            </a:r>
          </a:p>
        </p:txBody>
      </p:sp>
      <p:cxnSp>
        <p:nvCxnSpPr>
          <p:cNvPr id="156" name="Прямая со стрелкой 155">
            <a:extLst>
              <a:ext uri="{FF2B5EF4-FFF2-40B4-BE49-F238E27FC236}">
                <a16:creationId xmlns:a16="http://schemas.microsoft.com/office/drawing/2014/main" id="{AC01E423-932A-8ED7-1DD7-D8DAE4F2EE20}"/>
              </a:ext>
            </a:extLst>
          </p:cNvPr>
          <p:cNvCxnSpPr/>
          <p:nvPr/>
        </p:nvCxnSpPr>
        <p:spPr>
          <a:xfrm flipH="1">
            <a:off x="3206750" y="5549900"/>
            <a:ext cx="9742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C2CB2B6E-F0F0-1160-B2D5-CC458EED4DFF}"/>
              </a:ext>
            </a:extLst>
          </p:cNvPr>
          <p:cNvSpPr txBox="1"/>
          <p:nvPr/>
        </p:nvSpPr>
        <p:spPr>
          <a:xfrm>
            <a:off x="3227168" y="5542277"/>
            <a:ext cx="11836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Bahnschrift SemiBold Condensed" panose="020B0502040204020203" pitchFamily="34" charset="0"/>
              </a:rPr>
              <a:t>Изъятие лома и</a:t>
            </a:r>
            <a:br>
              <a:rPr lang="ru-RU" sz="1000" dirty="0">
                <a:latin typeface="Bahnschrift SemiBold Condensed" panose="020B0502040204020203" pitchFamily="34" charset="0"/>
              </a:rPr>
            </a:br>
            <a:r>
              <a:rPr lang="ru-RU" sz="1000" dirty="0">
                <a:latin typeface="Bahnschrift SemiBold Condensed" panose="020B0502040204020203" pitchFamily="34" charset="0"/>
              </a:rPr>
              <a:t>инструмента на переточку/ремонт</a:t>
            </a:r>
          </a:p>
        </p:txBody>
      </p:sp>
      <p:cxnSp>
        <p:nvCxnSpPr>
          <p:cNvPr id="160" name="Соединитель: уступ 159">
            <a:extLst>
              <a:ext uri="{FF2B5EF4-FFF2-40B4-BE49-F238E27FC236}">
                <a16:creationId xmlns:a16="http://schemas.microsoft.com/office/drawing/2014/main" id="{9C722D9C-DF4A-CB69-AC0D-5A0D726343CE}"/>
              </a:ext>
            </a:extLst>
          </p:cNvPr>
          <p:cNvCxnSpPr>
            <a:cxnSpLocks/>
            <a:stCxn id="137" idx="0"/>
            <a:endCxn id="162" idx="3"/>
          </p:cNvCxnSpPr>
          <p:nvPr/>
        </p:nvCxnSpPr>
        <p:spPr>
          <a:xfrm rot="16200000" flipV="1">
            <a:off x="1146164" y="3691758"/>
            <a:ext cx="1069338" cy="2847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Блок-схема: знак завершения 161">
            <a:extLst>
              <a:ext uri="{FF2B5EF4-FFF2-40B4-BE49-F238E27FC236}">
                <a16:creationId xmlns:a16="http://schemas.microsoft.com/office/drawing/2014/main" id="{4702A2A8-710F-0C8D-225E-B54DB9EEEC73}"/>
              </a:ext>
            </a:extLst>
          </p:cNvPr>
          <p:cNvSpPr/>
          <p:nvPr/>
        </p:nvSpPr>
        <p:spPr>
          <a:xfrm>
            <a:off x="366975" y="3121170"/>
            <a:ext cx="1171485" cy="356583"/>
          </a:xfrm>
          <a:prstGeom prst="flowChartTerminator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3DDFD56C-7CCA-1EB2-2950-51BB525DB5A0}"/>
              </a:ext>
            </a:extLst>
          </p:cNvPr>
          <p:cNvSpPr txBox="1"/>
          <p:nvPr/>
        </p:nvSpPr>
        <p:spPr>
          <a:xfrm>
            <a:off x="626355" y="3622122"/>
            <a:ext cx="12718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Bahnschrift SemiBold Condensed" panose="020B0502040204020203" pitchFamily="34" charset="0"/>
              </a:rPr>
              <a:t>Складская программа</a:t>
            </a:r>
            <a:br>
              <a:rPr lang="ru-RU" sz="1000" dirty="0">
                <a:latin typeface="Bahnschrift SemiBold Condensed" panose="020B0502040204020203" pitchFamily="34" charset="0"/>
              </a:rPr>
            </a:br>
            <a:r>
              <a:rPr lang="ru-RU" sz="1000" dirty="0">
                <a:latin typeface="Bahnschrift SemiBold Condensed" panose="020B0502040204020203" pitchFamily="34" charset="0"/>
              </a:rPr>
              <a:t>Заявка на пополнение центрального склада</a:t>
            </a:r>
          </a:p>
        </p:txBody>
      </p:sp>
      <p:cxnSp>
        <p:nvCxnSpPr>
          <p:cNvPr id="172" name="Прямая со стрелкой 171">
            <a:extLst>
              <a:ext uri="{FF2B5EF4-FFF2-40B4-BE49-F238E27FC236}">
                <a16:creationId xmlns:a16="http://schemas.microsoft.com/office/drawing/2014/main" id="{D415BC5B-3FA5-B9EC-27AB-71755113A135}"/>
              </a:ext>
            </a:extLst>
          </p:cNvPr>
          <p:cNvCxnSpPr>
            <a:cxnSpLocks/>
            <a:stCxn id="92" idx="1"/>
          </p:cNvCxnSpPr>
          <p:nvPr/>
        </p:nvCxnSpPr>
        <p:spPr>
          <a:xfrm flipH="1">
            <a:off x="7198654" y="1708708"/>
            <a:ext cx="8905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6B424796-1431-041E-0536-72C8178436FD}"/>
              </a:ext>
            </a:extLst>
          </p:cNvPr>
          <p:cNvSpPr txBox="1"/>
          <p:nvPr/>
        </p:nvSpPr>
        <p:spPr>
          <a:xfrm>
            <a:off x="7205666" y="1174782"/>
            <a:ext cx="9196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Bahnschrift SemiBold Condensed" panose="020B0502040204020203" pitchFamily="34" charset="0"/>
              </a:rPr>
              <a:t>Информация об использовании инструмента</a:t>
            </a:r>
          </a:p>
          <a:p>
            <a:endParaRPr lang="ru-RU" sz="1000" dirty="0">
              <a:latin typeface="Bahnschrift SemiBold Condensed" panose="020B0502040204020203" pitchFamily="34" charset="0"/>
            </a:endParaRPr>
          </a:p>
          <a:p>
            <a:r>
              <a:rPr lang="ru-RU" sz="1000" dirty="0">
                <a:latin typeface="Bahnschrift SemiBold Condensed" panose="020B0502040204020203" pitchFamily="34" charset="0"/>
              </a:rPr>
              <a:t>(Опционально)</a:t>
            </a:r>
          </a:p>
        </p:txBody>
      </p:sp>
    </p:spTree>
    <p:extLst>
      <p:ext uri="{BB962C8B-B14F-4D97-AF65-F5344CB8AC3E}">
        <p14:creationId xmlns:p14="http://schemas.microsoft.com/office/powerpoint/2010/main" val="4522395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204E5E81-74F4-1BF2-8DAB-F438D1361618}"/>
              </a:ext>
            </a:extLst>
          </p:cNvPr>
          <p:cNvSpPr/>
          <p:nvPr/>
        </p:nvSpPr>
        <p:spPr>
          <a:xfrm>
            <a:off x="0" y="243840"/>
            <a:ext cx="8013700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 в системе предприятия. 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Решение поставленных задач</a:t>
            </a:r>
            <a:endParaRPr lang="ru-RU" sz="2400" b="1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AEF2354-C5AE-DB02-E489-B02092FBD129}"/>
              </a:ext>
            </a:extLst>
          </p:cNvPr>
          <p:cNvSpPr txBox="1">
            <a:spLocks/>
          </p:cNvSpPr>
          <p:nvPr/>
        </p:nvSpPr>
        <p:spPr>
          <a:xfrm>
            <a:off x="933450" y="890147"/>
            <a:ext cx="10172700" cy="36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ru-R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 Condensed" panose="020B0502040204020203" pitchFamily="34" charset="0"/>
              </a:rPr>
              <a:t>«Уралец» системно закрывает каждую задачу по управлению инструментальным хозяйством производства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4AEDA7C-7422-5B8F-5615-5AB9B7476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383675"/>
              </p:ext>
            </p:extLst>
          </p:nvPr>
        </p:nvGraphicFramePr>
        <p:xfrm>
          <a:off x="933450" y="1354667"/>
          <a:ext cx="10610850" cy="46036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9150">
                  <a:extLst>
                    <a:ext uri="{9D8B030D-6E8A-4147-A177-3AD203B41FA5}">
                      <a16:colId xmlns:a16="http://schemas.microsoft.com/office/drawing/2014/main" val="3089734707"/>
                    </a:ext>
                  </a:extLst>
                </a:gridCol>
                <a:gridCol w="5981700">
                  <a:extLst>
                    <a:ext uri="{9D8B030D-6E8A-4147-A177-3AD203B41FA5}">
                      <a16:colId xmlns:a16="http://schemas.microsoft.com/office/drawing/2014/main" val="2659312270"/>
                    </a:ext>
                  </a:extLst>
                </a:gridCol>
              </a:tblGrid>
              <a:tr h="794936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Систематизировать круглосуточную выдачу и возврат ТМЦ, минимизировать ошибки учёта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Автоматизирован процесс круглосуточной выдачи и возврата ТМЦ сотрудникам производства. Выдача ТМЦ присваивается к учетной записи сотрудников, ведется реестр операций в реальном времени.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869554"/>
                  </a:ext>
                </a:extLst>
              </a:tr>
              <a:tr h="61543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Вести актуальную статистику об остатках, движении, хранении инструмента и ТМЦ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Все операции автоматически обновляют остатки в реальном времени. Отчёты доступны на СА и в учетных системах предприятия.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634561"/>
                  </a:ext>
                </a:extLst>
              </a:tr>
              <a:tr h="61543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Обеспечить мониторинг статуса выданных ТМЦ в реальном времени: кем используется инструмент и для выполнения какой операции?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Каждая выдача привязана к сотруднику и сменному заданию. Статус инструмента виден в реальном времени.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658979"/>
                  </a:ext>
                </a:extLst>
              </a:tr>
              <a:tr h="61543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Внедрить нормативы выдачи ТМЦ в соответствии со сменным заданием или ограничениями на получение.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Нормативы получения ТМЦ в соответствии со сменным заданием + автоматическая проверка при выдаче. Система блокирует выдачу при превышении лимитов.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333291"/>
                  </a:ext>
                </a:extLst>
              </a:tr>
              <a:tr h="61543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Внедрить предупреждающую политику приобретения ТМЦ (плановую закупочную программу в зависимости от реальных потребностей производства)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Анализ фактического расхода и минимальных остатков. Автоматическое формирование прогноза потребности и задач на пополнение.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03570"/>
                  </a:ext>
                </a:extLst>
              </a:tr>
              <a:tr h="61543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Внедрить аварийные/неснижаемые остатки на складе и контролировать их состояние в реальном времени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Для каждой позиции задаётся минимальный остаток. При его достижении система создаёт задачу на пополнение и уведомляет кладовщика.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552106"/>
                  </a:ext>
                </a:extLst>
              </a:tr>
              <a:tr h="615435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Внедрить контроль за сроками поверки измерительного инструмента и ресурсом режущего инструмента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ru-RU" sz="1400" dirty="0">
                          <a:latin typeface="Bahnschrift SemiBold Condensed" panose="020B0502040204020203" pitchFamily="34" charset="0"/>
                        </a:rPr>
                        <a:t>Для каждого инструмента задаётся срок поверки и/или ресурс. Система отслеживает наработку, автоматически уведомляет о приближении срока.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7661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D63863-03AF-A13F-FD9B-044ED28D5B89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170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CF8A88E-BA4C-8FDC-4963-19A85E3A5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900"/>
            <a:ext cx="10515600" cy="5103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Bahnschrift SemiBold Condensed" panose="020B0502040204020203" pitchFamily="34" charset="0"/>
              </a:rPr>
              <a:t>«Уралец»</a:t>
            </a:r>
            <a:r>
              <a:rPr lang="ru-RU" sz="2400" dirty="0">
                <a:latin typeface="Bahnschrift SemiBold Condensed" panose="020B0502040204020203" pitchFamily="34" charset="0"/>
              </a:rPr>
              <a:t> — это не шкаф и не программа. Это </a:t>
            </a:r>
            <a:r>
              <a:rPr lang="ru-RU" sz="2400" b="1" u="sng" dirty="0">
                <a:latin typeface="Bahnschrift SemiBold Condensed" panose="020B0502040204020203" pitchFamily="34" charset="0"/>
              </a:rPr>
              <a:t>управленческое решение</a:t>
            </a:r>
            <a:r>
              <a:rPr lang="ru-RU" sz="2400" dirty="0">
                <a:latin typeface="Bahnschrift SemiBold Condensed" panose="020B0502040204020203" pitchFamily="34" charset="0"/>
              </a:rPr>
              <a:t>, которое системно закрывает все задачи по учёту, контролю и планированию инструментального хозяйства:</a:t>
            </a:r>
          </a:p>
          <a:p>
            <a:pPr marL="0" indent="0">
              <a:buNone/>
            </a:pPr>
            <a:r>
              <a:rPr lang="ru-RU" sz="2400" b="1" u="sng" dirty="0">
                <a:latin typeface="Bahnschrift SemiBold Condensed" panose="020B0502040204020203" pitchFamily="34" charset="0"/>
              </a:rPr>
              <a:t>ПРОЗРАЧНОСТЬ:</a:t>
            </a:r>
            <a:br>
              <a:rPr lang="ru-RU" sz="2400" b="1" dirty="0">
                <a:latin typeface="Bahnschrift SemiBold Condensed" panose="020B0502040204020203" pitchFamily="34" charset="0"/>
              </a:rPr>
            </a:b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инструмент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присвоен к цеху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– 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участку – детали – операции - сотруднику</a:t>
            </a:r>
            <a:br>
              <a:rPr lang="ru-RU" sz="2400" dirty="0">
                <a:latin typeface="Bahnschrift SemiBold Condensed" panose="020B0502040204020203" pitchFamily="34" charset="0"/>
              </a:rPr>
            </a:br>
            <a:r>
              <a:rPr lang="ru-RU" sz="2400" b="1" u="sng" dirty="0">
                <a:latin typeface="Bahnschrift SemiBold Condensed" panose="020B0502040204020203" pitchFamily="34" charset="0"/>
              </a:rPr>
              <a:t>УПРАВЛЯЕМОСТЬ:</a:t>
            </a:r>
            <a:br>
              <a:rPr lang="ru-RU" sz="2400" b="1" dirty="0">
                <a:latin typeface="Bahnschrift SemiBold Condensed" panose="020B0502040204020203" pitchFamily="34" charset="0"/>
              </a:rPr>
            </a:b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нормативы, лимиты и сменные задания под контролем</a:t>
            </a:r>
            <a:br>
              <a:rPr lang="ru-RU" sz="2400" dirty="0">
                <a:latin typeface="Bahnschrift SemiBold Condensed" panose="020B0502040204020203" pitchFamily="34" charset="0"/>
              </a:rPr>
            </a:br>
            <a:r>
              <a:rPr lang="ru-RU" sz="2400" b="1" u="sng" dirty="0">
                <a:latin typeface="Bahnschrift SemiBold Condensed" panose="020B0502040204020203" pitchFamily="34" charset="0"/>
              </a:rPr>
              <a:t>БЕЗОПАСНОСТЬ:</a:t>
            </a:r>
            <a:br>
              <a:rPr lang="ru-RU" sz="2400" b="1" dirty="0">
                <a:latin typeface="Bahnschrift SemiBold Condensed" panose="020B0502040204020203" pitchFamily="34" charset="0"/>
              </a:rPr>
            </a:b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данные внутри предприятия, разграничение доступа и зон ответственности</a:t>
            </a:r>
            <a:br>
              <a:rPr lang="ru-RU" sz="2400" dirty="0">
                <a:latin typeface="Bahnschrift SemiBold Condensed" panose="020B0502040204020203" pitchFamily="34" charset="0"/>
              </a:rPr>
            </a:br>
            <a:r>
              <a:rPr lang="ru-RU" sz="2400" b="1" u="sng" dirty="0">
                <a:latin typeface="Bahnschrift SemiBold Condensed" panose="020B0502040204020203" pitchFamily="34" charset="0"/>
              </a:rPr>
              <a:t>НАДЕЖНОСТЬ:</a:t>
            </a:r>
            <a:br>
              <a:rPr lang="ru-RU" sz="2400" b="1" dirty="0">
                <a:latin typeface="Bahnschrift SemiBold Condensed" panose="020B0502040204020203" pitchFamily="34" charset="0"/>
              </a:rPr>
            </a:b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ресурс используется полностью, внезапных остановок производства нет</a:t>
            </a:r>
          </a:p>
          <a:p>
            <a:pPr marL="0" indent="0">
              <a:buNone/>
            </a:pPr>
            <a:r>
              <a:rPr lang="ru-RU" sz="2400" u="sng" dirty="0">
                <a:latin typeface="Bahnschrift SemiBold Condensed" panose="020B0502040204020203" pitchFamily="34" charset="0"/>
              </a:rPr>
              <a:t>ЭФФЕКТИВНОСТЬ</a:t>
            </a:r>
            <a:b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потери снижены, перерасход исключён, актуальная складская программа</a:t>
            </a:r>
          </a:p>
          <a:p>
            <a:pPr marL="0" indent="0">
              <a:buNone/>
            </a:pPr>
            <a:r>
              <a:rPr lang="ru-RU" sz="2400" b="1" dirty="0">
                <a:latin typeface="Bahnschrift SemiBold Condensed" panose="020B0502040204020203" pitchFamily="34" charset="0"/>
              </a:rPr>
              <a:t>Инструмент становится управляемым активом.</a:t>
            </a:r>
            <a:endParaRPr lang="ru-RU" sz="2400" dirty="0">
              <a:latin typeface="Bahnschrift SemiBold Condensed" panose="020B0502040204020203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8EE9A1F0-8C51-129D-C2B9-DCC256D15E9C}"/>
              </a:ext>
            </a:extLst>
          </p:cNvPr>
          <p:cNvSpPr/>
          <p:nvPr/>
        </p:nvSpPr>
        <p:spPr>
          <a:xfrm>
            <a:off x="0" y="243840"/>
            <a:ext cx="7305675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 в системе предприятия. </a:t>
            </a:r>
            <a:r>
              <a:rPr lang="ru-RU" sz="24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Итоговое резюме</a:t>
            </a:r>
            <a:endParaRPr lang="ru-RU" sz="2400" b="1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3B7A9-D5E4-1906-F3BD-A8C43759CBC8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8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один усеченный угол 4">
            <a:extLst>
              <a:ext uri="{FF2B5EF4-FFF2-40B4-BE49-F238E27FC236}">
                <a16:creationId xmlns:a16="http://schemas.microsoft.com/office/drawing/2014/main" id="{609EF063-29F6-88EC-99EB-A6FD33B9B474}"/>
              </a:ext>
            </a:extLst>
          </p:cNvPr>
          <p:cNvSpPr/>
          <p:nvPr/>
        </p:nvSpPr>
        <p:spPr>
          <a:xfrm>
            <a:off x="0" y="243840"/>
            <a:ext cx="7305675" cy="419947"/>
          </a:xfrm>
          <a:prstGeom prst="snip1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ru-RU" sz="2400" dirty="0">
                <a:latin typeface="Bahnschrift SemiBold Condensed" panose="020B0502040204020203" pitchFamily="34" charset="0"/>
              </a:rPr>
              <a:t>	«Уралец» в системе предприятия». Следующий шаг</a:t>
            </a:r>
            <a:endParaRPr lang="ru-RU" sz="2400" b="1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8D4005FA-B2FB-87E2-C292-1FA04C643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900"/>
            <a:ext cx="10515600" cy="5103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Bahnschrift SemiBold Condensed" panose="020B0502040204020203" pitchFamily="34" charset="0"/>
              </a:rPr>
              <a:t>Компания «Точные машины» готова провести аудит производственных процессов и совместно со специалистами предприятия разработать модель работы системы управления движением ТМЦ</a:t>
            </a:r>
          </a:p>
          <a:p>
            <a:pPr marL="0" indent="0">
              <a:buNone/>
            </a:pPr>
            <a:endParaRPr lang="ru-RU" sz="2400" b="1" dirty="0">
              <a:latin typeface="Bahnschrift SemiBold Condensed" panose="020B0502040204020203" pitchFamily="34" charset="0"/>
            </a:endParaRPr>
          </a:p>
          <a:p>
            <a:pPr marL="0" indent="0">
              <a:buNone/>
            </a:pPr>
            <a:r>
              <a:rPr lang="ru-RU" sz="2400" b="1" u="sng" dirty="0">
                <a:latin typeface="Bahnschrift SemiBold Condensed" panose="020B0502040204020203" pitchFamily="34" charset="0"/>
              </a:rPr>
              <a:t>1. Аудит и формулировка задач</a:t>
            </a:r>
            <a:br>
              <a:rPr lang="ru-RU" sz="2400" b="1" dirty="0">
                <a:latin typeface="Bahnschrift SemiBold Condensed" panose="020B0502040204020203" pitchFamily="34" charset="0"/>
              </a:rPr>
            </a:b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Обсуждаем Ваши задачи, текущие процессы и требования к системе управления ТМЦ.</a:t>
            </a:r>
          </a:p>
          <a:p>
            <a:pPr marL="0" indent="0">
              <a:buNone/>
            </a:pPr>
            <a:br>
              <a:rPr lang="ru-RU" sz="2400" dirty="0">
                <a:latin typeface="Bahnschrift SemiBold Condensed" panose="020B0502040204020203" pitchFamily="34" charset="0"/>
              </a:rPr>
            </a:br>
            <a:r>
              <a:rPr lang="ru-RU" sz="2400" dirty="0">
                <a:latin typeface="Bahnschrift SemiBold Condensed" panose="020B0502040204020203" pitchFamily="34" charset="0"/>
              </a:rPr>
              <a:t>2. </a:t>
            </a:r>
            <a:r>
              <a:rPr lang="ru-RU" sz="2400" b="1" u="sng" dirty="0">
                <a:latin typeface="Bahnschrift SemiBold Condensed" panose="020B0502040204020203" pitchFamily="34" charset="0"/>
              </a:rPr>
              <a:t>Подготовка проекта и формирование технического задания</a:t>
            </a:r>
            <a:br>
              <a:rPr lang="ru-RU" sz="2400" b="1" dirty="0">
                <a:latin typeface="Bahnschrift SemiBold Condensed" panose="020B0502040204020203" pitchFamily="34" charset="0"/>
              </a:rPr>
            </a:br>
            <a:r>
              <a:rPr lang="ru-RU" sz="2000" b="1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С</a:t>
            </a: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овместно разрабатываем модель работы комплекса и готовим задание на разработку</a:t>
            </a:r>
          </a:p>
          <a:p>
            <a:pPr marL="0" indent="0">
              <a:buNone/>
            </a:pPr>
            <a:br>
              <a:rPr lang="ru-RU" sz="2400" dirty="0">
                <a:latin typeface="Bahnschrift SemiBold Condensed" panose="020B0502040204020203" pitchFamily="34" charset="0"/>
              </a:rPr>
            </a:br>
            <a:r>
              <a:rPr lang="ru-RU" sz="2400" b="1" u="sng" dirty="0">
                <a:latin typeface="Bahnschrift SemiBold Condensed" panose="020B0502040204020203" pitchFamily="34" charset="0"/>
              </a:rPr>
              <a:t>3. Пилотный проект и внесение корректировок </a:t>
            </a:r>
            <a:br>
              <a:rPr lang="ru-RU" sz="2400" b="1" dirty="0">
                <a:latin typeface="Bahnschrift SemiBold Condensed" panose="020B0502040204020203" pitchFamily="34" charset="0"/>
              </a:rPr>
            </a:br>
            <a:r>
              <a:rPr lang="ru-RU" sz="2000" dirty="0">
                <a:solidFill>
                  <a:schemeClr val="bg2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Тестовый запуск и сбор данных для отладки</a:t>
            </a:r>
            <a:br>
              <a:rPr lang="ru-RU" sz="2400" dirty="0">
                <a:latin typeface="Bahnschrift SemiBold Condensed" panose="020B0502040204020203" pitchFamily="34" charset="0"/>
              </a:rPr>
            </a:b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D1F13-815B-AEEE-76D8-66CE7A834547}"/>
              </a:ext>
            </a:extLst>
          </p:cNvPr>
          <p:cNvSpPr txBox="1"/>
          <p:nvPr/>
        </p:nvSpPr>
        <p:spPr>
          <a:xfrm>
            <a:off x="0" y="6429375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ООО «Точные Машины»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Екатеринбург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www.tm96.ru        </a:t>
            </a:r>
            <a:r>
              <a:rPr lang="ru-RU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  <a:r>
              <a:rPr lang="en-US" sz="1200" dirty="0">
                <a:solidFill>
                  <a:schemeClr val="tx1">
                    <a:alpha val="40000"/>
                  </a:schemeClr>
                </a:solidFill>
                <a:latin typeface="Bahnschrift SemiBold Condensed" panose="020B0502040204020203" pitchFamily="34" charset="0"/>
              </a:rPr>
              <a:t>        tm@tm96.ru</a:t>
            </a:r>
            <a:endParaRPr lang="ru-RU" sz="1200" dirty="0">
              <a:solidFill>
                <a:schemeClr val="tx1">
                  <a:alpha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881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BBE2F-CA5E-B987-9933-7B3AB1E3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 descr="Земной шар: Азия со сплошной заливкой">
            <a:extLst>
              <a:ext uri="{FF2B5EF4-FFF2-40B4-BE49-F238E27FC236}">
                <a16:creationId xmlns:a16="http://schemas.microsoft.com/office/drawing/2014/main" id="{EE100418-3136-E6EB-E511-234D6C9CD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A11B96-77F1-B014-CB27-0B26F5691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8000"/>
                    </a14:imgEffect>
                    <a14:imgEffect>
                      <a14:brightnessContrast bright="-9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32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B90850-888A-18AD-BE15-3B2ED58D5F4C}"/>
              </a:ext>
            </a:extLst>
          </p:cNvPr>
          <p:cNvSpPr txBox="1"/>
          <p:nvPr/>
        </p:nvSpPr>
        <p:spPr>
          <a:xfrm>
            <a:off x="1257300" y="1009650"/>
            <a:ext cx="936625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Спасибо за внимание!</a:t>
            </a:r>
            <a:endParaRPr lang="en-US" sz="60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latin typeface="Bahnschrift SemiBold Condensed" panose="020B0502040204020203" pitchFamily="34" charset="0"/>
              </a:rPr>
              <a:t>Готовы ответить на ваши вопросы</a:t>
            </a:r>
          </a:p>
          <a:p>
            <a:r>
              <a:rPr lang="ru-RU" sz="4400" dirty="0">
                <a:solidFill>
                  <a:schemeClr val="bg1">
                    <a:lumMod val="95000"/>
                  </a:schemeClr>
                </a:solidFill>
                <a:latin typeface="Bahnschrift SemiBold Condensed" panose="020B0502040204020203" pitchFamily="34" charset="0"/>
              </a:rPr>
              <a:t>	</a:t>
            </a:r>
            <a:r>
              <a:rPr lang="ru-RU" sz="3600" dirty="0">
                <a:solidFill>
                  <a:schemeClr val="bg1">
                    <a:lumMod val="95000"/>
                  </a:schemeClr>
                </a:solidFill>
                <a:latin typeface="Bahnschrift SemiBold Condensed" panose="020B0502040204020203" pitchFamily="34" charset="0"/>
              </a:rPr>
              <a:t>+7 (343) 288-53-28</a:t>
            </a:r>
          </a:p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latin typeface="Bahnschrift SemiBold Condensed" panose="020B0502040204020203" pitchFamily="34" charset="0"/>
              </a:rPr>
              <a:t>	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Bahnschrift SemiBold Condensed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tm@tm96.ru</a:t>
            </a:r>
            <a:br>
              <a:rPr lang="en-US" sz="3600" dirty="0">
                <a:solidFill>
                  <a:schemeClr val="bg1">
                    <a:lumMod val="95000"/>
                  </a:schemeClr>
                </a:solidFill>
                <a:latin typeface="Bahnschrift SemiBold Condensed" panose="020B0502040204020203" pitchFamily="34" charset="0"/>
              </a:rPr>
            </a:br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Bahnschrift SemiBold Condensed" panose="020B0502040204020203" pitchFamily="34" charset="0"/>
              </a:rPr>
              <a:t>	tm96.ru</a:t>
            </a:r>
            <a:endParaRPr lang="ru-RU" sz="3600" dirty="0">
              <a:solidFill>
                <a:schemeClr val="bg1">
                  <a:lumMod val="95000"/>
                </a:schemeClr>
              </a:solidFill>
              <a:latin typeface="Bahnschrift SemiBold Condensed" panose="020B0502040204020203" pitchFamily="34" charset="0"/>
            </a:endParaRPr>
          </a:p>
          <a:p>
            <a:endParaRPr lang="ru-RU" sz="2800" dirty="0">
              <a:latin typeface="Bahnschrift SemiBold Condensed" panose="020B0502040204020203" pitchFamily="34" charset="0"/>
            </a:endParaRPr>
          </a:p>
          <a:p>
            <a:endParaRPr lang="ru-RU" sz="4400" dirty="0">
              <a:latin typeface="Bahnschrift SemiBold Condensed" panose="020B0502040204020203" pitchFamily="34" charset="0"/>
            </a:endParaRPr>
          </a:p>
          <a:p>
            <a:endParaRPr lang="ru-RU" sz="4400" dirty="0">
              <a:latin typeface="Bahnschrift SemiBold Condensed" panose="020B0502040204020203" pitchFamily="34" charset="0"/>
            </a:endParaRPr>
          </a:p>
        </p:txBody>
      </p:sp>
      <p:pic>
        <p:nvPicPr>
          <p:cNvPr id="11" name="Рисунок 10" descr="Электронная почта со сплошной заливкой">
            <a:extLst>
              <a:ext uri="{FF2B5EF4-FFF2-40B4-BE49-F238E27FC236}">
                <a16:creationId xmlns:a16="http://schemas.microsoft.com/office/drawing/2014/main" id="{1E93AA76-77FD-FE32-9248-AA86D6A75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85774" y="3268220"/>
            <a:ext cx="412419" cy="412419"/>
          </a:xfrm>
          <a:prstGeom prst="rect">
            <a:avLst/>
          </a:prstGeom>
        </p:spPr>
      </p:pic>
      <p:pic>
        <p:nvPicPr>
          <p:cNvPr id="13" name="Рисунок 12" descr="Телефонная трубка со сплошной заливкой">
            <a:extLst>
              <a:ext uri="{FF2B5EF4-FFF2-40B4-BE49-F238E27FC236}">
                <a16:creationId xmlns:a16="http://schemas.microsoft.com/office/drawing/2014/main" id="{35578E82-806F-9DFC-2173-48E2A51E1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3119" y="2711450"/>
            <a:ext cx="465912" cy="465912"/>
          </a:xfrm>
          <a:prstGeom prst="rect">
            <a:avLst/>
          </a:prstGeom>
        </p:spPr>
      </p:pic>
      <p:pic>
        <p:nvPicPr>
          <p:cNvPr id="15" name="Рисунок 14" descr="Земной шар: Азия со сплошной заливкой">
            <a:extLst>
              <a:ext uri="{FF2B5EF4-FFF2-40B4-BE49-F238E27FC236}">
                <a16:creationId xmlns:a16="http://schemas.microsoft.com/office/drawing/2014/main" id="{D2FAFADB-A00C-2DC2-DFE4-48B2C605A6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7739" y="3821887"/>
            <a:ext cx="465912" cy="46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9464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10139</TotalTime>
  <Words>4546</Words>
  <Application>Microsoft Office PowerPoint</Application>
  <PresentationFormat>Широкоэкранный</PresentationFormat>
  <Paragraphs>483</Paragraphs>
  <Slides>26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Bahnschrift Condensed</vt:lpstr>
      <vt:lpstr>Bahnschrift SemiBold Condensed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02 «Уралец»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ООО Точные Машины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автоматизированного хранения и выдачи ТМЦ</dc:title>
  <dc:subject>Система автоматизированного хранения и выдачи ТМЦ</dc:subject>
  <dc:creator>Семен Сидоров</dc:creator>
  <dc:description>rev.01 v02</dc:description>
  <cp:lastModifiedBy>Иван Кукушкин</cp:lastModifiedBy>
  <cp:revision>11</cp:revision>
  <dcterms:created xsi:type="dcterms:W3CDTF">2026-07-15T08:12:58Z</dcterms:created>
  <dcterms:modified xsi:type="dcterms:W3CDTF">2026-07-23T11:50:02Z</dcterms:modified>
</cp:coreProperties>
</file>